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8"/>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  <Relationship Id="rId1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AU"/>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AU"/>
          </a:p>
        </p:txBody>
      </p:sp>
    </p:spTree>
  </p:cSld>
  <p:clrMap bg1="lt1" tx1="dk1" bg2="lt2" tx2="dk2" accent1="accent1" accent2="accent2" accent3="accent3" accent4="accent4" accent5="accent5" accent6="accent6" hlink="hlink" folHlink="folHlink"/>
  <p:hf/>
  <p:notesStyle>
    <a:lvl1pPr marL="0" algn="l">
      <a:defRPr sz="1200" lang="en-AU"/>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This is Root-Seeking, Xun Gen. What you are looking at is Jichang Garden in Wuxi, one of the most celebrated classical literati gardens in China, rebuilt in extended reality. The name comes from xun gen, the search for cultural, historical and spiritual origins that runs through Chinese diaspora communities. I am Daichen Wang, and this is work with Rewa Wright, Damian Candusso and Gavin Sade at QUT.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Let me tell you what it actually is before I tell you what it argues. It is built in Unity 2022.3 and deployed on Meta Quest 3. It is experiential and multisensory: you move through it with gesture, you hear it, and poetry surfaces as you go. It draws on the aesthetics and the spatial logics of Jichang Garden, and I want to be precise about the relationship there. The garden is not a subject we photographed. It is both a symbolic and a technical scaffold — the thing that gives the virtual site its grammar of framed views, borrowed scenery, and revelation withheld and then granted.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Now the position, because it is not the usual one. Surveys of XR in cultural heritage describe a field pointed at accurate reconstruction, education and virtual tourism. We differ in audience and in aim. We are addressed to a displaced community rather than to tourists, and we treat the garden not as an object to be documented but as a spatial language to be spoken again. That follows critical heritage studies: heritage is a process through which belonging gets negotiated in the present, and Smith's critique of authorised heritage discourse asks whose voices are centred. So interpretive authority shifts toward the diaspora. And on the right is the part we are not going to smooth over. Participation does not dissolve power relations and we do not claim it does. What got scanned, whose dialects you hear, which garden stands in for home — the research team decided all of that. One Jiangnan literati garden cannot represent the regional diversity of Chinese heritage.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Which raises the question you should be asking. If we are inviting people to speculate on a real heritage site, what separates that from distortion? Our answer is a layered model of provenance. Underneath, the factual layer: a hundred and two systematically scanned artifacts, published openly, permanently inspectable by anyone who wants to check us. On top of it, the speculative layer: ritual, narrative and atmosphere authored by the community, and deliberately legible as interpretation rather than as record. Keeping those two apart is what lets the work be an archive and an artwork at the same time. Participants are given licence to imagine precisely because imagining does not overwrite the record underneath.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This is the result that has shaped the project most, and it is the least comfortable one. On the left, two pairs of values. The top pair is visitors on site: they rate the cultural importance of the Chinese garden at four point four seven, ninety-three per cent agreement, the highest of twelve items — but personal significance for them, individually, sits at three point five three. That gap is in the same people at the same sitting. The lower pair is the one item both questionnaires share, emotional attachment: visitors at three point eight, administrators at four point five with unanimous agreement. Sustained, professional involvement moves attachment; sharing a nationality, a language and a location does not. So recognition runs ahead of attachment, and that matters for how work like ours gets evaluated: a virtual heritage environment can secure recognition without securing attachment. On the right, what follows. Both groups rated sensory experience the most important quality of a virtual garden while reporting almost no prior VR use — insect sound, birdsong, the scent of flowering shrubs. And the clearest result in the online survey was negative: a hundred and thirty of a hundred and seventy-two named overly complex operation as the thing to avoid.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So we built two environments, and the pairing is an argument about affordances rather than a hedge. The VRChat world affords presence: continuous space, naturalistic scale and vegetation, spatialised sound. It positions you as an embodied visitor, and its visual completeness signals a finished world — something to be contemplated, not altered. The Minecraft world affords authorship: coarse blocks make construction legible and reversible, they lower the skill threshold for building, and they signal that the world is unfinished and open. I want to be honest that our on-site demonstrations evaluated the virtual version as one object, so this pairing rests on affordance analysis and on that survey requirement for a low operational threshold, not on measured preference. The line at the bottom is the compressed version. Realism communicates that heritage is to be received. Blocks communicate that heritage may be remade.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Here is what a session is actually like. Up to three concurrent users on Quest 3, free exploration inside a three by three metre volume at ninety frames per second, with a non-VR desktop mode so the work is not gated on owning a headset. Approach a heritage artifact and it triggers a reading of classical Chinese poetry, in Mandarin and in local dialects. Suzhou Pingtan and fragments of dialectal voice are distributed across the space, so the soundtrack is positional rather than ambient wallpaper. A day-night cycle shifts the light and the sound, which is how the passage of time gets into a space that is otherwise frozen. And then the three refusals in the title. There is no score, no timer, and no failure state. That was a decision taken directly against the clearest result in our survey data.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One technical decision that turned out to be more than technical. Under uniform illumination the environment flattened — equal lighting across the whole depth scale, and distance stopped being legible. The fix was distance-based volumetric fog and height fog, attenuating contrast and saturation toward the horizon, so dark saturated foreground elements recede into progressively hazier distance. But look at what that actually restores. Classical shanshui landscape painting renders depth through mist and tonal recession rather than through linear perspective. And Jichang Garden itself borrows the distant Xishan hills through atmospheric haze — that borrowed prospect is what the whole composition is built around. So restoring aerial perspective improves depth perception and recovers a culturally specific way of seeing at the same 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The factual layer, in detail. A hundred and two heritage objects, digitised across six categories assigned by the function each object performs in the garden. The dominant block is architectural components, forty-seven of them, and I want to flag that the distribution reflects the conditions of capture as much as the composition of the site: architectural components are numerous, discrete and reachable, and the two smallest categories are the two hardest to record. Three capture methods. Handheld iPhone LiDAR for objects at ground level, stone guardian lions and bridges. Gaussian Splatting, processed in Scaniverse, for intricate surfaces and difficult light. Aerial video reconstructed as photogrammetry for the borrowed prospect. Vegetation resists photogrammetry entirely, so every tree here is procedural. And there is something beyond fidelity in the Gaussian Splatting: its point-based volumetric nature mirrors the fragmented, fluid quality of diasporic memory. Heritage as a reconstructing field of light and data, not a solid immutable object.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The Minecraft side runs on Java Edition with a custom server, and it carries an AI cultural guide through the MinePal service — an in-world character who will hold a conversation about garden aesthetics, classical poetry and Chinese philosophical traditions, and switch language on request. The phrase I want to insist on is configured, not engineered. We supply a written character brief covering classical poetry, Daoist naturalism and classical garden design principles, and the service holds that brief as the agent's standing instruction. It was written against curated cultural references, with attention to data governance and to how representative the generated content actually is. Around the agent sit message boards for asynchronous dialogue, real-time voice, and personal courtyard spaces participants customise themselves — which is what makes this a workshop instrument rather than a feature.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Three registers, and then a boundary. Empirically, we document what this audience wants from virtual heritage: contemplative rather than gamified interaction, temporal rhythm, cultural symbolism, sensory content beyond the visual, and a low operational threshold. As design research, the dual-platform model is the transferable part — a high-fidelity contemplative environment paired with a low-barrier co-creative one, joined by a pipeline that moves community-authored content into the crafted world. As arts practice, a cultural XR that privileges affect and ritual over photorealism, shifting from heritage documentation toward heritage invention. Now the boundary, and I would rather state it than have you find it. These findings establish need, design preferences and initial reception. They do not establish long-term effect. Claims about identity formation and durable cultural reconnection wait on the post-workshop evaluation. What we are proposing, in the end, is that heritage sites can be reimagined as postgeographic sanctuaries: living counter-archives, co-created with the communities they serve. Thank you.</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b-artwor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b-artwor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a:solidFill>
            <a:schemeClr val="tx1"/>
          </a:solidFill>
          <a:latin typeface="+mn-lt"/>
          <a:ea typeface="+mn-ea"/>
          <a:cs typeface="+mn-cs"/>
        </a:defRPr>
      </a:lvl9pPr>
    </p:bodyStyle>
    <p:otherStyle>
      <a:defPPr>
        <a:defRPr lang="en-US"/>
      </a:defPPr>
      <a:lvl1pPr marL="0" algn="l" defTabSz="457200" rtl="0" eaLnBrk="1" latinLnBrk="0" hangingPunct="1">
        <a:defRPr sz="2100" kern="1200">
          <a:solidFill>
            <a:schemeClr val="tx1"/>
          </a:solidFill>
          <a:latin typeface="+mn-lt"/>
          <a:ea typeface="+mn-ea"/>
          <a:cs typeface="+mn-cs"/>
        </a:defRPr>
      </a:lvl1pPr>
      <a:lvl2pPr marL="457200" algn="l" defTabSz="457200" rtl="0" eaLnBrk="1" latinLnBrk="0" hangingPunct="1">
        <a:defRPr sz="1950" kern="1200">
          <a:solidFill>
            <a:schemeClr val="tx1"/>
          </a:solidFill>
          <a:latin typeface="+mn-lt"/>
          <a:ea typeface="+mn-ea"/>
          <a:cs typeface="+mn-cs"/>
        </a:defRPr>
      </a:lvl2pPr>
      <a:lvl3pPr marL="914400" algn="l" defTabSz="457200" rtl="0" eaLnBrk="1" latinLnBrk="0" hangingPunct="1">
        <a:defRPr sz="1850" kern="1200">
          <a:solidFill>
            <a:schemeClr val="tx1"/>
          </a:solidFill>
          <a:latin typeface="+mn-lt"/>
          <a:ea typeface="+mn-ea"/>
          <a:cs typeface="+mn-cs"/>
        </a:defRPr>
      </a:lvl3pPr>
      <a:lvl4pPr marL="1371600" algn="l" defTabSz="457200" rtl="0" eaLnBrk="1" latinLnBrk="0" hangingPunct="1">
        <a:defRPr sz="1700" kern="1200">
          <a:solidFill>
            <a:schemeClr val="tx1"/>
          </a:solidFill>
          <a:latin typeface="+mn-lt"/>
          <a:ea typeface="+mn-ea"/>
          <a:cs typeface="+mn-cs"/>
        </a:defRPr>
      </a:lvl4pPr>
      <a:lvl5pPr marL="1828800" algn="l" defTabSz="457200" rtl="0" eaLnBrk="1" latinLnBrk="0" hangingPunct="1">
        <a:defRPr sz="1600" kern="1200">
          <a:solidFill>
            <a:schemeClr val="tx1"/>
          </a:solidFill>
          <a:latin typeface="+mn-lt"/>
          <a:ea typeface="+mn-ea"/>
          <a:cs typeface="+mn-cs"/>
        </a:defRPr>
      </a:lvl5pPr>
      <a:lvl6pPr marL="2286000" algn="l" defTabSz="457200" rtl="0" eaLnBrk="1" latinLnBrk="0" hangingPunct="1">
        <a:defRPr sz="1450" kern="1200">
          <a:solidFill>
            <a:schemeClr val="tx1"/>
          </a:solidFill>
          <a:latin typeface="+mn-lt"/>
          <a:ea typeface="+mn-ea"/>
          <a:cs typeface="+mn-cs"/>
        </a:defRPr>
      </a:lvl6pPr>
      <a:lvl7pPr marL="2743200" algn="l" defTabSz="457200" rtl="0" eaLnBrk="1" latinLnBrk="0" hangingPunct="1">
        <a:defRPr sz="13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1bf2411077ac3cc.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4c8b7b57cc80054.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1bf2411077ac3cc.png"/>
  <Relationship Id="rId3" Type="http://schemas.openxmlformats.org/officeDocument/2006/relationships/image" Target="../media/image_44911c2eec7c0d8e.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4c8b7b57cc80054.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1bf2411077ac3cc.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4911c2eec7c0d8e.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250" t="0" r="250" b="0"/>
          <a:stretch>
            <a:fillRect/>
          </a:stretch>
        </p:blipFill>
        <p:spPr>
          <a:xfrm>
            <a:off x="0" y="0"/>
            <a:ext cx="12192000" cy="6858000"/>
          </a:xfrm>
          <a:prstGeom prst="rect">
            <a:avLst/>
          </a:prstGeom>
        </p:spPr>
      </p:pic>
      <p:sp>
        <p:nvSpPr>
          <p:cNvPr id="3" name="Rectangle 3"/>
          <p:cNvSpPr/>
          <p:nvPr/>
        </p:nvSpPr>
        <p:spPr>
          <a:xfrm>
            <a:off x="0" y="4476750"/>
            <a:ext cx="12192000" cy="2381250"/>
          </a:xfrm>
          <a:prstGeom prst="rect">
            <a:avLst/>
          </a:prstGeom>
          <a:solidFill>
            <a:schemeClr val="accent1"/>
          </a:solidFill>
          <a:ln>
            <a:noFill/>
          </a:ln>
        </p:spPr>
      </p:sp>
      <p:grpSp>
        <p:nvGrpSpPr>
          <p:cNvPr id="8" name="Group 8"/>
          <p:cNvGrpSpPr/>
          <p:nvPr/>
        </p:nvGrpSpPr>
        <p:grpSpPr>
          <a:xfrm>
            <a:off x="666750" y="4751070"/>
            <a:ext cx="10847832" cy="1699069"/>
            <a:chOff x="666750" y="4751070"/>
            <a:chExt cx="10847832" cy="1699069"/>
          </a:xfrm>
        </p:grpSpPr>
        <p:sp>
          <p:nvSpPr>
            <p:cNvPr id="4" name="TextBox 4"/>
            <p:cNvSpPr txBox="1"/>
            <p:nvPr/>
          </p:nvSpPr>
          <p:spPr>
            <a:xfrm>
              <a:off x="666750" y="4751070"/>
              <a:ext cx="8993841" cy="1047750"/>
            </a:xfrm>
            <a:prstGeom prst="rect">
              <a:avLst/>
            </a:prstGeom>
            <a:noFill/>
            <a:ln>
              <a:noFill/>
            </a:ln>
          </p:spPr>
          <p:txBody>
            <a:bodyPr wrap="none" lIns="0" tIns="0" rIns="0" bIns="0" anchor="t" anchorCtr="0">
              <a:spAutoFit/>
            </a:bodyPr>
            <a:lstStyle/>
            <a:p>
              <a:pPr algn="l"/>
              <a:r>
                <a:rPr lang="en-AU" sz="5400" dirty="0">
                  <a:solidFill>
                    <a:srgbClr val="FFFFFF"/>
                  </a:solidFill>
                  <a:latin typeface="+mj-lt"/>
                  <a:ea typeface="+mj-ea"/>
                  <a:cs typeface="+mj-cs"/>
                </a:rPr>
                <a:t>Root-Seeking · Xun Gen</a:t>
              </a:r>
            </a:p>
          </p:txBody>
        </p:sp>
        <p:sp>
          <p:nvSpPr>
            <p:cNvPr id="5" name="TextBox 5"/>
            <p:cNvSpPr txBox="1"/>
            <p:nvPr/>
          </p:nvSpPr>
          <p:spPr>
            <a:xfrm>
              <a:off x="672084" y="5537835"/>
              <a:ext cx="8122096" cy="528066"/>
            </a:xfrm>
            <a:prstGeom prst="rect">
              <a:avLst/>
            </a:prstGeom>
            <a:noFill/>
            <a:ln>
              <a:noFill/>
            </a:ln>
          </p:spPr>
          <p:txBody>
            <a:bodyPr wrap="none" lIns="0" tIns="0" rIns="0" bIns="0" anchor="t" anchorCtr="0">
              <a:spAutoFit/>
            </a:bodyPr>
            <a:lstStyle/>
            <a:p>
              <a:pPr algn="l"/>
              <a:r>
                <a:rPr lang="en-AU" sz="2700" dirty="0">
                  <a:solidFill>
                    <a:srgbClr val="FFFFFF"/>
                  </a:solidFill>
                  <a:latin typeface="+mj-lt"/>
                  <a:ea typeface="+mj-ea"/>
                  <a:cs typeface="+mj-cs"/>
                </a:rPr>
                <a:t>Reimagining a historic Chinese garden in XR</a:t>
              </a:r>
            </a:p>
          </p:txBody>
        </p:sp>
        <p:sp>
          <p:nvSpPr>
            <p:cNvPr id="6" name="TextBox 6"/>
            <p:cNvSpPr txBox="1"/>
            <p:nvPr/>
          </p:nvSpPr>
          <p:spPr>
            <a:xfrm>
              <a:off x="677418" y="6127432"/>
              <a:ext cx="7140091" cy="322707"/>
            </a:xfrm>
            <a:prstGeom prst="rect">
              <a:avLst/>
            </a:prstGeom>
            <a:noFill/>
            <a:ln>
              <a:noFill/>
            </a:ln>
          </p:spPr>
          <p:txBody>
            <a:bodyPr wrap="none" lIns="0" tIns="0" rIns="0" bIns="0" anchor="t" anchorCtr="0">
              <a:spAutoFit/>
            </a:bodyPr>
            <a:lstStyle/>
            <a:p>
              <a:pPr algn="l"/>
              <a:r>
                <a:rPr lang="en-AU" sz="1650" dirty="0">
                  <a:solidFill>
                    <a:srgbClr val="FFFFFF"/>
                  </a:solidFill>
                  <a:latin typeface="+mn-lt"/>
                  <a:ea typeface="+mn-ea"/>
                  <a:cs typeface="+mn-cs"/>
                </a:rPr>
                <a:t>Daichen Wang · Rewa Wright · Damian Candusso · Gavin Sade — QUT</a:t>
              </a:r>
            </a:p>
          </p:txBody>
        </p:sp>
        <p:sp>
          <p:nvSpPr>
            <p:cNvPr id="7" name="TextBox 7"/>
            <p:cNvSpPr txBox="1"/>
            <p:nvPr/>
          </p:nvSpPr>
          <p:spPr>
            <a:xfrm>
              <a:off x="9255633" y="6127432"/>
              <a:ext cx="2258949" cy="322707"/>
            </a:xfrm>
            <a:prstGeom prst="rect">
              <a:avLst/>
            </a:prstGeom>
            <a:noFill/>
            <a:ln>
              <a:noFill/>
            </a:ln>
          </p:spPr>
          <p:txBody>
            <a:bodyPr wrap="none" lIns="0" tIns="0" rIns="0" bIns="0" anchor="t" anchorCtr="0">
              <a:spAutoFit/>
            </a:bodyPr>
            <a:lstStyle/>
            <a:p>
              <a:pPr algn="r"/>
              <a:r>
                <a:rPr lang="en-AU" sz="1650" dirty="0">
                  <a:solidFill>
                    <a:srgbClr val="FFFFFF"/>
                  </a:solidFill>
                  <a:latin typeface="+mn-lt"/>
                  <a:ea typeface="+mn-ea"/>
                  <a:cs typeface="+mn-cs"/>
                </a:rPr>
                <a:t>Expanded 2026 · Linz</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0" y="0"/>
            <a:ext cx="12192000" cy="3048000"/>
            <a:chOff x="0" y="0"/>
            <a:chExt cx="12192000" cy="3048000"/>
          </a:xfrm>
        </p:grpSpPr>
        <p:pic>
          <p:nvPicPr>
            <p:cNvPr id="2" name="Image 2"/>
            <p:cNvPicPr>
              <a:picLocks noChangeAspect="1"/>
            </p:cNvPicPr>
            <p:nvPr/>
          </p:nvPicPr>
          <p:blipFill>
            <a:blip r:embed="rId2"/>
            <a:srcRect l="0" t="27696" r="0" b="27696"/>
            <a:stretch>
              <a:fillRect/>
            </a:stretch>
          </p:blipFill>
          <p:spPr>
            <a:xfrm>
              <a:off x="0" y="0"/>
              <a:ext cx="12192000" cy="3048000"/>
            </a:xfrm>
            <a:prstGeom prst="rect">
              <a:avLst/>
            </a:prstGeom>
          </p:spPr>
        </p:pic>
      </p:grpSp>
      <p:grpSp>
        <p:nvGrpSpPr>
          <p:cNvPr id="6" name="Group 6"/>
          <p:cNvGrpSpPr/>
          <p:nvPr/>
        </p:nvGrpSpPr>
        <p:grpSpPr>
          <a:xfrm>
            <a:off x="667512" y="3535680"/>
            <a:ext cx="9008079" cy="704088"/>
            <a:chOff x="667512" y="3535680"/>
            <a:chExt cx="9008079" cy="704088"/>
          </a:xfrm>
        </p:grpSpPr>
        <p:sp>
          <p:nvSpPr>
            <p:cNvPr id="4" name="TextBox 4"/>
            <p:cNvSpPr txBox="1"/>
            <p:nvPr/>
          </p:nvSpPr>
          <p:spPr>
            <a:xfrm>
              <a:off x="667512" y="3535680"/>
              <a:ext cx="9008079"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An experiential, multisensory world</a:t>
              </a:r>
            </a:p>
          </p:txBody>
        </p:sp>
        <p:sp>
          <p:nvSpPr>
            <p:cNvPr id="5" name="Rectangle 5"/>
            <p:cNvSpPr/>
            <p:nvPr/>
          </p:nvSpPr>
          <p:spPr>
            <a:xfrm>
              <a:off x="685800" y="4152900"/>
              <a:ext cx="2095500" cy="38100"/>
            </a:xfrm>
            <a:prstGeom prst="rect">
              <a:avLst/>
            </a:prstGeom>
            <a:solidFill>
              <a:schemeClr val="accent1"/>
            </a:solidFill>
            <a:ln>
              <a:noFill/>
            </a:ln>
          </p:spPr>
        </p:sp>
      </p:grpSp>
      <p:grpSp>
        <p:nvGrpSpPr>
          <p:cNvPr id="8" name="Group 8"/>
          <p:cNvGrpSpPr/>
          <p:nvPr/>
        </p:nvGrpSpPr>
        <p:grpSpPr>
          <a:xfrm>
            <a:off x="672846" y="4487228"/>
            <a:ext cx="9263729" cy="1298829"/>
            <a:chOff x="672846" y="4487228"/>
            <a:chExt cx="9263729" cy="1298829"/>
          </a:xfrm>
        </p:grpSpPr>
        <p:sp>
          <p:nvSpPr>
            <p:cNvPr id="7" name="TextBox 7"/>
            <p:cNvSpPr txBox="1"/>
            <p:nvPr/>
          </p:nvSpPr>
          <p:spPr>
            <a:xfrm>
              <a:off x="672846" y="4487228"/>
              <a:ext cx="9263729" cy="1298829"/>
            </a:xfrm>
            <a:prstGeom prst="rect">
              <a:avLst/>
            </a:prstGeom>
            <a:noFill/>
            <a:ln>
              <a:noFill/>
            </a:ln>
          </p:spPr>
          <p:txBody>
            <a:bodyPr wrap="none" lIns="0" tIns="0" rIns="0" bIns="0" anchor="t" anchorCtr="0">
              <a:spAutoFit/>
            </a:bodyPr>
            <a:lstStyle/>
            <a:p>
              <a:pPr algn="l">
                <a:lnSpc>
                  <a:spcPts val="3150"/>
                </a:lnSpc>
              </a:pPr>
              <a:r>
                <a:rPr lang="en-AU" sz="2550" dirty="0">
                  <a:solidFill>
                    <a:schemeClr val="dk1"/>
                  </a:solidFill>
                  <a:latin typeface="+mn-lt"/>
                  <a:ea typeface="+mn-ea"/>
                  <a:cs typeface="+mn-cs"/>
                </a:rPr>
                <a:t xml:space="preserve">Unity 2022.3, deployed on </a:t>
              </a:r>
              <a:r>
                <a:rPr lang="en-AU" sz="2550" b="1" dirty="0">
                  <a:solidFill>
                    <a:schemeClr val="accent1"/>
                  </a:solidFill>
                  <a:latin typeface="+mn-lt"/>
                  <a:ea typeface="+mn-ea"/>
                  <a:cs typeface="+mn-cs"/>
                </a:rPr>
                <a:t>Meta Quest 3</a:t>
              </a:r>
              <a:r>
                <a:rPr lang="en-AU" sz="2550" dirty="0">
                  <a:solidFill>
                    <a:schemeClr val="dk1"/>
                  </a:solidFill>
                  <a:latin typeface="+mn-lt"/>
                  <a:ea typeface="+mn-ea"/>
                  <a:cs typeface="+mn-cs"/>
                </a:rPr>
                <a:t>. It engages users</a:t>
              </a:r>
              <a:br/>
              <a:r>
                <a:rPr lang="en-AU" sz="2550" dirty="0">
                  <a:solidFill>
                    <a:schemeClr val="dk1"/>
                  </a:solidFill>
                  <a:latin typeface="+mn-lt"/>
                  <a:ea typeface="+mn-ea"/>
                  <a:cs typeface="+mn-cs"/>
                </a:rPr>
                <a:t>through gesture, sound and poetic narrative, drawing on</a:t>
              </a:r>
              <a:br/>
              <a:r>
                <a:rPr lang="en-AU" sz="2550" dirty="0">
                  <a:solidFill>
                    <a:schemeClr val="dk1"/>
                  </a:solidFill>
                  <a:latin typeface="+mn-lt"/>
                  <a:ea typeface="+mn-ea"/>
                  <a:cs typeface="+mn-cs"/>
                </a:rPr>
                <a:t>the spatial logics of Jichang Garden.</a:t>
              </a:r>
            </a:p>
          </p:txBody>
        </p:sp>
      </p:grpSp>
      <p:grpSp>
        <p:nvGrpSpPr>
          <p:cNvPr id="11" name="Group 11"/>
          <p:cNvGrpSpPr/>
          <p:nvPr/>
        </p:nvGrpSpPr>
        <p:grpSpPr>
          <a:xfrm>
            <a:off x="679704" y="6080760"/>
            <a:ext cx="10832592" cy="234696"/>
            <a:chOff x="679704" y="6080760"/>
            <a:chExt cx="10832592" cy="234696"/>
          </a:xfrm>
        </p:grpSpPr>
        <p:sp>
          <p:nvSpPr>
            <p:cNvPr id="9" name="TextBox 9"/>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10" name="TextBox 10"/>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8984346" cy="704088"/>
            <a:chOff x="667512" y="678180"/>
            <a:chExt cx="8984346" cy="704088"/>
          </a:xfrm>
        </p:grpSpPr>
        <p:sp>
          <p:nvSpPr>
            <p:cNvPr id="2" name="TextBox 2"/>
            <p:cNvSpPr txBox="1"/>
            <p:nvPr/>
          </p:nvSpPr>
          <p:spPr>
            <a:xfrm>
              <a:off x="667512" y="678180"/>
              <a:ext cx="8984346"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Addressed to a displaced community</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8" name="Group 8"/>
          <p:cNvGrpSpPr/>
          <p:nvPr/>
        </p:nvGrpSpPr>
        <p:grpSpPr>
          <a:xfrm>
            <a:off x="675132" y="1879282"/>
            <a:ext cx="5248656" cy="3791141"/>
            <a:chOff x="675132" y="1879282"/>
            <a:chExt cx="5248656" cy="3791141"/>
          </a:xfrm>
        </p:grpSpPr>
        <p:sp>
          <p:nvSpPr>
            <p:cNvPr id="5" name="TextBox 5"/>
            <p:cNvSpPr txBox="1"/>
            <p:nvPr/>
          </p:nvSpPr>
          <p:spPr>
            <a:xfrm>
              <a:off x="677418" y="1879282"/>
              <a:ext cx="1322870"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The position</a:t>
              </a:r>
            </a:p>
          </p:txBody>
        </p:sp>
        <p:sp>
          <p:nvSpPr>
            <p:cNvPr id="6" name="TextBox 6"/>
            <p:cNvSpPr txBox="1"/>
            <p:nvPr/>
          </p:nvSpPr>
          <p:spPr>
            <a:xfrm>
              <a:off x="675132" y="2287905"/>
              <a:ext cx="5248656" cy="1934718"/>
            </a:xfrm>
            <a:prstGeom prst="rect">
              <a:avLst/>
            </a:prstGeom>
            <a:noFill/>
            <a:ln>
              <a:noFill/>
            </a:ln>
          </p:spPr>
          <p:txBody>
            <a:bodyPr wrap="none" lIns="0" tIns="0" rIns="0" bIns="0" anchor="t" anchorCtr="0">
              <a:spAutoFit/>
            </a:bodyPr>
            <a:lstStyle/>
            <a:p>
              <a:pPr algn="l">
                <a:lnSpc>
                  <a:spcPts val="3000"/>
                </a:lnSpc>
              </a:pPr>
              <a:r>
                <a:rPr lang="en-AU" sz="2100" dirty="0">
                  <a:solidFill>
                    <a:schemeClr val="dk1"/>
                  </a:solidFill>
                  <a:latin typeface="+mn-lt"/>
                  <a:ea typeface="+mn-ea"/>
                  <a:cs typeface="+mn-cs"/>
                </a:rPr>
                <a:t>XR heritage research aims at accurate</a:t>
              </a:r>
              <a:br/>
              <a:r>
                <a:rPr lang="en-AU" sz="2100" dirty="0">
                  <a:solidFill>
                    <a:schemeClr val="dk1"/>
                  </a:solidFill>
                  <a:latin typeface="+mn-lt"/>
                  <a:ea typeface="+mn-ea"/>
                  <a:cs typeface="+mn-cs"/>
                </a:rPr>
                <a:t>reconstruction, education and tourism.</a:t>
              </a:r>
              <a:br/>
              <a:r>
                <a:rPr lang="en-AU" sz="2100" dirty="0">
                  <a:solidFill>
                    <a:schemeClr val="dk1"/>
                  </a:solidFill>
                  <a:latin typeface="+mn-lt"/>
                  <a:ea typeface="+mn-ea"/>
                  <a:cs typeface="+mn-cs"/>
                </a:rPr>
                <a:t>This work differs in audience and aim:</a:t>
              </a:r>
              <a:br/>
              <a:r>
                <a:rPr lang="en-AU" sz="2100" dirty="0">
                  <a:solidFill>
                    <a:schemeClr val="dk1"/>
                  </a:solidFill>
                  <a:latin typeface="+mn-lt"/>
                  <a:ea typeface="+mn-ea"/>
                  <a:cs typeface="+mn-cs"/>
                </a:rPr>
                <a:t>the garden is not an object to document</a:t>
              </a:r>
              <a:br/>
              <a:r>
                <a:rPr lang="en-AU" sz="2100" dirty="0">
                  <a:solidFill>
                    <a:schemeClr val="dk1"/>
                  </a:solidFill>
                  <a:latin typeface="+mn-lt"/>
                  <a:ea typeface="+mn-ea"/>
                  <a:cs typeface="+mn-cs"/>
                </a:rPr>
                <a:t>but a spatial language to speak again.</a:t>
              </a:r>
            </a:p>
          </p:txBody>
        </p:sp>
        <p:sp>
          <p:nvSpPr>
            <p:cNvPr id="7" name="TextBox 7"/>
            <p:cNvSpPr txBox="1"/>
            <p:nvPr/>
          </p:nvSpPr>
          <p:spPr>
            <a:xfrm>
              <a:off x="675132" y="4497705"/>
              <a:ext cx="5075301" cy="1172718"/>
            </a:xfrm>
            <a:prstGeom prst="rect">
              <a:avLst/>
            </a:prstGeom>
            <a:noFill/>
            <a:ln>
              <a:noFill/>
            </a:ln>
          </p:spPr>
          <p:txBody>
            <a:bodyPr wrap="none" lIns="0" tIns="0" rIns="0" bIns="0" anchor="t" anchorCtr="0">
              <a:spAutoFit/>
            </a:bodyPr>
            <a:lstStyle/>
            <a:p>
              <a:pPr algn="l">
                <a:lnSpc>
                  <a:spcPts val="3000"/>
                </a:lnSpc>
              </a:pPr>
              <a:r>
                <a:rPr lang="en-AU" sz="2100" dirty="0">
                  <a:solidFill>
                    <a:schemeClr val="dk1"/>
                  </a:solidFill>
                  <a:latin typeface="+mn-lt"/>
                  <a:ea typeface="+mn-ea"/>
                  <a:cs typeface="+mn-cs"/>
                </a:rPr>
                <a:t>Heritage is a process negotiated in the</a:t>
              </a:r>
              <a:br/>
              <a:r>
                <a:rPr lang="en-AU" sz="2100" dirty="0">
                  <a:solidFill>
                    <a:schemeClr val="dk1"/>
                  </a:solidFill>
                  <a:latin typeface="+mn-lt"/>
                  <a:ea typeface="+mn-ea"/>
                  <a:cs typeface="+mn-cs"/>
                </a:rPr>
                <a:t>present, so interpretive authority</a:t>
              </a:r>
              <a:br/>
              <a:r>
                <a:rPr lang="en-AU" sz="2100" dirty="0">
                  <a:solidFill>
                    <a:schemeClr val="dk1"/>
                  </a:solidFill>
                  <a:latin typeface="+mn-lt"/>
                  <a:ea typeface="+mn-ea"/>
                  <a:cs typeface="+mn-cs"/>
                </a:rPr>
                <a:t>shifts toward the diaspora itself.</a:t>
              </a:r>
            </a:p>
          </p:txBody>
        </p:sp>
      </p:grpSp>
      <p:grpSp>
        <p:nvGrpSpPr>
          <p:cNvPr id="13" name="Group 13"/>
          <p:cNvGrpSpPr/>
          <p:nvPr/>
        </p:nvGrpSpPr>
        <p:grpSpPr>
          <a:xfrm>
            <a:off x="7277100" y="1676400"/>
            <a:ext cx="4229100" cy="4152900"/>
            <a:chOff x="7277100" y="1676400"/>
            <a:chExt cx="4229100" cy="4152900"/>
          </a:xfrm>
        </p:grpSpPr>
        <p:sp>
          <p:nvSpPr>
            <p:cNvPr id="9" name="Rectangle 9"/>
            <p:cNvSpPr/>
            <p:nvPr/>
          </p:nvSpPr>
          <p:spPr>
            <a:xfrm>
              <a:off x="7277100" y="1676400"/>
              <a:ext cx="4229100" cy="4152900"/>
            </a:xfrm>
            <a:prstGeom prst="rect">
              <a:avLst/>
            </a:prstGeom>
            <a:solidFill>
              <a:schemeClr val="lt2"/>
            </a:solidFill>
            <a:ln>
              <a:noFill/>
            </a:ln>
          </p:spPr>
        </p:sp>
        <p:sp>
          <p:nvSpPr>
            <p:cNvPr id="10" name="TextBox 10"/>
            <p:cNvSpPr txBox="1"/>
            <p:nvPr/>
          </p:nvSpPr>
          <p:spPr>
            <a:xfrm>
              <a:off x="7573518" y="1955482"/>
              <a:ext cx="2543143"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The limitation, stated</a:t>
              </a:r>
            </a:p>
          </p:txBody>
        </p:sp>
        <p:sp>
          <p:nvSpPr>
            <p:cNvPr id="11" name="TextBox 11"/>
            <p:cNvSpPr txBox="1"/>
            <p:nvPr/>
          </p:nvSpPr>
          <p:spPr>
            <a:xfrm>
              <a:off x="7573518" y="2412682"/>
              <a:ext cx="3254312" cy="2151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Participation does not dissolve</a:t>
              </a:r>
              <a:br/>
              <a:r>
                <a:rPr lang="en-AU" sz="1650" dirty="0">
                  <a:solidFill>
                    <a:schemeClr val="dk1"/>
                  </a:solidFill>
                  <a:latin typeface="+mn-lt"/>
                  <a:ea typeface="+mn-ea"/>
                  <a:cs typeface="+mn-cs"/>
                </a:rPr>
                <a:t>power relations, and we do not</a:t>
              </a:r>
              <a:br/>
              <a:r>
                <a:rPr lang="en-AU" sz="1650" dirty="0">
                  <a:solidFill>
                    <a:schemeClr val="dk1"/>
                  </a:solidFill>
                  <a:latin typeface="+mn-lt"/>
                  <a:ea typeface="+mn-ea"/>
                  <a:cs typeface="+mn-cs"/>
                </a:rPr>
                <a:t>claim that it does. What was</a:t>
              </a:r>
              <a:br/>
              <a:r>
                <a:rPr lang="en-AU" sz="1650" dirty="0">
                  <a:solidFill>
                    <a:schemeClr val="dk1"/>
                  </a:solidFill>
                  <a:latin typeface="+mn-lt"/>
                  <a:ea typeface="+mn-ea"/>
                  <a:cs typeface="+mn-cs"/>
                </a:rPr>
                <a:t>scanned, whose dialects are</a:t>
              </a:r>
              <a:br/>
              <a:r>
                <a:rPr lang="en-AU" sz="1650" dirty="0">
                  <a:solidFill>
                    <a:schemeClr val="dk1"/>
                  </a:solidFill>
                  <a:latin typeface="+mn-lt"/>
                  <a:ea typeface="+mn-ea"/>
                  <a:cs typeface="+mn-cs"/>
                </a:rPr>
                <a:t>heard and which garden stands</a:t>
              </a:r>
              <a:br/>
              <a:r>
                <a:rPr lang="en-AU" sz="1650" dirty="0">
                  <a:solidFill>
                    <a:schemeClr val="dk1"/>
                  </a:solidFill>
                  <a:latin typeface="+mn-lt"/>
                  <a:ea typeface="+mn-ea"/>
                  <a:cs typeface="+mn-cs"/>
                </a:rPr>
                <a:t>in for home were decided by the</a:t>
              </a:r>
              <a:br/>
              <a:r>
                <a:rPr lang="en-AU" sz="1650" dirty="0">
                  <a:solidFill>
                    <a:schemeClr val="dk1"/>
                  </a:solidFill>
                  <a:latin typeface="+mn-lt"/>
                  <a:ea typeface="+mn-ea"/>
                  <a:cs typeface="+mn-cs"/>
                </a:rPr>
                <a:t>research team.</a:t>
              </a:r>
            </a:p>
          </p:txBody>
        </p:sp>
        <p:sp>
          <p:nvSpPr>
            <p:cNvPr id="12" name="TextBox 12"/>
            <p:cNvSpPr txBox="1"/>
            <p:nvPr/>
          </p:nvSpPr>
          <p:spPr>
            <a:xfrm>
              <a:off x="7573518" y="4698682"/>
              <a:ext cx="3107627" cy="9323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One Jiangnan literati garden</a:t>
              </a:r>
              <a:br/>
              <a:r>
                <a:rPr lang="en-AU" sz="1650" dirty="0">
                  <a:solidFill>
                    <a:schemeClr val="dk1"/>
                  </a:solidFill>
                  <a:latin typeface="+mn-lt"/>
                  <a:ea typeface="+mn-ea"/>
                  <a:cs typeface="+mn-cs"/>
                </a:rPr>
                <a:t>cannot represent the regional</a:t>
              </a:r>
              <a:br/>
              <a:r>
                <a:rPr lang="en-AU" sz="1650" dirty="0">
                  <a:solidFill>
                    <a:schemeClr val="dk1"/>
                  </a:solidFill>
                  <a:latin typeface="+mn-lt"/>
                  <a:ea typeface="+mn-ea"/>
                  <a:cs typeface="+mn-cs"/>
                </a:rPr>
                <a:t>diversity of Chinese heritage.</a:t>
              </a:r>
            </a:p>
          </p:txBody>
        </p:sp>
      </p:grpSp>
      <p:grpSp>
        <p:nvGrpSpPr>
          <p:cNvPr id="16" name="Group 16"/>
          <p:cNvGrpSpPr/>
          <p:nvPr/>
        </p:nvGrpSpPr>
        <p:grpSpPr>
          <a:xfrm>
            <a:off x="679704" y="6080760"/>
            <a:ext cx="10832592" cy="234696"/>
            <a:chOff x="679704" y="6080760"/>
            <a:chExt cx="10832592" cy="234696"/>
          </a:xfrm>
        </p:grpSpPr>
        <p:sp>
          <p:nvSpPr>
            <p:cNvPr id="14" name="TextBox 14"/>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15" name="TextBox 15"/>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7065529" cy="704088"/>
            <a:chOff x="667512" y="678180"/>
            <a:chExt cx="7065529" cy="704088"/>
          </a:xfrm>
        </p:grpSpPr>
        <p:sp>
          <p:nvSpPr>
            <p:cNvPr id="2" name="TextBox 2"/>
            <p:cNvSpPr txBox="1"/>
            <p:nvPr/>
          </p:nvSpPr>
          <p:spPr>
            <a:xfrm>
              <a:off x="667512" y="678180"/>
              <a:ext cx="7065529"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Co-creation, not distortion</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12" name="Group 12"/>
          <p:cNvGrpSpPr/>
          <p:nvPr/>
        </p:nvGrpSpPr>
        <p:grpSpPr>
          <a:xfrm>
            <a:off x="675132" y="1905000"/>
            <a:ext cx="6297168" cy="3651123"/>
            <a:chOff x="675132" y="1905000"/>
            <a:chExt cx="6297168" cy="3651123"/>
          </a:xfrm>
        </p:grpSpPr>
        <p:sp>
          <p:nvSpPr>
            <p:cNvPr id="5" name="Rectangle 5"/>
            <p:cNvSpPr/>
            <p:nvPr/>
          </p:nvSpPr>
          <p:spPr>
            <a:xfrm>
              <a:off x="685800" y="1905000"/>
              <a:ext cx="5334000" cy="1238250"/>
            </a:xfrm>
            <a:prstGeom prst="rect">
              <a:avLst/>
            </a:prstGeom>
            <a:solidFill>
              <a:schemeClr val="lt1"/>
            </a:solidFill>
            <a:ln w="19050">
              <a:solidFill>
                <a:schemeClr val="accent2"/>
              </a:solidFill>
            </a:ln>
          </p:spPr>
        </p:sp>
        <p:sp>
          <p:nvSpPr>
            <p:cNvPr id="6" name="TextBox 6"/>
            <p:cNvSpPr txBox="1"/>
            <p:nvPr/>
          </p:nvSpPr>
          <p:spPr>
            <a:xfrm>
              <a:off x="979932" y="2135505"/>
              <a:ext cx="2508694" cy="410718"/>
            </a:xfrm>
            <a:prstGeom prst="rect">
              <a:avLst/>
            </a:prstGeom>
            <a:noFill/>
            <a:ln>
              <a:noFill/>
            </a:ln>
          </p:spPr>
          <p:txBody>
            <a:bodyPr wrap="none" lIns="0" tIns="0" rIns="0" bIns="0" anchor="t" anchorCtr="0">
              <a:spAutoFit/>
            </a:bodyPr>
            <a:lstStyle/>
            <a:p>
              <a:pPr algn="l"/>
              <a:r>
                <a:rPr lang="en-AU" sz="2100" b="1" dirty="0">
                  <a:solidFill>
                    <a:schemeClr val="accent2"/>
                  </a:solidFill>
                  <a:latin typeface="+mn-lt"/>
                  <a:ea typeface="+mn-ea"/>
                  <a:cs typeface="+mn-cs"/>
                </a:rPr>
                <a:t>Speculative layer</a:t>
              </a:r>
            </a:p>
          </p:txBody>
        </p:sp>
        <p:sp>
          <p:nvSpPr>
            <p:cNvPr id="7" name="TextBox 7"/>
            <p:cNvSpPr txBox="1"/>
            <p:nvPr/>
          </p:nvSpPr>
          <p:spPr>
            <a:xfrm>
              <a:off x="982218" y="2584132"/>
              <a:ext cx="4343972" cy="608457"/>
            </a:xfrm>
            <a:prstGeom prst="rect">
              <a:avLst/>
            </a:prstGeom>
            <a:noFill/>
            <a:ln>
              <a:noFill/>
            </a:ln>
          </p:spPr>
          <p:txBody>
            <a:bodyPr wrap="none" lIns="0" tIns="0" rIns="0" bIns="0" anchor="t" anchorCtr="0">
              <a:spAutoFit/>
            </a:bodyPr>
            <a:lstStyle/>
            <a:p>
              <a:pPr algn="l">
                <a:lnSpc>
                  <a:spcPts val="2250"/>
                </a:lnSpc>
              </a:pPr>
              <a:r>
                <a:rPr lang="en-AU" sz="1650" dirty="0">
                  <a:solidFill>
                    <a:schemeClr val="dk1"/>
                  </a:solidFill>
                  <a:latin typeface="+mn-lt"/>
                  <a:ea typeface="+mn-ea"/>
                  <a:cs typeface="+mn-cs"/>
                </a:rPr>
                <a:t>Community-authored ritual, narrative and</a:t>
              </a:r>
              <a:br/>
              <a:r>
                <a:rPr lang="en-AU" sz="1650" dirty="0">
                  <a:solidFill>
                    <a:schemeClr val="dk1"/>
                  </a:solidFill>
                  <a:latin typeface="+mn-lt"/>
                  <a:ea typeface="+mn-ea"/>
                  <a:cs typeface="+mn-cs"/>
                </a:rPr>
                <a:t>atmosphere — legible as interpretation.</a:t>
              </a:r>
            </a:p>
          </p:txBody>
        </p:sp>
        <p:sp>
          <p:nvSpPr>
            <p:cNvPr id="8" name="Rectangle 8"/>
            <p:cNvSpPr/>
            <p:nvPr/>
          </p:nvSpPr>
          <p:spPr>
            <a:xfrm>
              <a:off x="685800" y="3333750"/>
              <a:ext cx="6286500" cy="1238250"/>
            </a:xfrm>
            <a:prstGeom prst="rect">
              <a:avLst/>
            </a:prstGeom>
            <a:solidFill>
              <a:schemeClr val="accent1"/>
            </a:solidFill>
            <a:ln>
              <a:noFill/>
            </a:ln>
          </p:spPr>
        </p:sp>
        <p:sp>
          <p:nvSpPr>
            <p:cNvPr id="9" name="TextBox 9"/>
            <p:cNvSpPr txBox="1"/>
            <p:nvPr/>
          </p:nvSpPr>
          <p:spPr>
            <a:xfrm>
              <a:off x="979932" y="3564255"/>
              <a:ext cx="1930055" cy="410718"/>
            </a:xfrm>
            <a:prstGeom prst="rect">
              <a:avLst/>
            </a:prstGeom>
            <a:noFill/>
            <a:ln>
              <a:noFill/>
            </a:ln>
          </p:spPr>
          <p:txBody>
            <a:bodyPr wrap="none" lIns="0" tIns="0" rIns="0" bIns="0" anchor="t" anchorCtr="0">
              <a:spAutoFit/>
            </a:bodyPr>
            <a:lstStyle/>
            <a:p>
              <a:pPr algn="l"/>
              <a:r>
                <a:rPr lang="en-AU" sz="2100" b="1" dirty="0">
                  <a:solidFill>
                    <a:srgbClr val="FFFFFF"/>
                  </a:solidFill>
                  <a:latin typeface="+mn-lt"/>
                  <a:ea typeface="+mn-ea"/>
                  <a:cs typeface="+mn-cs"/>
                </a:rPr>
                <a:t>Factual layer</a:t>
              </a:r>
            </a:p>
          </p:txBody>
        </p:sp>
        <p:sp>
          <p:nvSpPr>
            <p:cNvPr id="10" name="TextBox 10"/>
            <p:cNvSpPr txBox="1"/>
            <p:nvPr/>
          </p:nvSpPr>
          <p:spPr>
            <a:xfrm>
              <a:off x="982218" y="4012882"/>
              <a:ext cx="4396359" cy="608457"/>
            </a:xfrm>
            <a:prstGeom prst="rect">
              <a:avLst/>
            </a:prstGeom>
            <a:noFill/>
            <a:ln>
              <a:noFill/>
            </a:ln>
          </p:spPr>
          <p:txBody>
            <a:bodyPr wrap="none" lIns="0" tIns="0" rIns="0" bIns="0" anchor="t" anchorCtr="0">
              <a:spAutoFit/>
            </a:bodyPr>
            <a:lstStyle/>
            <a:p>
              <a:pPr algn="l">
                <a:lnSpc>
                  <a:spcPts val="2250"/>
                </a:lnSpc>
              </a:pPr>
              <a:r>
                <a:rPr lang="en-AU" sz="1650" dirty="0">
                  <a:solidFill>
                    <a:srgbClr val="FFFFFF"/>
                  </a:solidFill>
                  <a:latin typeface="+mn-lt"/>
                  <a:ea typeface="+mn-ea"/>
                  <a:cs typeface="+mn-cs"/>
                </a:rPr>
                <a:t xml:space="preserve">All </a:t>
              </a:r>
              <a:r>
                <a:rPr lang="en-AU" sz="1650" b="1" dirty="0">
                  <a:solidFill>
                    <a:srgbClr val="FFFFFF"/>
                  </a:solidFill>
                  <a:latin typeface="+mn-lt"/>
                  <a:ea typeface="+mn-ea"/>
                  <a:cs typeface="+mn-cs"/>
                </a:rPr>
                <a:t>102</a:t>
              </a:r>
              <a:r>
                <a:rPr lang="en-AU" sz="1650" dirty="0">
                  <a:solidFill>
                    <a:srgbClr val="FFFFFF"/>
                  </a:solidFill>
                  <a:latin typeface="+mn-lt"/>
                  <a:ea typeface="+mn-ea"/>
                  <a:cs typeface="+mn-cs"/>
                </a:rPr>
                <a:t xml:space="preserve"> systematically scanned artifacts,</a:t>
              </a:r>
              <a:br/>
              <a:r>
                <a:rPr lang="en-AU" sz="1650" dirty="0">
                  <a:solidFill>
                    <a:srgbClr val="FFFFFF"/>
                  </a:solidFill>
                  <a:latin typeface="+mn-lt"/>
                  <a:ea typeface="+mn-ea"/>
                  <a:cs typeface="+mn-cs"/>
                </a:rPr>
                <a:t>open and publicly inspectable — the record.</a:t>
              </a:r>
            </a:p>
          </p:txBody>
        </p:sp>
        <p:sp>
          <p:nvSpPr>
            <p:cNvPr id="11" name="TextBox 11"/>
            <p:cNvSpPr txBox="1"/>
            <p:nvPr/>
          </p:nvSpPr>
          <p:spPr>
            <a:xfrm>
              <a:off x="675132" y="4764405"/>
              <a:ext cx="5622036" cy="791718"/>
            </a:xfrm>
            <a:prstGeom prst="rect">
              <a:avLst/>
            </a:prstGeom>
            <a:noFill/>
            <a:ln>
              <a:noFill/>
            </a:ln>
          </p:spPr>
          <p:txBody>
            <a:bodyPr wrap="none" lIns="0" tIns="0" rIns="0" bIns="0" anchor="t" anchorCtr="0">
              <a:spAutoFit/>
            </a:bodyPr>
            <a:lstStyle/>
            <a:p>
              <a:pPr algn="l">
                <a:lnSpc>
                  <a:spcPts val="3000"/>
                </a:lnSpc>
              </a:pPr>
              <a:r>
                <a:rPr lang="en-AU" sz="2100" dirty="0">
                  <a:solidFill>
                    <a:schemeClr val="dk1"/>
                  </a:solidFill>
                  <a:latin typeface="+mn-lt"/>
                  <a:ea typeface="+mn-ea"/>
                  <a:cs typeface="+mn-cs"/>
                </a:rPr>
                <a:t>Participants may imagine precisely because</a:t>
              </a:r>
              <a:br/>
              <a:r>
                <a:rPr lang="en-AU" sz="2100" dirty="0">
                  <a:solidFill>
                    <a:schemeClr val="dk1"/>
                  </a:solidFill>
                  <a:latin typeface="+mn-lt"/>
                  <a:ea typeface="+mn-ea"/>
                  <a:cs typeface="+mn-cs"/>
                </a:rPr>
                <a:t>imagining does not overwrite the record.</a:t>
              </a:r>
            </a:p>
          </p:txBody>
        </p:sp>
      </p:grpSp>
      <p:grpSp>
        <p:nvGrpSpPr>
          <p:cNvPr id="16" name="Group 16"/>
          <p:cNvGrpSpPr/>
          <p:nvPr/>
        </p:nvGrpSpPr>
        <p:grpSpPr>
          <a:xfrm>
            <a:off x="7268718" y="1676400"/>
            <a:ext cx="4237482" cy="4049839"/>
            <a:chOff x="7268718" y="1676400"/>
            <a:chExt cx="4237482" cy="4049839"/>
          </a:xfrm>
        </p:grpSpPr>
        <p:sp>
          <p:nvSpPr>
            <p:cNvPr id="13" name="Rectangle 13"/>
            <p:cNvSpPr/>
            <p:nvPr/>
          </p:nvSpPr>
          <p:spPr>
            <a:xfrm>
              <a:off x="7277100" y="1676400"/>
              <a:ext cx="4229100" cy="2857500"/>
            </a:xfrm>
            <a:prstGeom prst="rect">
              <a:avLst/>
            </a:prstGeom>
            <a:solidFill>
              <a:schemeClr val="lt2"/>
            </a:solidFill>
            <a:ln w="19050">
              <a:solidFill>
                <a:schemeClr val="accent3"/>
              </a:solidFill>
              <a:prstDash val="lgDash"/>
            </a:ln>
          </p:spPr>
        </p:sp>
        <p:sp>
          <p:nvSpPr>
            <p:cNvPr id="14" name="TextBox 14"/>
            <p:cNvSpPr txBox="1"/>
            <p:nvPr/>
          </p:nvSpPr>
          <p:spPr>
            <a:xfrm>
              <a:off x="8429853" y="2927032"/>
              <a:ext cx="1923594" cy="322707"/>
            </a:xfrm>
            <a:prstGeom prst="rect">
              <a:avLst/>
            </a:prstGeom>
            <a:noFill/>
            <a:ln>
              <a:noFill/>
            </a:ln>
          </p:spPr>
          <p:txBody>
            <a:bodyPr wrap="none" lIns="0" tIns="0" rIns="0" bIns="0" anchor="t" anchorCtr="0">
              <a:spAutoFit/>
            </a:bodyPr>
            <a:lstStyle/>
            <a:p>
              <a:pPr algn="ctr"/>
              <a:r>
                <a:rPr lang="en-AU" sz="1650" dirty="0">
                  <a:solidFill>
                    <a:schemeClr val="accent5"/>
                  </a:solidFill>
                  <a:latin typeface="+mn-lt"/>
                  <a:ea typeface="+mn-ea"/>
                  <a:cs typeface="+mn-cs"/>
                </a:rPr>
                <a:t>Image to be added</a:t>
              </a:r>
            </a:p>
          </p:txBody>
        </p:sp>
        <p:sp>
          <p:nvSpPr>
            <p:cNvPr id="15" name="TextBox 15"/>
            <p:cNvSpPr txBox="1"/>
            <p:nvPr/>
          </p:nvSpPr>
          <p:spPr>
            <a:xfrm>
              <a:off x="7268718" y="4793932"/>
              <a:ext cx="3275267" cy="932307"/>
            </a:xfrm>
            <a:prstGeom prst="rect">
              <a:avLst/>
            </a:prstGeom>
            <a:noFill/>
            <a:ln>
              <a:noFill/>
            </a:ln>
          </p:spPr>
          <p:txBody>
            <a:bodyPr wrap="none" lIns="0" tIns="0" rIns="0" bIns="0" anchor="t" anchorCtr="0">
              <a:spAutoFit/>
            </a:bodyPr>
            <a:lstStyle/>
            <a:p>
              <a:pPr algn="l">
                <a:lnSpc>
                  <a:spcPts val="2400"/>
                </a:lnSpc>
              </a:pPr>
              <a:r>
                <a:rPr lang="en-AU" sz="1650" dirty="0">
                  <a:solidFill>
                    <a:schemeClr val="accent5"/>
                  </a:solidFill>
                  <a:latin typeface="+mn-lt"/>
                  <a:ea typeface="+mn-ea"/>
                  <a:cs typeface="+mn-cs"/>
                </a:rPr>
                <a:t>Reserved — add a capture of one</a:t>
              </a:r>
              <a:br/>
              <a:r>
                <a:rPr lang="en-AU" sz="1650" dirty="0">
                  <a:solidFill>
                    <a:schemeClr val="accent5"/>
                  </a:solidFill>
                  <a:latin typeface="+mn-lt"/>
                  <a:ea typeface="+mn-ea"/>
                  <a:cs typeface="+mn-cs"/>
                </a:rPr>
                <a:t>scanned artifact, or of the</a:t>
              </a:r>
              <a:br/>
              <a:r>
                <a:rPr lang="en-AU" sz="1650" dirty="0">
                  <a:solidFill>
                    <a:schemeClr val="accent5"/>
                  </a:solidFill>
                  <a:latin typeface="+mn-lt"/>
                  <a:ea typeface="+mn-ea"/>
                  <a:cs typeface="+mn-cs"/>
                </a:rPr>
                <a:t>Sketchfab archive page.</a:t>
              </a:r>
            </a:p>
          </p:txBody>
        </p:sp>
      </p:grpSp>
      <p:grpSp>
        <p:nvGrpSpPr>
          <p:cNvPr id="19" name="Group 19"/>
          <p:cNvGrpSpPr/>
          <p:nvPr/>
        </p:nvGrpSpPr>
        <p:grpSpPr>
          <a:xfrm>
            <a:off x="679704" y="6080760"/>
            <a:ext cx="10832592" cy="234696"/>
            <a:chOff x="679704" y="6080760"/>
            <a:chExt cx="10832592" cy="234696"/>
          </a:xfrm>
        </p:grpSpPr>
        <p:sp>
          <p:nvSpPr>
            <p:cNvPr id="17" name="TextBox 17"/>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18" name="TextBox 18"/>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9573196" cy="704088"/>
            <a:chOff x="667512" y="678180"/>
            <a:chExt cx="9573196" cy="704088"/>
          </a:xfrm>
        </p:grpSpPr>
        <p:sp>
          <p:nvSpPr>
            <p:cNvPr id="2" name="TextBox 2"/>
            <p:cNvSpPr txBox="1"/>
            <p:nvPr/>
          </p:nvSpPr>
          <p:spPr>
            <a:xfrm>
              <a:off x="667512" y="678180"/>
              <a:ext cx="9573196"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Recognition runs ahead of attachment</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32" name="Group 32"/>
          <p:cNvGrpSpPr/>
          <p:nvPr/>
        </p:nvGrpSpPr>
        <p:grpSpPr>
          <a:xfrm>
            <a:off x="679704" y="2286000"/>
            <a:ext cx="6508166" cy="3419856"/>
            <a:chOff x="679704" y="2286000"/>
            <a:chExt cx="6508166" cy="3419856"/>
          </a:xfrm>
        </p:grpSpPr>
        <p:grpSp>
          <p:nvGrpSpPr>
            <p:cNvPr id="30" name="Group 30"/>
            <p:cNvGrpSpPr/>
            <p:nvPr/>
          </p:nvGrpSpPr>
          <p:grpSpPr>
            <a:xfrm>
              <a:off x="1202779" y="2286000"/>
              <a:ext cx="5985091" cy="3038856"/>
              <a:chOff x="1202779" y="2286000"/>
              <a:chExt cx="5985091" cy="3038856"/>
            </a:xfrm>
          </p:grpSpPr>
          <p:sp>
            <p:nvSpPr>
              <p:cNvPr id="5" name="Line 5"/>
              <p:cNvSpPr/>
              <p:nvPr/>
            </p:nvSpPr>
            <p:spPr>
              <a:xfrm>
                <a:off x="4000500" y="2286000"/>
                <a:ext cx="9525" cy="2667000"/>
              </a:xfrm>
              <a:custGeom>
                <a:avLst/>
                <a:gdLst/>
                <a:ahLst/>
                <a:cxnLst/>
                <a:rect l="l" t="t" r="r" b="b"/>
                <a:pathLst>
                  <a:path w="9525" h="2667000">
                    <a:moveTo>
                      <a:pt x="0" y="0"/>
                    </a:moveTo>
                    <a:lnTo>
                      <a:pt x="0" y="2667000"/>
                    </a:lnTo>
                  </a:path>
                </a:pathLst>
              </a:custGeom>
              <a:noFill/>
              <a:ln w="9525">
                <a:solidFill>
                  <a:srgbClr val="E8EDF2"/>
                </a:solidFill>
              </a:ln>
            </p:spPr>
          </p:sp>
          <p:sp>
            <p:nvSpPr>
              <p:cNvPr id="6" name="Line 6"/>
              <p:cNvSpPr/>
              <p:nvPr/>
            </p:nvSpPr>
            <p:spPr>
              <a:xfrm>
                <a:off x="4762500" y="2286000"/>
                <a:ext cx="9525" cy="2667000"/>
              </a:xfrm>
              <a:custGeom>
                <a:avLst/>
                <a:gdLst/>
                <a:ahLst/>
                <a:cxnLst/>
                <a:rect l="l" t="t" r="r" b="b"/>
                <a:pathLst>
                  <a:path w="9525" h="2667000">
                    <a:moveTo>
                      <a:pt x="0" y="0"/>
                    </a:moveTo>
                    <a:lnTo>
                      <a:pt x="0" y="2667000"/>
                    </a:lnTo>
                  </a:path>
                </a:pathLst>
              </a:custGeom>
              <a:noFill/>
              <a:ln w="9525">
                <a:solidFill>
                  <a:srgbClr val="E8EDF2"/>
                </a:solidFill>
              </a:ln>
            </p:spPr>
          </p:sp>
          <p:sp>
            <p:nvSpPr>
              <p:cNvPr id="7" name="Line 7"/>
              <p:cNvSpPr/>
              <p:nvPr/>
            </p:nvSpPr>
            <p:spPr>
              <a:xfrm>
                <a:off x="5524500" y="2286000"/>
                <a:ext cx="9525" cy="2667000"/>
              </a:xfrm>
              <a:custGeom>
                <a:avLst/>
                <a:gdLst/>
                <a:ahLst/>
                <a:cxnLst/>
                <a:rect l="l" t="t" r="r" b="b"/>
                <a:pathLst>
                  <a:path w="9525" h="2667000">
                    <a:moveTo>
                      <a:pt x="0" y="0"/>
                    </a:moveTo>
                    <a:lnTo>
                      <a:pt x="0" y="2667000"/>
                    </a:lnTo>
                  </a:path>
                </a:pathLst>
              </a:custGeom>
              <a:noFill/>
              <a:ln w="9525">
                <a:solidFill>
                  <a:srgbClr val="E8EDF2"/>
                </a:solidFill>
              </a:ln>
            </p:spPr>
          </p:sp>
          <p:sp>
            <p:nvSpPr>
              <p:cNvPr id="8" name="Line 8"/>
              <p:cNvSpPr/>
              <p:nvPr/>
            </p:nvSpPr>
            <p:spPr>
              <a:xfrm>
                <a:off x="6286500" y="2286000"/>
                <a:ext cx="9525" cy="2667000"/>
              </a:xfrm>
              <a:custGeom>
                <a:avLst/>
                <a:gdLst/>
                <a:ahLst/>
                <a:cxnLst/>
                <a:rect l="l" t="t" r="r" b="b"/>
                <a:pathLst>
                  <a:path w="9525" h="2667000">
                    <a:moveTo>
                      <a:pt x="0" y="0"/>
                    </a:moveTo>
                    <a:lnTo>
                      <a:pt x="0" y="2667000"/>
                    </a:lnTo>
                  </a:path>
                </a:pathLst>
              </a:custGeom>
              <a:noFill/>
              <a:ln w="9525">
                <a:solidFill>
                  <a:srgbClr val="E8EDF2"/>
                </a:solidFill>
              </a:ln>
            </p:spPr>
          </p:sp>
          <p:sp>
            <p:nvSpPr>
              <p:cNvPr id="9" name="Line 9"/>
              <p:cNvSpPr/>
              <p:nvPr/>
            </p:nvSpPr>
            <p:spPr>
              <a:xfrm>
                <a:off x="7048500" y="2286000"/>
                <a:ext cx="9525" cy="2667000"/>
              </a:xfrm>
              <a:custGeom>
                <a:avLst/>
                <a:gdLst/>
                <a:ahLst/>
                <a:cxnLst/>
                <a:rect l="l" t="t" r="r" b="b"/>
                <a:pathLst>
                  <a:path w="9525" h="2667000">
                    <a:moveTo>
                      <a:pt x="0" y="0"/>
                    </a:moveTo>
                    <a:lnTo>
                      <a:pt x="0" y="2667000"/>
                    </a:lnTo>
                  </a:path>
                </a:pathLst>
              </a:custGeom>
              <a:noFill/>
              <a:ln w="9525">
                <a:solidFill>
                  <a:srgbClr val="E8EDF2"/>
                </a:solidFill>
              </a:ln>
            </p:spPr>
          </p:sp>
          <p:sp>
            <p:nvSpPr>
              <p:cNvPr id="10" name="Line 10"/>
              <p:cNvSpPr/>
              <p:nvPr/>
            </p:nvSpPr>
            <p:spPr>
              <a:xfrm>
                <a:off x="4000500" y="4953000"/>
                <a:ext cx="3048000" cy="9525"/>
              </a:xfrm>
              <a:custGeom>
                <a:avLst/>
                <a:gdLst/>
                <a:ahLst/>
                <a:cxnLst/>
                <a:rect l="l" t="t" r="r" b="b"/>
                <a:pathLst>
                  <a:path w="3048000" h="9525">
                    <a:moveTo>
                      <a:pt x="0" y="0"/>
                    </a:moveTo>
                    <a:lnTo>
                      <a:pt x="3048000" y="0"/>
                    </a:lnTo>
                  </a:path>
                </a:pathLst>
              </a:custGeom>
              <a:noFill/>
              <a:ln w="19050">
                <a:solidFill>
                  <a:schemeClr val="accent6"/>
                </a:solidFill>
              </a:ln>
            </p:spPr>
          </p:sp>
          <p:sp>
            <p:nvSpPr>
              <p:cNvPr id="11" name="Line 11"/>
              <p:cNvSpPr/>
              <p:nvPr/>
            </p:nvSpPr>
            <p:spPr>
              <a:xfrm>
                <a:off x="4808220" y="2857500"/>
                <a:ext cx="1432560" cy="9525"/>
              </a:xfrm>
              <a:custGeom>
                <a:avLst/>
                <a:gdLst/>
                <a:ahLst/>
                <a:cxnLst/>
                <a:rect l="l" t="t" r="r" b="b"/>
                <a:pathLst>
                  <a:path w="1432560" h="9525">
                    <a:moveTo>
                      <a:pt x="0" y="0"/>
                    </a:moveTo>
                    <a:lnTo>
                      <a:pt x="1432560" y="0"/>
                    </a:lnTo>
                  </a:path>
                </a:pathLst>
              </a:custGeom>
              <a:noFill/>
              <a:ln w="38100">
                <a:solidFill>
                  <a:schemeClr val="accent3"/>
                </a:solidFill>
              </a:ln>
            </p:spPr>
          </p:sp>
          <p:sp>
            <p:nvSpPr>
              <p:cNvPr id="12" name="Ellipse 12"/>
              <p:cNvSpPr/>
              <p:nvPr/>
            </p:nvSpPr>
            <p:spPr>
              <a:xfrm>
                <a:off x="4693920" y="2743200"/>
                <a:ext cx="228600" cy="228600"/>
              </a:xfrm>
              <a:prstGeom prst="ellipse">
                <a:avLst/>
              </a:prstGeom>
              <a:solidFill>
                <a:schemeClr val="accent3"/>
              </a:solidFill>
              <a:ln>
                <a:noFill/>
              </a:ln>
            </p:spPr>
          </p:sp>
          <p:sp>
            <p:nvSpPr>
              <p:cNvPr id="13" name="Ellipse 13"/>
              <p:cNvSpPr/>
              <p:nvPr/>
            </p:nvSpPr>
            <p:spPr>
              <a:xfrm>
                <a:off x="6126480" y="2743200"/>
                <a:ext cx="228600" cy="228600"/>
              </a:xfrm>
              <a:prstGeom prst="ellipse">
                <a:avLst/>
              </a:prstGeom>
              <a:solidFill>
                <a:schemeClr val="accent1"/>
              </a:solidFill>
              <a:ln>
                <a:noFill/>
              </a:ln>
            </p:spPr>
          </p:sp>
          <p:sp>
            <p:nvSpPr>
              <p:cNvPr id="14" name="TextBox 14"/>
              <p:cNvSpPr txBox="1"/>
              <p:nvPr/>
            </p:nvSpPr>
            <p:spPr>
              <a:xfrm>
                <a:off x="4132097" y="2755582"/>
                <a:ext cx="505435" cy="322707"/>
              </a:xfrm>
              <a:prstGeom prst="rect">
                <a:avLst/>
              </a:prstGeom>
              <a:noFill/>
              <a:ln>
                <a:noFill/>
              </a:ln>
            </p:spPr>
            <p:txBody>
              <a:bodyPr wrap="none" lIns="0" tIns="0" rIns="0" bIns="0" anchor="t" anchorCtr="0">
                <a:spAutoFit/>
              </a:bodyPr>
              <a:lstStyle/>
              <a:p>
                <a:pPr algn="r"/>
                <a:r>
                  <a:rPr lang="en-AU" sz="1650" dirty="0">
                    <a:solidFill>
                      <a:schemeClr val="dk1"/>
                    </a:solidFill>
                    <a:latin typeface="+mn-lt"/>
                    <a:ea typeface="+mn-ea"/>
                    <a:cs typeface="+mn-cs"/>
                  </a:rPr>
                  <a:t>3.53</a:t>
                </a:r>
              </a:p>
            </p:txBody>
          </p:sp>
          <p:sp>
            <p:nvSpPr>
              <p:cNvPr id="15" name="TextBox 15"/>
              <p:cNvSpPr txBox="1"/>
              <p:nvPr/>
            </p:nvSpPr>
            <p:spPr>
              <a:xfrm>
                <a:off x="6411468" y="2755582"/>
                <a:ext cx="505435"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4.47</a:t>
                </a:r>
              </a:p>
            </p:txBody>
          </p:sp>
          <p:sp>
            <p:nvSpPr>
              <p:cNvPr id="16" name="Line 16"/>
              <p:cNvSpPr/>
              <p:nvPr/>
            </p:nvSpPr>
            <p:spPr>
              <a:xfrm>
                <a:off x="5219700" y="4191000"/>
                <a:ext cx="1066800" cy="9525"/>
              </a:xfrm>
              <a:custGeom>
                <a:avLst/>
                <a:gdLst/>
                <a:ahLst/>
                <a:cxnLst/>
                <a:rect l="l" t="t" r="r" b="b"/>
                <a:pathLst>
                  <a:path w="1066800" h="9525">
                    <a:moveTo>
                      <a:pt x="0" y="0"/>
                    </a:moveTo>
                    <a:lnTo>
                      <a:pt x="1066800" y="0"/>
                    </a:lnTo>
                  </a:path>
                </a:pathLst>
              </a:custGeom>
              <a:noFill/>
              <a:ln w="38100">
                <a:solidFill>
                  <a:schemeClr val="accent3"/>
                </a:solidFill>
              </a:ln>
            </p:spPr>
          </p:sp>
          <p:sp>
            <p:nvSpPr>
              <p:cNvPr id="17" name="Ellipse 17"/>
              <p:cNvSpPr/>
              <p:nvPr/>
            </p:nvSpPr>
            <p:spPr>
              <a:xfrm>
                <a:off x="5105400" y="4076700"/>
                <a:ext cx="228600" cy="228600"/>
              </a:xfrm>
              <a:prstGeom prst="ellipse">
                <a:avLst/>
              </a:prstGeom>
              <a:solidFill>
                <a:schemeClr val="accent3"/>
              </a:solidFill>
              <a:ln>
                <a:noFill/>
              </a:ln>
            </p:spPr>
          </p:sp>
          <p:sp>
            <p:nvSpPr>
              <p:cNvPr id="18" name="Ellipse 18"/>
              <p:cNvSpPr/>
              <p:nvPr/>
            </p:nvSpPr>
            <p:spPr>
              <a:xfrm>
                <a:off x="6172200" y="4076700"/>
                <a:ext cx="228600" cy="228600"/>
              </a:xfrm>
              <a:prstGeom prst="ellipse">
                <a:avLst/>
              </a:prstGeom>
              <a:solidFill>
                <a:schemeClr val="accent1"/>
              </a:solidFill>
              <a:ln>
                <a:noFill/>
              </a:ln>
            </p:spPr>
          </p:sp>
          <p:sp>
            <p:nvSpPr>
              <p:cNvPr id="19" name="TextBox 19"/>
              <p:cNvSpPr txBox="1"/>
              <p:nvPr/>
            </p:nvSpPr>
            <p:spPr>
              <a:xfrm>
                <a:off x="4541672" y="4089082"/>
                <a:ext cx="505435" cy="322707"/>
              </a:xfrm>
              <a:prstGeom prst="rect">
                <a:avLst/>
              </a:prstGeom>
              <a:noFill/>
              <a:ln>
                <a:noFill/>
              </a:ln>
            </p:spPr>
            <p:txBody>
              <a:bodyPr wrap="none" lIns="0" tIns="0" rIns="0" bIns="0" anchor="t" anchorCtr="0">
                <a:spAutoFit/>
              </a:bodyPr>
              <a:lstStyle/>
              <a:p>
                <a:pPr algn="r"/>
                <a:r>
                  <a:rPr lang="en-AU" sz="1650" dirty="0">
                    <a:solidFill>
                      <a:schemeClr val="dk1"/>
                    </a:solidFill>
                    <a:latin typeface="+mn-lt"/>
                    <a:ea typeface="+mn-ea"/>
                    <a:cs typeface="+mn-cs"/>
                  </a:rPr>
                  <a:t>3.80</a:t>
                </a:r>
              </a:p>
            </p:txBody>
          </p:sp>
          <p:sp>
            <p:nvSpPr>
              <p:cNvPr id="20" name="TextBox 20"/>
              <p:cNvSpPr txBox="1"/>
              <p:nvPr/>
            </p:nvSpPr>
            <p:spPr>
              <a:xfrm>
                <a:off x="6459093" y="4089082"/>
                <a:ext cx="505435"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4.50</a:t>
                </a:r>
              </a:p>
            </p:txBody>
          </p:sp>
          <p:sp>
            <p:nvSpPr>
              <p:cNvPr id="21" name="TextBox 21"/>
              <p:cNvSpPr txBox="1"/>
              <p:nvPr/>
            </p:nvSpPr>
            <p:spPr>
              <a:xfrm>
                <a:off x="1528839" y="2603182"/>
                <a:ext cx="2289543" cy="322707"/>
              </a:xfrm>
              <a:prstGeom prst="rect">
                <a:avLst/>
              </a:prstGeom>
              <a:noFill/>
              <a:ln>
                <a:noFill/>
              </a:ln>
            </p:spPr>
            <p:txBody>
              <a:bodyPr wrap="none" lIns="0" tIns="0" rIns="0" bIns="0" anchor="t" anchorCtr="0">
                <a:spAutoFit/>
              </a:bodyPr>
              <a:lstStyle/>
              <a:p>
                <a:pPr algn="r"/>
                <a:r>
                  <a:rPr lang="en-AU" sz="1650" dirty="0">
                    <a:solidFill>
                      <a:schemeClr val="dk1"/>
                    </a:solidFill>
                    <a:latin typeface="+mn-lt"/>
                    <a:ea typeface="+mn-ea"/>
                    <a:cs typeface="+mn-cs"/>
                  </a:rPr>
                  <a:t>Visitors: importance</a:t>
                </a:r>
              </a:p>
            </p:txBody>
          </p:sp>
          <p:sp>
            <p:nvSpPr>
              <p:cNvPr id="22" name="TextBox 22"/>
              <p:cNvSpPr txBox="1"/>
              <p:nvPr/>
            </p:nvSpPr>
            <p:spPr>
              <a:xfrm>
                <a:off x="1202779" y="2869882"/>
                <a:ext cx="2615603" cy="322707"/>
              </a:xfrm>
              <a:prstGeom prst="rect">
                <a:avLst/>
              </a:prstGeom>
              <a:noFill/>
              <a:ln>
                <a:noFill/>
              </a:ln>
            </p:spPr>
            <p:txBody>
              <a:bodyPr wrap="none" lIns="0" tIns="0" rIns="0" bIns="0" anchor="t" anchorCtr="0">
                <a:spAutoFit/>
              </a:bodyPr>
              <a:lstStyle/>
              <a:p>
                <a:pPr algn="r"/>
                <a:r>
                  <a:rPr lang="en-AU" sz="1650" dirty="0">
                    <a:solidFill>
                      <a:schemeClr val="accent5"/>
                    </a:solidFill>
                    <a:latin typeface="+mn-lt"/>
                    <a:ea typeface="+mn-ea"/>
                    <a:cs typeface="+mn-cs"/>
                  </a:rPr>
                  <a:t>vs personal significance</a:t>
                </a:r>
              </a:p>
            </p:txBody>
          </p:sp>
          <p:sp>
            <p:nvSpPr>
              <p:cNvPr id="23" name="TextBox 23"/>
              <p:cNvSpPr txBox="1"/>
              <p:nvPr/>
            </p:nvSpPr>
            <p:spPr>
              <a:xfrm>
                <a:off x="1473133" y="3936682"/>
                <a:ext cx="2345249" cy="322707"/>
              </a:xfrm>
              <a:prstGeom prst="rect">
                <a:avLst/>
              </a:prstGeom>
              <a:noFill/>
              <a:ln>
                <a:noFill/>
              </a:ln>
            </p:spPr>
            <p:txBody>
              <a:bodyPr wrap="none" lIns="0" tIns="0" rIns="0" bIns="0" anchor="t" anchorCtr="0">
                <a:spAutoFit/>
              </a:bodyPr>
              <a:lstStyle/>
              <a:p>
                <a:pPr algn="r"/>
                <a:r>
                  <a:rPr lang="en-AU" sz="1650" dirty="0">
                    <a:solidFill>
                      <a:schemeClr val="dk1"/>
                    </a:solidFill>
                    <a:latin typeface="+mn-lt"/>
                    <a:ea typeface="+mn-ea"/>
                    <a:cs typeface="+mn-cs"/>
                  </a:rPr>
                  <a:t>Attachment: visitors</a:t>
                </a:r>
              </a:p>
            </p:txBody>
          </p:sp>
          <p:sp>
            <p:nvSpPr>
              <p:cNvPr id="24" name="TextBox 24"/>
              <p:cNvSpPr txBox="1"/>
              <p:nvPr/>
            </p:nvSpPr>
            <p:spPr>
              <a:xfrm>
                <a:off x="1846936" y="4203382"/>
                <a:ext cx="1971446" cy="322707"/>
              </a:xfrm>
              <a:prstGeom prst="rect">
                <a:avLst/>
              </a:prstGeom>
              <a:noFill/>
              <a:ln>
                <a:noFill/>
              </a:ln>
            </p:spPr>
            <p:txBody>
              <a:bodyPr wrap="none" lIns="0" tIns="0" rIns="0" bIns="0" anchor="t" anchorCtr="0">
                <a:spAutoFit/>
              </a:bodyPr>
              <a:lstStyle/>
              <a:p>
                <a:pPr algn="r"/>
                <a:r>
                  <a:rPr lang="en-AU" sz="1650" dirty="0">
                    <a:solidFill>
                      <a:schemeClr val="accent5"/>
                    </a:solidFill>
                    <a:latin typeface="+mn-lt"/>
                    <a:ea typeface="+mn-ea"/>
                    <a:cs typeface="+mn-cs"/>
                  </a:rPr>
                  <a:t>vs administrators</a:t>
                </a:r>
              </a:p>
            </p:txBody>
          </p:sp>
          <p:sp>
            <p:nvSpPr>
              <p:cNvPr id="25" name="TextBox 25"/>
              <p:cNvSpPr txBox="1"/>
              <p:nvPr/>
            </p:nvSpPr>
            <p:spPr>
              <a:xfrm>
                <a:off x="3861130" y="5090160"/>
                <a:ext cx="278740"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3.0</a:t>
                </a:r>
              </a:p>
            </p:txBody>
          </p:sp>
          <p:sp>
            <p:nvSpPr>
              <p:cNvPr id="26" name="TextBox 26"/>
              <p:cNvSpPr txBox="1"/>
              <p:nvPr/>
            </p:nvSpPr>
            <p:spPr>
              <a:xfrm>
                <a:off x="4623130" y="5090160"/>
                <a:ext cx="278740"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3.5</a:t>
                </a:r>
              </a:p>
            </p:txBody>
          </p:sp>
          <p:sp>
            <p:nvSpPr>
              <p:cNvPr id="27" name="TextBox 27"/>
              <p:cNvSpPr txBox="1"/>
              <p:nvPr/>
            </p:nvSpPr>
            <p:spPr>
              <a:xfrm>
                <a:off x="5385130" y="5090160"/>
                <a:ext cx="278740"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4.0</a:t>
                </a:r>
              </a:p>
            </p:txBody>
          </p:sp>
          <p:sp>
            <p:nvSpPr>
              <p:cNvPr id="28" name="TextBox 28"/>
              <p:cNvSpPr txBox="1"/>
              <p:nvPr/>
            </p:nvSpPr>
            <p:spPr>
              <a:xfrm>
                <a:off x="6147130" y="5090160"/>
                <a:ext cx="278740"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4.5</a:t>
                </a:r>
              </a:p>
            </p:txBody>
          </p:sp>
          <p:sp>
            <p:nvSpPr>
              <p:cNvPr id="29" name="TextBox 29"/>
              <p:cNvSpPr txBox="1"/>
              <p:nvPr/>
            </p:nvSpPr>
            <p:spPr>
              <a:xfrm>
                <a:off x="6909130" y="5090160"/>
                <a:ext cx="278740"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5.0</a:t>
                </a:r>
              </a:p>
            </p:txBody>
          </p:sp>
        </p:grpSp>
        <p:sp>
          <p:nvSpPr>
            <p:cNvPr id="31" name="TextBox 31"/>
            <p:cNvSpPr txBox="1"/>
            <p:nvPr/>
          </p:nvSpPr>
          <p:spPr>
            <a:xfrm>
              <a:off x="679704" y="5471160"/>
              <a:ext cx="6082453"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On-site questionnaire, Jichang Garden. Visitors N=15, administrators N=12.</a:t>
              </a:r>
            </a:p>
          </p:txBody>
        </p:sp>
      </p:grpSp>
      <p:grpSp>
        <p:nvGrpSpPr>
          <p:cNvPr id="37" name="Group 37"/>
          <p:cNvGrpSpPr/>
          <p:nvPr/>
        </p:nvGrpSpPr>
        <p:grpSpPr>
          <a:xfrm>
            <a:off x="7639050" y="1784032"/>
            <a:ext cx="3317367" cy="3904107"/>
            <a:chOff x="7639050" y="1784032"/>
            <a:chExt cx="3317367" cy="3904107"/>
          </a:xfrm>
        </p:grpSpPr>
        <p:sp>
          <p:nvSpPr>
            <p:cNvPr id="33" name="TextBox 33"/>
            <p:cNvSpPr txBox="1"/>
            <p:nvPr/>
          </p:nvSpPr>
          <p:spPr>
            <a:xfrm>
              <a:off x="7649718" y="1784032"/>
              <a:ext cx="3022804"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What follows for the design</a:t>
              </a:r>
            </a:p>
          </p:txBody>
        </p:sp>
        <p:sp>
          <p:nvSpPr>
            <p:cNvPr id="34" name="TextBox 34"/>
            <p:cNvSpPr txBox="1"/>
            <p:nvPr/>
          </p:nvSpPr>
          <p:spPr>
            <a:xfrm>
              <a:off x="7649718" y="2260282"/>
              <a:ext cx="3212402" cy="15419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Both groups rated sensory</a:t>
              </a:r>
              <a:br/>
              <a:r>
                <a:rPr lang="en-AU" sz="1650" dirty="0">
                  <a:solidFill>
                    <a:schemeClr val="dk1"/>
                  </a:solidFill>
                  <a:latin typeface="+mn-lt"/>
                  <a:ea typeface="+mn-ea"/>
                  <a:cs typeface="+mn-cs"/>
                </a:rPr>
                <a:t>experience the most important</a:t>
              </a:r>
              <a:br/>
              <a:r>
                <a:rPr lang="en-AU" sz="1650" dirty="0">
                  <a:solidFill>
                    <a:schemeClr val="dk1"/>
                  </a:solidFill>
                  <a:latin typeface="+mn-lt"/>
                  <a:ea typeface="+mn-ea"/>
                  <a:cs typeface="+mn-cs"/>
                </a:rPr>
                <a:t>quality of a virtual garden —</a:t>
              </a:r>
              <a:br/>
              <a:r>
                <a:rPr lang="en-AU" sz="1650" dirty="0">
                  <a:solidFill>
                    <a:schemeClr val="dk1"/>
                  </a:solidFill>
                  <a:latin typeface="+mn-lt"/>
                  <a:ea typeface="+mn-ea"/>
                  <a:cs typeface="+mn-cs"/>
                </a:rPr>
                <a:t>4.20 and 4.25 — while reporting</a:t>
              </a:r>
              <a:br/>
              <a:r>
                <a:rPr lang="en-AU" sz="1650" dirty="0">
                  <a:solidFill>
                    <a:schemeClr val="dk1"/>
                  </a:solidFill>
                  <a:latin typeface="+mn-lt"/>
                  <a:ea typeface="+mn-ea"/>
                  <a:cs typeface="+mn-cs"/>
                </a:rPr>
                <a:t>almost no prior VR use.</a:t>
              </a:r>
            </a:p>
          </p:txBody>
        </p:sp>
        <p:sp>
          <p:nvSpPr>
            <p:cNvPr id="35" name="TextBox 35"/>
            <p:cNvSpPr txBox="1"/>
            <p:nvPr/>
          </p:nvSpPr>
          <p:spPr>
            <a:xfrm>
              <a:off x="7639050" y="3851910"/>
              <a:ext cx="2323746" cy="819150"/>
            </a:xfrm>
            <a:prstGeom prst="rect">
              <a:avLst/>
            </a:prstGeom>
            <a:noFill/>
            <a:ln>
              <a:noFill/>
            </a:ln>
          </p:spPr>
          <p:txBody>
            <a:bodyPr wrap="none" lIns="0" tIns="0" rIns="0" bIns="0" anchor="t" anchorCtr="0">
              <a:spAutoFit/>
            </a:bodyPr>
            <a:lstStyle/>
            <a:p>
              <a:pPr algn="l"/>
              <a:r>
                <a:rPr lang="en-AU" sz="4200" b="1" dirty="0">
                  <a:solidFill>
                    <a:schemeClr val="accent2"/>
                  </a:solidFill>
                  <a:latin typeface="+mn-lt"/>
                  <a:ea typeface="+mn-ea"/>
                  <a:cs typeface="+mn-cs"/>
                </a:rPr>
                <a:t>130/172</a:t>
              </a:r>
            </a:p>
          </p:txBody>
        </p:sp>
        <p:sp>
          <p:nvSpPr>
            <p:cNvPr id="36" name="TextBox 36"/>
            <p:cNvSpPr txBox="1"/>
            <p:nvPr/>
          </p:nvSpPr>
          <p:spPr>
            <a:xfrm>
              <a:off x="7649718" y="4451032"/>
              <a:ext cx="3306699" cy="12371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named overly complex operation</a:t>
              </a:r>
              <a:br/>
              <a:r>
                <a:rPr lang="en-AU" sz="1650" dirty="0">
                  <a:solidFill>
                    <a:schemeClr val="dk1"/>
                  </a:solidFill>
                  <a:latin typeface="+mn-lt"/>
                  <a:ea typeface="+mn-ea"/>
                  <a:cs typeface="+mn-cs"/>
                </a:rPr>
                <a:t>as the style to avoid, ahead of</a:t>
              </a:r>
              <a:br/>
              <a:r>
                <a:rPr lang="en-AU" sz="1650" dirty="0">
                  <a:solidFill>
                    <a:schemeClr val="dk1"/>
                  </a:solidFill>
                  <a:latin typeface="+mn-lt"/>
                  <a:ea typeface="+mn-ea"/>
                  <a:cs typeface="+mn-cs"/>
                </a:rPr>
                <a:t>gamification (86) and modernity</a:t>
              </a:r>
            </a:p>
            <a:p>
              <a:pPr algn="l">
                <a:lnSpc>
                  <a:spcPts val="2400"/>
                </a:lnSpc>
              </a:pPr>
              <a:r>
                <a:rPr lang="en-AU" sz="1650" dirty="0">
                  <a:solidFill>
                    <a:schemeClr val="dk1"/>
                  </a:solidFill>
                  <a:latin typeface="+mn-lt"/>
                  <a:ea typeface="+mn-ea"/>
                  <a:cs typeface="+mn-cs"/>
                </a:rPr>
                <a:t>(56). 40.1% had never used VR.</a:t>
              </a:r>
            </a:p>
          </p:txBody>
        </p:sp>
      </p:grpSp>
      <p:grpSp>
        <p:nvGrpSpPr>
          <p:cNvPr id="40" name="Group 40"/>
          <p:cNvGrpSpPr/>
          <p:nvPr/>
        </p:nvGrpSpPr>
        <p:grpSpPr>
          <a:xfrm>
            <a:off x="679704" y="6080760"/>
            <a:ext cx="10832592" cy="234696"/>
            <a:chOff x="679704" y="6080760"/>
            <a:chExt cx="10832592" cy="234696"/>
          </a:xfrm>
        </p:grpSpPr>
        <p:sp>
          <p:nvSpPr>
            <p:cNvPr id="38" name="TextBox 38"/>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39" name="TextBox 39"/>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6476826" cy="704088"/>
            <a:chOff x="667512" y="678180"/>
            <a:chExt cx="6476826" cy="704088"/>
          </a:xfrm>
        </p:grpSpPr>
        <p:sp>
          <p:nvSpPr>
            <p:cNvPr id="2" name="TextBox 2"/>
            <p:cNvSpPr txBox="1"/>
            <p:nvPr/>
          </p:nvSpPr>
          <p:spPr>
            <a:xfrm>
              <a:off x="667512" y="678180"/>
              <a:ext cx="6476826"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Presence, and authorship</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9" name="Group 9"/>
          <p:cNvGrpSpPr/>
          <p:nvPr/>
        </p:nvGrpSpPr>
        <p:grpSpPr>
          <a:xfrm>
            <a:off x="677418" y="1676400"/>
            <a:ext cx="5266182" cy="3535489"/>
            <a:chOff x="677418" y="1676400"/>
            <a:chExt cx="5266182" cy="3535489"/>
          </a:xfrm>
        </p:grpSpPr>
        <p:pic>
          <p:nvPicPr>
            <p:cNvPr id="5" name="Image 5"/>
            <p:cNvPicPr>
              <a:picLocks noChangeAspect="1"/>
            </p:cNvPicPr>
            <p:nvPr/>
          </p:nvPicPr>
          <p:blipFill>
            <a:blip r:embed="rId2"/>
            <a:srcRect l="0" t="15366" r="0" b="15366"/>
            <a:stretch>
              <a:fillRect/>
            </a:stretch>
          </p:blipFill>
          <p:spPr>
            <a:xfrm>
              <a:off x="685800" y="1676400"/>
              <a:ext cx="5257800" cy="2038350"/>
            </a:xfrm>
            <a:prstGeom prst="rect">
              <a:avLst/>
            </a:prstGeom>
          </p:spPr>
        </p:pic>
        <p:sp>
          <p:nvSpPr>
            <p:cNvPr id="6" name="Freeform 6"/>
            <p:cNvSpPr/>
            <p:nvPr/>
          </p:nvSpPr>
          <p:spPr>
            <a:xfrm>
              <a:off x="710556" y="3944263"/>
              <a:ext cx="255288" cy="227688"/>
            </a:xfrm>
            <a:custGeom>
              <a:avLst/>
              <a:gdLst/>
              <a:ahLst/>
              <a:cxnLst/>
              <a:rect l="l" t="t" r="r" b="b"/>
              <a:pathLst>
                <a:path w="255288" h="227688">
                  <a:moveTo>
                    <a:pt x="53730" y="100052"/>
                  </a:moveTo>
                  <a:lnTo>
                    <a:pt x="85988" y="140374"/>
                  </a:lnTo>
                  <a:lnTo>
                    <a:pt x="87055" y="141556"/>
                  </a:lnTo>
                  <a:cubicBezTo>
                    <a:pt x="92032" y="146386"/>
                    <a:pt x="99965" y="146329"/>
                    <a:pt x="104873" y="141429"/>
                  </a:cubicBezTo>
                  <a:lnTo>
                    <a:pt x="125663" y="120626"/>
                  </a:lnTo>
                  <a:lnTo>
                    <a:pt x="142477" y="145835"/>
                  </a:lnTo>
                  <a:cubicBezTo>
                    <a:pt x="144452" y="148798"/>
                    <a:pt x="147580" y="150795"/>
                    <a:pt x="151098" y="151341"/>
                  </a:cubicBezTo>
                  <a:cubicBezTo>
                    <a:pt x="154616" y="151887"/>
                    <a:pt x="158202" y="150931"/>
                    <a:pt x="160981" y="148706"/>
                  </a:cubicBezTo>
                  <a:lnTo>
                    <a:pt x="207108" y="111799"/>
                  </a:lnTo>
                  <a:lnTo>
                    <a:pt x="253424" y="209551"/>
                  </a:lnTo>
                  <a:cubicBezTo>
                    <a:pt x="255288" y="213486"/>
                    <a:pt x="255006" y="218101"/>
                    <a:pt x="252677" y="221780"/>
                  </a:cubicBezTo>
                  <a:cubicBezTo>
                    <a:pt x="250348" y="225458"/>
                    <a:pt x="246297" y="227688"/>
                    <a:pt x="241944" y="227687"/>
                  </a:cubicBezTo>
                  <a:lnTo>
                    <a:pt x="13344" y="227687"/>
                  </a:lnTo>
                  <a:cubicBezTo>
                    <a:pt x="8990" y="227688"/>
                    <a:pt x="4940" y="225458"/>
                    <a:pt x="2611" y="221780"/>
                  </a:cubicBezTo>
                  <a:cubicBezTo>
                    <a:pt x="282" y="218101"/>
                    <a:pt x="0" y="213486"/>
                    <a:pt x="1863" y="209551"/>
                  </a:cubicBezTo>
                  <a:close/>
                  <a:moveTo>
                    <a:pt x="127644" y="2"/>
                  </a:moveTo>
                  <a:cubicBezTo>
                    <a:pt x="143845" y="0"/>
                    <a:pt x="158596" y="9336"/>
                    <a:pt x="165528" y="23979"/>
                  </a:cubicBezTo>
                  <a:lnTo>
                    <a:pt x="195932" y="88203"/>
                  </a:lnTo>
                  <a:lnTo>
                    <a:pt x="155927" y="120207"/>
                  </a:lnTo>
                  <a:lnTo>
                    <a:pt x="138210" y="93639"/>
                  </a:lnTo>
                  <a:lnTo>
                    <a:pt x="137258" y="92381"/>
                  </a:lnTo>
                  <a:cubicBezTo>
                    <a:pt x="134950" y="89711"/>
                    <a:pt x="131635" y="88121"/>
                    <a:pt x="128108" y="87993"/>
                  </a:cubicBezTo>
                  <a:cubicBezTo>
                    <a:pt x="124581" y="87866"/>
                    <a:pt x="121160" y="89212"/>
                    <a:pt x="118665" y="91708"/>
                  </a:cubicBezTo>
                  <a:lnTo>
                    <a:pt x="96935" y="113412"/>
                  </a:lnTo>
                  <a:lnTo>
                    <a:pt x="80413" y="92750"/>
                  </a:lnTo>
                  <a:lnTo>
                    <a:pt x="65795" y="74525"/>
                  </a:lnTo>
                  <a:lnTo>
                    <a:pt x="89773" y="23979"/>
                  </a:lnTo>
                  <a:cubicBezTo>
                    <a:pt x="96703" y="9340"/>
                    <a:pt x="111447" y="5"/>
                    <a:pt x="127644" y="2"/>
                  </a:cubicBezTo>
                </a:path>
              </a:pathLst>
            </a:custGeom>
            <a:solidFill>
              <a:schemeClr val="accent1"/>
            </a:solidFill>
            <a:ln>
              <a:noFill/>
            </a:ln>
          </p:spPr>
        </p:sp>
        <p:sp>
          <p:nvSpPr>
            <p:cNvPr id="7" name="TextBox 7"/>
            <p:cNvSpPr txBox="1"/>
            <p:nvPr/>
          </p:nvSpPr>
          <p:spPr>
            <a:xfrm>
              <a:off x="1091184" y="3861435"/>
              <a:ext cx="3357951"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Affords presence</a:t>
              </a:r>
            </a:p>
          </p:txBody>
        </p:sp>
        <p:sp>
          <p:nvSpPr>
            <p:cNvPr id="8" name="TextBox 8"/>
            <p:cNvSpPr txBox="1"/>
            <p:nvPr/>
          </p:nvSpPr>
          <p:spPr>
            <a:xfrm>
              <a:off x="677418" y="4355782"/>
              <a:ext cx="3966782" cy="856107"/>
            </a:xfrm>
            <a:prstGeom prst="rect">
              <a:avLst/>
            </a:prstGeom>
            <a:noFill/>
            <a:ln>
              <a:noFill/>
            </a:ln>
          </p:spPr>
          <p:txBody>
            <a:bodyPr wrap="none" lIns="0" tIns="0" rIns="0" bIns="0" anchor="t" anchorCtr="0">
              <a:spAutoFit/>
            </a:bodyPr>
            <a:lstStyle/>
            <a:p>
              <a:pPr algn="l">
                <a:lnSpc>
                  <a:spcPts val="2100"/>
                </a:lnSpc>
              </a:pPr>
              <a:r>
                <a:rPr lang="en-AU" sz="1650" dirty="0">
                  <a:solidFill>
                    <a:schemeClr val="dk1"/>
                  </a:solidFill>
                  <a:latin typeface="+mn-lt"/>
                  <a:ea typeface="+mn-ea"/>
                  <a:cs typeface="+mn-cs"/>
                </a:rPr>
                <a:t>Continuous space, naturalistic scale,</a:t>
              </a:r>
              <a:br/>
              <a:r>
                <a:rPr lang="en-AU" sz="1650" dirty="0">
                  <a:solidFill>
                    <a:schemeClr val="dk1"/>
                  </a:solidFill>
                  <a:latin typeface="+mn-lt"/>
                  <a:ea typeface="+mn-ea"/>
                  <a:cs typeface="+mn-cs"/>
                </a:rPr>
                <a:t>spatialised sound. Visual completeness</a:t>
              </a:r>
              <a:br/>
              <a:r>
                <a:rPr lang="en-AU" sz="1650" dirty="0">
                  <a:solidFill>
                    <a:schemeClr val="dk1"/>
                  </a:solidFill>
                  <a:latin typeface="+mn-lt"/>
                  <a:ea typeface="+mn-ea"/>
                  <a:cs typeface="+mn-cs"/>
                </a:rPr>
                <a:t>signals a finished world.</a:t>
              </a:r>
            </a:p>
          </p:txBody>
        </p:sp>
      </p:grpSp>
      <p:grpSp>
        <p:nvGrpSpPr>
          <p:cNvPr id="14" name="Group 14"/>
          <p:cNvGrpSpPr/>
          <p:nvPr/>
        </p:nvGrpSpPr>
        <p:grpSpPr>
          <a:xfrm>
            <a:off x="6240018" y="1676400"/>
            <a:ext cx="4763336" cy="3535489"/>
            <a:chOff x="6240018" y="1676400"/>
            <a:chExt cx="4763336" cy="3535489"/>
          </a:xfrm>
        </p:grpSpPr>
        <p:pic>
          <p:nvPicPr>
            <p:cNvPr id="10" name="Image 10"/>
            <p:cNvPicPr>
              <a:picLocks noChangeAspect="1"/>
            </p:cNvPicPr>
            <p:nvPr/>
          </p:nvPicPr>
          <p:blipFill>
            <a:blip r:embed="rId3"/>
            <a:stretch>
              <a:fillRect/>
            </a:stretch>
          </p:blipFill>
          <p:spPr>
            <a:xfrm>
              <a:off x="6751247" y="1676400"/>
              <a:ext cx="4252107" cy="2038350"/>
            </a:xfrm>
            <a:prstGeom prst="rect">
              <a:avLst/>
            </a:prstGeom>
          </p:spPr>
        </p:pic>
        <p:sp>
          <p:nvSpPr>
            <p:cNvPr id="11" name="Freeform 11"/>
            <p:cNvSpPr/>
            <p:nvPr/>
          </p:nvSpPr>
          <p:spPr>
            <a:xfrm>
              <a:off x="6273800" y="3943350"/>
              <a:ext cx="253999" cy="241894"/>
            </a:xfrm>
            <a:custGeom>
              <a:avLst/>
              <a:gdLst/>
              <a:ahLst/>
              <a:cxnLst/>
              <a:rect l="l" t="t" r="r" b="b"/>
              <a:pathLst>
                <a:path w="253999" h="241894">
                  <a:moveTo>
                    <a:pt x="203199" y="0"/>
                  </a:moveTo>
                  <a:cubicBezTo>
                    <a:pt x="231255" y="0"/>
                    <a:pt x="253999" y="22744"/>
                    <a:pt x="253999" y="50800"/>
                  </a:cubicBezTo>
                  <a:lnTo>
                    <a:pt x="253999" y="152400"/>
                  </a:lnTo>
                  <a:cubicBezTo>
                    <a:pt x="253999" y="180456"/>
                    <a:pt x="231255" y="203199"/>
                    <a:pt x="203199" y="203199"/>
                  </a:cubicBezTo>
                  <a:lnTo>
                    <a:pt x="143205" y="203199"/>
                  </a:lnTo>
                  <a:lnTo>
                    <a:pt x="82728" y="239483"/>
                  </a:lnTo>
                  <a:cubicBezTo>
                    <a:pt x="79027" y="241704"/>
                    <a:pt x="74451" y="241894"/>
                    <a:pt x="70580" y="239986"/>
                  </a:cubicBezTo>
                  <a:cubicBezTo>
                    <a:pt x="66708" y="238078"/>
                    <a:pt x="64070" y="234335"/>
                    <a:pt x="63576" y="230047"/>
                  </a:cubicBezTo>
                  <a:lnTo>
                    <a:pt x="63500" y="228599"/>
                  </a:lnTo>
                  <a:lnTo>
                    <a:pt x="63500" y="203199"/>
                  </a:lnTo>
                  <a:lnTo>
                    <a:pt x="50800" y="203199"/>
                  </a:lnTo>
                  <a:cubicBezTo>
                    <a:pt x="23731" y="203200"/>
                    <a:pt x="1417" y="181974"/>
                    <a:pt x="63" y="154940"/>
                  </a:cubicBezTo>
                  <a:lnTo>
                    <a:pt x="0" y="152400"/>
                  </a:lnTo>
                  <a:lnTo>
                    <a:pt x="0" y="50800"/>
                  </a:lnTo>
                  <a:cubicBezTo>
                    <a:pt x="0" y="22744"/>
                    <a:pt x="22744" y="0"/>
                    <a:pt x="50800" y="0"/>
                  </a:cubicBezTo>
                  <a:close/>
                  <a:moveTo>
                    <a:pt x="152400" y="114300"/>
                  </a:moveTo>
                  <a:lnTo>
                    <a:pt x="76200" y="114300"/>
                  </a:lnTo>
                  <a:cubicBezTo>
                    <a:pt x="69186" y="114300"/>
                    <a:pt x="63500" y="119986"/>
                    <a:pt x="63500" y="127000"/>
                  </a:cubicBezTo>
                  <a:cubicBezTo>
                    <a:pt x="63500" y="134014"/>
                    <a:pt x="69186" y="139700"/>
                    <a:pt x="76200" y="139700"/>
                  </a:cubicBezTo>
                  <a:lnTo>
                    <a:pt x="152400" y="139700"/>
                  </a:lnTo>
                  <a:cubicBezTo>
                    <a:pt x="159414" y="139700"/>
                    <a:pt x="165100" y="134014"/>
                    <a:pt x="165100" y="127000"/>
                  </a:cubicBezTo>
                  <a:cubicBezTo>
                    <a:pt x="165100" y="119986"/>
                    <a:pt x="159414" y="114300"/>
                    <a:pt x="152400" y="114300"/>
                  </a:cubicBezTo>
                  <a:moveTo>
                    <a:pt x="177800" y="63500"/>
                  </a:moveTo>
                  <a:lnTo>
                    <a:pt x="76200" y="63500"/>
                  </a:lnTo>
                  <a:cubicBezTo>
                    <a:pt x="69186" y="63500"/>
                    <a:pt x="63500" y="69186"/>
                    <a:pt x="63500" y="76200"/>
                  </a:cubicBezTo>
                  <a:cubicBezTo>
                    <a:pt x="63500" y="83214"/>
                    <a:pt x="69186" y="88900"/>
                    <a:pt x="76200" y="88900"/>
                  </a:cubicBezTo>
                  <a:lnTo>
                    <a:pt x="177800" y="88900"/>
                  </a:lnTo>
                  <a:cubicBezTo>
                    <a:pt x="184814" y="88900"/>
                    <a:pt x="190500" y="83214"/>
                    <a:pt x="190500" y="76200"/>
                  </a:cubicBezTo>
                  <a:cubicBezTo>
                    <a:pt x="190500" y="69186"/>
                    <a:pt x="184814" y="63500"/>
                    <a:pt x="177800" y="63500"/>
                  </a:cubicBezTo>
                </a:path>
              </a:pathLst>
            </a:custGeom>
            <a:solidFill>
              <a:schemeClr val="accent2"/>
            </a:solidFill>
            <a:ln>
              <a:noFill/>
            </a:ln>
          </p:spPr>
        </p:sp>
        <p:sp>
          <p:nvSpPr>
            <p:cNvPr id="12" name="TextBox 12"/>
            <p:cNvSpPr txBox="1"/>
            <p:nvPr/>
          </p:nvSpPr>
          <p:spPr>
            <a:xfrm>
              <a:off x="6653784" y="3861435"/>
              <a:ext cx="3682988"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Affords authorship</a:t>
              </a:r>
            </a:p>
          </p:txBody>
        </p:sp>
        <p:sp>
          <p:nvSpPr>
            <p:cNvPr id="13" name="TextBox 13"/>
            <p:cNvSpPr txBox="1"/>
            <p:nvPr/>
          </p:nvSpPr>
          <p:spPr>
            <a:xfrm>
              <a:off x="6240018" y="4355782"/>
              <a:ext cx="3924872" cy="856107"/>
            </a:xfrm>
            <a:prstGeom prst="rect">
              <a:avLst/>
            </a:prstGeom>
            <a:noFill/>
            <a:ln>
              <a:noFill/>
            </a:ln>
          </p:spPr>
          <p:txBody>
            <a:bodyPr wrap="none" lIns="0" tIns="0" rIns="0" bIns="0" anchor="t" anchorCtr="0">
              <a:spAutoFit/>
            </a:bodyPr>
            <a:lstStyle/>
            <a:p>
              <a:pPr algn="l">
                <a:lnSpc>
                  <a:spcPts val="2100"/>
                </a:lnSpc>
              </a:pPr>
              <a:r>
                <a:rPr lang="en-AU" sz="1650" dirty="0">
                  <a:solidFill>
                    <a:schemeClr val="dk1"/>
                  </a:solidFill>
                  <a:latin typeface="+mn-lt"/>
                  <a:ea typeface="+mn-ea"/>
                  <a:cs typeface="+mn-cs"/>
                </a:rPr>
                <a:t>Coarse blocks make building legible and</a:t>
              </a:r>
              <a:br/>
              <a:r>
                <a:rPr lang="en-AU" sz="1650" dirty="0">
                  <a:solidFill>
                    <a:schemeClr val="dk1"/>
                  </a:solidFill>
                  <a:latin typeface="+mn-lt"/>
                  <a:ea typeface="+mn-ea"/>
                  <a:cs typeface="+mn-cs"/>
                </a:rPr>
                <a:t>reversible, and signal a world that is</a:t>
              </a:r>
              <a:br/>
              <a:r>
                <a:rPr lang="en-AU" sz="1650" dirty="0">
                  <a:solidFill>
                    <a:schemeClr val="dk1"/>
                  </a:solidFill>
                  <a:latin typeface="+mn-lt"/>
                  <a:ea typeface="+mn-ea"/>
                  <a:cs typeface="+mn-cs"/>
                </a:rPr>
                <a:t>open to change.</a:t>
              </a:r>
            </a:p>
          </p:txBody>
        </p:sp>
      </p:grpSp>
      <p:grpSp>
        <p:nvGrpSpPr>
          <p:cNvPr id="17" name="Group 17"/>
          <p:cNvGrpSpPr/>
          <p:nvPr/>
        </p:nvGrpSpPr>
        <p:grpSpPr>
          <a:xfrm>
            <a:off x="675132" y="5257800"/>
            <a:ext cx="10831068" cy="850773"/>
            <a:chOff x="675132" y="5257800"/>
            <a:chExt cx="10831068" cy="850773"/>
          </a:xfrm>
        </p:grpSpPr>
        <p:sp>
          <p:nvSpPr>
            <p:cNvPr id="15" name="Line 15"/>
            <p:cNvSpPr/>
            <p:nvPr/>
          </p:nvSpPr>
          <p:spPr>
            <a:xfrm>
              <a:off x="685800" y="5257800"/>
              <a:ext cx="10820400" cy="9525"/>
            </a:xfrm>
            <a:custGeom>
              <a:avLst/>
              <a:gdLst/>
              <a:ahLst/>
              <a:cxnLst/>
              <a:rect l="l" t="t" r="r" b="b"/>
              <a:pathLst>
                <a:path w="10820400" h="9525">
                  <a:moveTo>
                    <a:pt x="0" y="0"/>
                  </a:moveTo>
                  <a:lnTo>
                    <a:pt x="10820400" y="0"/>
                  </a:lnTo>
                </a:path>
              </a:pathLst>
            </a:custGeom>
            <a:noFill/>
            <a:ln w="19050">
              <a:solidFill>
                <a:schemeClr val="accent1"/>
              </a:solidFill>
            </a:ln>
          </p:spPr>
        </p:sp>
        <p:sp>
          <p:nvSpPr>
            <p:cNvPr id="16" name="TextBox 16"/>
            <p:cNvSpPr txBox="1"/>
            <p:nvPr/>
          </p:nvSpPr>
          <p:spPr>
            <a:xfrm>
              <a:off x="675132" y="5393055"/>
              <a:ext cx="7088886" cy="715518"/>
            </a:xfrm>
            <a:prstGeom prst="rect">
              <a:avLst/>
            </a:prstGeom>
            <a:noFill/>
            <a:ln>
              <a:noFill/>
            </a:ln>
          </p:spPr>
          <p:txBody>
            <a:bodyPr wrap="none" lIns="0" tIns="0" rIns="0" bIns="0" anchor="t" anchorCtr="0">
              <a:spAutoFit/>
            </a:bodyPr>
            <a:lstStyle/>
            <a:p>
              <a:pPr algn="l">
                <a:lnSpc>
                  <a:spcPts val="2400"/>
                </a:lnSpc>
              </a:pPr>
              <a:r>
                <a:rPr lang="en-AU" sz="2100" dirty="0">
                  <a:solidFill>
                    <a:schemeClr val="dk1"/>
                  </a:solidFill>
                  <a:latin typeface="+mn-lt"/>
                  <a:ea typeface="+mn-ea"/>
                  <a:cs typeface="+mn-cs"/>
                </a:rPr>
                <a:t>Realism communicates that heritage is to be received;</a:t>
              </a:r>
              <a:br/>
              <a:r>
                <a:rPr lang="en-AU" sz="2100" dirty="0">
                  <a:solidFill>
                    <a:schemeClr val="dk1"/>
                  </a:solidFill>
                  <a:latin typeface="+mn-lt"/>
                  <a:ea typeface="+mn-ea"/>
                  <a:cs typeface="+mn-cs"/>
                </a:rPr>
                <a:t>blocks communicate that heritage may be remade.</a:t>
              </a:r>
            </a:p>
          </p:txBody>
        </p:sp>
      </p:grpSp>
      <p:grpSp>
        <p:nvGrpSpPr>
          <p:cNvPr id="20" name="Group 20"/>
          <p:cNvGrpSpPr/>
          <p:nvPr/>
        </p:nvGrpSpPr>
        <p:grpSpPr>
          <a:xfrm>
            <a:off x="679704" y="6080760"/>
            <a:ext cx="10832592" cy="234696"/>
            <a:chOff x="679704" y="6080760"/>
            <a:chExt cx="10832592" cy="234696"/>
          </a:xfrm>
        </p:grpSpPr>
        <p:sp>
          <p:nvSpPr>
            <p:cNvPr id="18" name="TextBox 18"/>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19" name="TextBox 19"/>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0" y="0"/>
            <a:ext cx="12192000" cy="3048000"/>
            <a:chOff x="0" y="0"/>
            <a:chExt cx="12192000" cy="3048000"/>
          </a:xfrm>
        </p:grpSpPr>
        <p:pic>
          <p:nvPicPr>
            <p:cNvPr id="2" name="Image 2"/>
            <p:cNvPicPr>
              <a:picLocks noChangeAspect="1"/>
            </p:cNvPicPr>
            <p:nvPr/>
          </p:nvPicPr>
          <p:blipFill>
            <a:blip r:embed="rId2"/>
            <a:srcRect l="0" t="27696" r="0" b="27696"/>
            <a:stretch>
              <a:fillRect/>
            </a:stretch>
          </p:blipFill>
          <p:spPr>
            <a:xfrm>
              <a:off x="0" y="0"/>
              <a:ext cx="12192000" cy="3048000"/>
            </a:xfrm>
            <a:prstGeom prst="rect">
              <a:avLst/>
            </a:prstGeom>
          </p:spPr>
        </p:pic>
      </p:grpSp>
      <p:grpSp>
        <p:nvGrpSpPr>
          <p:cNvPr id="6" name="Group 6"/>
          <p:cNvGrpSpPr/>
          <p:nvPr/>
        </p:nvGrpSpPr>
        <p:grpSpPr>
          <a:xfrm>
            <a:off x="667512" y="3535680"/>
            <a:ext cx="9195272" cy="704088"/>
            <a:chOff x="667512" y="3535680"/>
            <a:chExt cx="9195272" cy="704088"/>
          </a:xfrm>
        </p:grpSpPr>
        <p:sp>
          <p:nvSpPr>
            <p:cNvPr id="4" name="TextBox 4"/>
            <p:cNvSpPr txBox="1"/>
            <p:nvPr/>
          </p:nvSpPr>
          <p:spPr>
            <a:xfrm>
              <a:off x="667512" y="3535680"/>
              <a:ext cx="9195272"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No score, no timer, no failure state</a:t>
              </a:r>
            </a:p>
          </p:txBody>
        </p:sp>
        <p:sp>
          <p:nvSpPr>
            <p:cNvPr id="5" name="Rectangle 5"/>
            <p:cNvSpPr/>
            <p:nvPr/>
          </p:nvSpPr>
          <p:spPr>
            <a:xfrm>
              <a:off x="685800" y="4152900"/>
              <a:ext cx="2095500" cy="38100"/>
            </a:xfrm>
            <a:prstGeom prst="rect">
              <a:avLst/>
            </a:prstGeom>
            <a:solidFill>
              <a:schemeClr val="accent1"/>
            </a:solidFill>
            <a:ln>
              <a:noFill/>
            </a:ln>
          </p:spPr>
        </p:sp>
      </p:grpSp>
      <p:grpSp>
        <p:nvGrpSpPr>
          <p:cNvPr id="8" name="Group 8"/>
          <p:cNvGrpSpPr/>
          <p:nvPr/>
        </p:nvGrpSpPr>
        <p:grpSpPr>
          <a:xfrm>
            <a:off x="677418" y="4546282"/>
            <a:ext cx="4867847" cy="932307"/>
            <a:chOff x="677418" y="4546282"/>
            <a:chExt cx="4867847" cy="932307"/>
          </a:xfrm>
        </p:grpSpPr>
        <p:sp>
          <p:nvSpPr>
            <p:cNvPr id="7" name="TextBox 7"/>
            <p:cNvSpPr txBox="1"/>
            <p:nvPr/>
          </p:nvSpPr>
          <p:spPr>
            <a:xfrm>
              <a:off x="677418" y="4546282"/>
              <a:ext cx="4867847" cy="9323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Up to three concurrent users on Meta Quest 3,</a:t>
              </a:r>
              <a:br/>
              <a:r>
                <a:rPr lang="en-AU" sz="1650" dirty="0">
                  <a:solidFill>
                    <a:schemeClr val="dk1"/>
                  </a:solidFill>
                  <a:latin typeface="+mn-lt"/>
                  <a:ea typeface="+mn-ea"/>
                  <a:cs typeface="+mn-cs"/>
                </a:rPr>
                <a:t>free exploration in a 3 × 3 m volume, 90fps,</a:t>
              </a:r>
              <a:br/>
              <a:r>
                <a:rPr lang="en-AU" sz="1650" dirty="0">
                  <a:solidFill>
                    <a:schemeClr val="dk1"/>
                  </a:solidFill>
                  <a:latin typeface="+mn-lt"/>
                  <a:ea typeface="+mn-ea"/>
                  <a:cs typeface="+mn-cs"/>
                </a:rPr>
                <a:t>with a non-VR desktop fallback.</a:t>
              </a:r>
            </a:p>
          </p:txBody>
        </p:sp>
      </p:grpSp>
      <p:grpSp>
        <p:nvGrpSpPr>
          <p:cNvPr id="10" name="Group 10"/>
          <p:cNvGrpSpPr/>
          <p:nvPr/>
        </p:nvGrpSpPr>
        <p:grpSpPr>
          <a:xfrm>
            <a:off x="6240018" y="4546282"/>
            <a:ext cx="4616387" cy="932307"/>
            <a:chOff x="6240018" y="4546282"/>
            <a:chExt cx="4616387" cy="932307"/>
          </a:xfrm>
        </p:grpSpPr>
        <p:sp>
          <p:nvSpPr>
            <p:cNvPr id="9" name="TextBox 9"/>
            <p:cNvSpPr txBox="1"/>
            <p:nvPr/>
          </p:nvSpPr>
          <p:spPr>
            <a:xfrm>
              <a:off x="6240018" y="4546282"/>
              <a:ext cx="4616387" cy="9323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Approaching an artifact triggers Classical</a:t>
              </a:r>
              <a:br/>
              <a:r>
                <a:rPr lang="en-AU" sz="1650" dirty="0">
                  <a:solidFill>
                    <a:schemeClr val="dk1"/>
                  </a:solidFill>
                  <a:latin typeface="+mn-lt"/>
                  <a:ea typeface="+mn-ea"/>
                  <a:cs typeface="+mn-cs"/>
                </a:rPr>
                <a:t>poetry in Mandarin and local dialects; Suzhou</a:t>
              </a:r>
              <a:br/>
              <a:r>
                <a:rPr lang="en-AU" sz="1650" dirty="0">
                  <a:solidFill>
                    <a:schemeClr val="dk1"/>
                  </a:solidFill>
                  <a:latin typeface="+mn-lt"/>
                  <a:ea typeface="+mn-ea"/>
                  <a:cs typeface="+mn-cs"/>
                </a:rPr>
                <a:t>Pingtan and a day-night cycle do the rest.</a:t>
              </a:r>
            </a:p>
          </p:txBody>
        </p:sp>
      </p:grpSp>
      <p:grpSp>
        <p:nvGrpSpPr>
          <p:cNvPr id="13" name="Group 13"/>
          <p:cNvGrpSpPr/>
          <p:nvPr/>
        </p:nvGrpSpPr>
        <p:grpSpPr>
          <a:xfrm>
            <a:off x="679704" y="6080760"/>
            <a:ext cx="10832592" cy="234696"/>
            <a:chOff x="679704" y="6080760"/>
            <a:chExt cx="10832592" cy="234696"/>
          </a:xfrm>
        </p:grpSpPr>
        <p:sp>
          <p:nvSpPr>
            <p:cNvPr id="11" name="TextBox 11"/>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12" name="TextBox 12"/>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0" y="0"/>
            <a:ext cx="12192000" cy="2857500"/>
            <a:chOff x="0" y="0"/>
            <a:chExt cx="12192000" cy="2857500"/>
          </a:xfrm>
        </p:grpSpPr>
        <p:pic>
          <p:nvPicPr>
            <p:cNvPr id="2" name="Image 2"/>
            <p:cNvPicPr>
              <a:picLocks noChangeAspect="1"/>
            </p:cNvPicPr>
            <p:nvPr/>
          </p:nvPicPr>
          <p:blipFill>
            <a:blip r:embed="rId2"/>
            <a:srcRect l="0" t="29062" r="0" b="29062"/>
            <a:stretch>
              <a:fillRect/>
            </a:stretch>
          </p:blipFill>
          <p:spPr>
            <a:xfrm>
              <a:off x="0" y="0"/>
              <a:ext cx="12192000" cy="2857500"/>
            </a:xfrm>
            <a:prstGeom prst="rect">
              <a:avLst/>
            </a:prstGeom>
          </p:spPr>
        </p:pic>
      </p:grpSp>
      <p:grpSp>
        <p:nvGrpSpPr>
          <p:cNvPr id="6" name="Group 6"/>
          <p:cNvGrpSpPr/>
          <p:nvPr/>
        </p:nvGrpSpPr>
        <p:grpSpPr>
          <a:xfrm>
            <a:off x="667512" y="3345180"/>
            <a:ext cx="9293779" cy="704088"/>
            <a:chOff x="667512" y="3345180"/>
            <a:chExt cx="9293779" cy="704088"/>
          </a:xfrm>
        </p:grpSpPr>
        <p:sp>
          <p:nvSpPr>
            <p:cNvPr id="4" name="TextBox 4"/>
            <p:cNvSpPr txBox="1"/>
            <p:nvPr/>
          </p:nvSpPr>
          <p:spPr>
            <a:xfrm>
              <a:off x="667512" y="3345180"/>
              <a:ext cx="9293779"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Depth through mist, not perspective</a:t>
              </a:r>
            </a:p>
          </p:txBody>
        </p:sp>
        <p:sp>
          <p:nvSpPr>
            <p:cNvPr id="5" name="Rectangle 5"/>
            <p:cNvSpPr/>
            <p:nvPr/>
          </p:nvSpPr>
          <p:spPr>
            <a:xfrm>
              <a:off x="685800" y="3962400"/>
              <a:ext cx="2095500" cy="38100"/>
            </a:xfrm>
            <a:prstGeom prst="rect">
              <a:avLst/>
            </a:prstGeom>
            <a:solidFill>
              <a:schemeClr val="accent1"/>
            </a:solidFill>
            <a:ln>
              <a:noFill/>
            </a:ln>
          </p:spPr>
        </p:sp>
      </p:grpSp>
      <p:grpSp>
        <p:nvGrpSpPr>
          <p:cNvPr id="9" name="Group 9"/>
          <p:cNvGrpSpPr/>
          <p:nvPr/>
        </p:nvGrpSpPr>
        <p:grpSpPr>
          <a:xfrm>
            <a:off x="677418" y="4393882"/>
            <a:ext cx="4333494" cy="1351407"/>
            <a:chOff x="677418" y="4393882"/>
            <a:chExt cx="4333494" cy="1351407"/>
          </a:xfrm>
        </p:grpSpPr>
        <p:sp>
          <p:nvSpPr>
            <p:cNvPr id="7" name="TextBox 7"/>
            <p:cNvSpPr txBox="1"/>
            <p:nvPr/>
          </p:nvSpPr>
          <p:spPr>
            <a:xfrm>
              <a:off x="677418" y="4393882"/>
              <a:ext cx="2111672"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The optical problem</a:t>
              </a:r>
            </a:p>
          </p:txBody>
        </p:sp>
        <p:sp>
          <p:nvSpPr>
            <p:cNvPr id="8" name="TextBox 8"/>
            <p:cNvSpPr txBox="1"/>
            <p:nvPr/>
          </p:nvSpPr>
          <p:spPr>
            <a:xfrm>
              <a:off x="677418" y="4812982"/>
              <a:ext cx="4333494" cy="9323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Under uniform illumination the scene</a:t>
              </a:r>
              <a:br/>
              <a:r>
                <a:rPr lang="en-AU" sz="1650" dirty="0">
                  <a:solidFill>
                    <a:schemeClr val="dk1"/>
                  </a:solidFill>
                  <a:latin typeface="+mn-lt"/>
                  <a:ea typeface="+mn-ea"/>
                  <a:cs typeface="+mn-cs"/>
                </a:rPr>
                <a:t>flattened: equal lighting across the depth</a:t>
              </a:r>
              <a:br/>
              <a:r>
                <a:rPr lang="en-AU" sz="1650" dirty="0">
                  <a:solidFill>
                    <a:schemeClr val="dk1"/>
                  </a:solidFill>
                  <a:latin typeface="+mn-lt"/>
                  <a:ea typeface="+mn-ea"/>
                  <a:cs typeface="+mn-cs"/>
                </a:rPr>
                <a:t>scale reduced the legibility of distance.</a:t>
              </a:r>
            </a:p>
          </p:txBody>
        </p:sp>
      </p:grpSp>
      <p:grpSp>
        <p:nvGrpSpPr>
          <p:cNvPr id="12" name="Group 12"/>
          <p:cNvGrpSpPr/>
          <p:nvPr/>
        </p:nvGrpSpPr>
        <p:grpSpPr>
          <a:xfrm>
            <a:off x="6240018" y="4393882"/>
            <a:ext cx="4144899" cy="1351407"/>
            <a:chOff x="6240018" y="4393882"/>
            <a:chExt cx="4144899" cy="1351407"/>
          </a:xfrm>
        </p:grpSpPr>
        <p:sp>
          <p:nvSpPr>
            <p:cNvPr id="10" name="TextBox 10"/>
            <p:cNvSpPr txBox="1"/>
            <p:nvPr/>
          </p:nvSpPr>
          <p:spPr>
            <a:xfrm>
              <a:off x="6240018" y="4393882"/>
              <a:ext cx="2167388"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The cultural answer</a:t>
              </a:r>
            </a:p>
          </p:txBody>
        </p:sp>
        <p:sp>
          <p:nvSpPr>
            <p:cNvPr id="11" name="TextBox 11"/>
            <p:cNvSpPr txBox="1"/>
            <p:nvPr/>
          </p:nvSpPr>
          <p:spPr>
            <a:xfrm>
              <a:off x="6240018" y="4812982"/>
              <a:ext cx="4144899" cy="9323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Shanshui painting renders depth through</a:t>
              </a:r>
              <a:br/>
              <a:r>
                <a:rPr lang="en-AU" sz="1650" dirty="0">
                  <a:solidFill>
                    <a:schemeClr val="dk1"/>
                  </a:solidFill>
                  <a:latin typeface="+mn-lt"/>
                  <a:ea typeface="+mn-ea"/>
                  <a:cs typeface="+mn-cs"/>
                </a:rPr>
                <a:t>mist and tonal recession, and Jichang</a:t>
              </a:r>
              <a:br/>
              <a:r>
                <a:rPr lang="en-AU" sz="1650" dirty="0">
                  <a:solidFill>
                    <a:schemeClr val="dk1"/>
                  </a:solidFill>
                  <a:latin typeface="+mn-lt"/>
                  <a:ea typeface="+mn-ea"/>
                  <a:cs typeface="+mn-cs"/>
                </a:rPr>
                <a:t>borrows the Xishan hills through haze.</a:t>
              </a:r>
            </a:p>
          </p:txBody>
        </p:sp>
      </p:grpSp>
      <p:grpSp>
        <p:nvGrpSpPr>
          <p:cNvPr id="15" name="Group 15"/>
          <p:cNvGrpSpPr/>
          <p:nvPr/>
        </p:nvGrpSpPr>
        <p:grpSpPr>
          <a:xfrm>
            <a:off x="679704" y="6080760"/>
            <a:ext cx="10832592" cy="234696"/>
            <a:chOff x="679704" y="6080760"/>
            <a:chExt cx="10832592" cy="234696"/>
          </a:xfrm>
        </p:grpSpPr>
        <p:sp>
          <p:nvSpPr>
            <p:cNvPr id="13" name="TextBox 13"/>
            <p:cNvSpPr txBox="1"/>
            <p:nvPr/>
          </p:nvSpPr>
          <p:spPr>
            <a:xfrm>
              <a:off x="679704" y="6080760"/>
              <a:ext cx="7198315"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Distance-based volumetric fog and height fog now attenuate contrast toward the horizon.</a:t>
              </a:r>
            </a:p>
          </p:txBody>
        </p:sp>
        <p:sp>
          <p:nvSpPr>
            <p:cNvPr id="14" name="TextBox 14"/>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5240860" cy="704088"/>
            <a:chOff x="667512" y="678180"/>
            <a:chExt cx="5240860" cy="704088"/>
          </a:xfrm>
        </p:grpSpPr>
        <p:sp>
          <p:nvSpPr>
            <p:cNvPr id="2" name="TextBox 2"/>
            <p:cNvSpPr txBox="1"/>
            <p:nvPr/>
          </p:nvSpPr>
          <p:spPr>
            <a:xfrm>
              <a:off x="667512" y="678180"/>
              <a:ext cx="5240860"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Digitising the garden</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6" name="Group 6"/>
          <p:cNvGrpSpPr/>
          <p:nvPr/>
        </p:nvGrpSpPr>
        <p:grpSpPr>
          <a:xfrm>
            <a:off x="677418" y="1764982"/>
            <a:ext cx="4836833" cy="322707"/>
            <a:chOff x="677418" y="1764982"/>
            <a:chExt cx="4836833" cy="322707"/>
          </a:xfrm>
        </p:grpSpPr>
        <p:sp>
          <p:nvSpPr>
            <p:cNvPr id="5" name="TextBox 5"/>
            <p:cNvSpPr txBox="1"/>
            <p:nvPr/>
          </p:nvSpPr>
          <p:spPr>
            <a:xfrm>
              <a:off x="677418" y="1764982"/>
              <a:ext cx="4836833"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102 objects across six functional categories</a:t>
              </a:r>
            </a:p>
          </p:txBody>
        </p:sp>
      </p:grpSp>
      <p:grpSp>
        <p:nvGrpSpPr>
          <p:cNvPr id="20" name="Group 20"/>
          <p:cNvGrpSpPr/>
          <p:nvPr/>
        </p:nvGrpSpPr>
        <p:grpSpPr>
          <a:xfrm>
            <a:off x="685800" y="2095500"/>
            <a:ext cx="5334000" cy="3238500"/>
            <a:chOff x="685800" y="2095500"/>
            <a:chExt cx="5334000" cy="3238500"/>
          </a:xfrm>
        </p:grpSpPr>
        <p:grpSp>
          <p:nvGrpSpPr>
            <p:cNvPr id="19" name="Group 19"/>
            <p:cNvGrpSpPr/>
            <p:nvPr/>
          </p:nvGrpSpPr>
          <p:grpSpPr>
            <a:xfrm>
              <a:off x="685800" y="2095500"/>
              <a:ext cx="5334000" cy="3238500"/>
              <a:chOff x="685800" y="2095500"/>
              <a:chExt cx="5334000" cy="3238500"/>
            </a:xfrm>
          </p:grpSpPr>
          <p:sp>
            <p:nvSpPr>
              <p:cNvPr id="7" name="Rectangle 7"/>
              <p:cNvSpPr/>
              <p:nvPr/>
            </p:nvSpPr>
            <p:spPr>
              <a:xfrm>
                <a:off x="685800" y="2095500"/>
                <a:ext cx="2457450" cy="3238500"/>
              </a:xfrm>
              <a:prstGeom prst="rect">
                <a:avLst/>
              </a:prstGeom>
              <a:solidFill>
                <a:schemeClr val="accent1"/>
              </a:solidFill>
              <a:ln w="19050">
                <a:solidFill>
                  <a:srgbClr val="FFFFFF"/>
                </a:solidFill>
              </a:ln>
            </p:spPr>
          </p:sp>
          <p:sp>
            <p:nvSpPr>
              <p:cNvPr id="8" name="Rectangle 8"/>
              <p:cNvSpPr/>
              <p:nvPr/>
            </p:nvSpPr>
            <p:spPr>
              <a:xfrm>
                <a:off x="3143250" y="2095500"/>
                <a:ext cx="1704975" cy="1590675"/>
              </a:xfrm>
              <a:prstGeom prst="rect">
                <a:avLst/>
              </a:prstGeom>
              <a:solidFill>
                <a:schemeClr val="accent2"/>
              </a:solidFill>
              <a:ln w="19050">
                <a:solidFill>
                  <a:srgbClr val="FFFFFF"/>
                </a:solidFill>
              </a:ln>
            </p:spPr>
          </p:sp>
          <p:sp>
            <p:nvSpPr>
              <p:cNvPr id="9" name="Rectangle 9"/>
              <p:cNvSpPr/>
              <p:nvPr/>
            </p:nvSpPr>
            <p:spPr>
              <a:xfrm>
                <a:off x="4848225" y="2095500"/>
                <a:ext cx="1171575" cy="1590675"/>
              </a:xfrm>
              <a:prstGeom prst="rect">
                <a:avLst/>
              </a:prstGeom>
              <a:solidFill>
                <a:srgbClr val="3D6E9B"/>
              </a:solidFill>
              <a:ln w="19050">
                <a:solidFill>
                  <a:srgbClr val="FFFFFF"/>
                </a:solidFill>
              </a:ln>
            </p:spPr>
          </p:sp>
          <p:sp>
            <p:nvSpPr>
              <p:cNvPr id="10" name="Rectangle 10"/>
              <p:cNvSpPr/>
              <p:nvPr/>
            </p:nvSpPr>
            <p:spPr>
              <a:xfrm>
                <a:off x="3143250" y="3686175"/>
                <a:ext cx="1133475" cy="1647825"/>
              </a:xfrm>
              <a:prstGeom prst="rect">
                <a:avLst/>
              </a:prstGeom>
              <a:solidFill>
                <a:srgbClr val="A8C0D4"/>
              </a:solidFill>
              <a:ln w="19050">
                <a:solidFill>
                  <a:srgbClr val="FFFFFF"/>
                </a:solidFill>
              </a:ln>
            </p:spPr>
          </p:sp>
          <p:sp>
            <p:nvSpPr>
              <p:cNvPr id="11" name="Rectangle 11"/>
              <p:cNvSpPr/>
              <p:nvPr/>
            </p:nvSpPr>
            <p:spPr>
              <a:xfrm>
                <a:off x="4276725" y="3686175"/>
                <a:ext cx="923925" cy="1647825"/>
              </a:xfrm>
              <a:prstGeom prst="rect">
                <a:avLst/>
              </a:prstGeom>
              <a:solidFill>
                <a:srgbClr val="C9D6E0"/>
              </a:solidFill>
              <a:ln w="19050">
                <a:solidFill>
                  <a:srgbClr val="FFFFFF"/>
                </a:solidFill>
              </a:ln>
            </p:spPr>
          </p:sp>
          <p:sp>
            <p:nvSpPr>
              <p:cNvPr id="12" name="Rectangle 12"/>
              <p:cNvSpPr/>
              <p:nvPr/>
            </p:nvSpPr>
            <p:spPr>
              <a:xfrm>
                <a:off x="5200650" y="3686175"/>
                <a:ext cx="819150" cy="1647825"/>
              </a:xfrm>
              <a:prstGeom prst="rect">
                <a:avLst/>
              </a:prstGeom>
              <a:solidFill>
                <a:srgbClr val="E1E8EE"/>
              </a:solidFill>
              <a:ln w="19050">
                <a:solidFill>
                  <a:srgbClr val="FFFFFF"/>
                </a:solidFill>
              </a:ln>
            </p:spPr>
          </p:sp>
          <p:sp>
            <p:nvSpPr>
              <p:cNvPr id="13" name="TextBox 13"/>
              <p:cNvSpPr txBox="1"/>
              <p:nvPr/>
            </p:nvSpPr>
            <p:spPr>
              <a:xfrm>
                <a:off x="1700898" y="3547110"/>
                <a:ext cx="427253" cy="528066"/>
              </a:xfrm>
              <a:prstGeom prst="rect">
                <a:avLst/>
              </a:prstGeom>
              <a:noFill/>
              <a:ln>
                <a:noFill/>
              </a:ln>
            </p:spPr>
            <p:txBody>
              <a:bodyPr wrap="none" lIns="0" tIns="0" rIns="0" bIns="0" anchor="t" anchorCtr="0">
                <a:spAutoFit/>
              </a:bodyPr>
              <a:lstStyle/>
              <a:p>
                <a:pPr algn="ctr"/>
                <a:r>
                  <a:rPr lang="en-AU" sz="2700" dirty="0">
                    <a:solidFill>
                      <a:srgbClr val="FFFFFF"/>
                    </a:solidFill>
                    <a:latin typeface="+mn-lt"/>
                    <a:ea typeface="+mn-ea"/>
                    <a:cs typeface="+mn-cs"/>
                  </a:rPr>
                  <a:t>47</a:t>
                </a:r>
              </a:p>
            </p:txBody>
          </p:sp>
          <p:sp>
            <p:nvSpPr>
              <p:cNvPr id="14" name="TextBox 14"/>
              <p:cNvSpPr txBox="1"/>
              <p:nvPr/>
            </p:nvSpPr>
            <p:spPr>
              <a:xfrm>
                <a:off x="3786873" y="2718435"/>
                <a:ext cx="427253" cy="528066"/>
              </a:xfrm>
              <a:prstGeom prst="rect">
                <a:avLst/>
              </a:prstGeom>
              <a:noFill/>
              <a:ln>
                <a:noFill/>
              </a:ln>
            </p:spPr>
            <p:txBody>
              <a:bodyPr wrap="none" lIns="0" tIns="0" rIns="0" bIns="0" anchor="t" anchorCtr="0">
                <a:spAutoFit/>
              </a:bodyPr>
              <a:lstStyle/>
              <a:p>
                <a:pPr algn="ctr"/>
                <a:r>
                  <a:rPr lang="en-AU" sz="2700" dirty="0">
                    <a:solidFill>
                      <a:srgbClr val="FFFFFF"/>
                    </a:solidFill>
                    <a:latin typeface="+mn-lt"/>
                    <a:ea typeface="+mn-ea"/>
                    <a:cs typeface="+mn-cs"/>
                  </a:rPr>
                  <a:t>16</a:t>
                </a:r>
              </a:p>
            </p:txBody>
          </p:sp>
          <p:sp>
            <p:nvSpPr>
              <p:cNvPr id="15" name="TextBox 15"/>
              <p:cNvSpPr txBox="1"/>
              <p:nvPr/>
            </p:nvSpPr>
            <p:spPr>
              <a:xfrm>
                <a:off x="5225148" y="2718435"/>
                <a:ext cx="427253" cy="528066"/>
              </a:xfrm>
              <a:prstGeom prst="rect">
                <a:avLst/>
              </a:prstGeom>
              <a:noFill/>
              <a:ln>
                <a:noFill/>
              </a:ln>
            </p:spPr>
            <p:txBody>
              <a:bodyPr wrap="none" lIns="0" tIns="0" rIns="0" bIns="0" anchor="t" anchorCtr="0">
                <a:spAutoFit/>
              </a:bodyPr>
              <a:lstStyle/>
              <a:p>
                <a:pPr algn="ctr"/>
                <a:r>
                  <a:rPr lang="en-AU" sz="2700" dirty="0">
                    <a:solidFill>
                      <a:srgbClr val="FFFFFF"/>
                    </a:solidFill>
                    <a:latin typeface="+mn-lt"/>
                    <a:ea typeface="+mn-ea"/>
                    <a:cs typeface="+mn-cs"/>
                  </a:rPr>
                  <a:t>11</a:t>
                </a:r>
              </a:p>
            </p:txBody>
          </p:sp>
          <p:sp>
            <p:nvSpPr>
              <p:cNvPr id="16" name="TextBox 16"/>
              <p:cNvSpPr txBox="1"/>
              <p:nvPr/>
            </p:nvSpPr>
            <p:spPr>
              <a:xfrm>
                <a:off x="3501123" y="4337685"/>
                <a:ext cx="427253" cy="528066"/>
              </a:xfrm>
              <a:prstGeom prst="rect">
                <a:avLst/>
              </a:prstGeom>
              <a:noFill/>
              <a:ln>
                <a:noFill/>
              </a:ln>
            </p:spPr>
            <p:txBody>
              <a:bodyPr wrap="none" lIns="0" tIns="0" rIns="0" bIns="0" anchor="t" anchorCtr="0">
                <a:spAutoFit/>
              </a:bodyPr>
              <a:lstStyle/>
              <a:p>
                <a:pPr algn="ctr"/>
                <a:r>
                  <a:rPr lang="en-AU" sz="2700" dirty="0">
                    <a:solidFill>
                      <a:schemeClr val="dk1"/>
                    </a:solidFill>
                    <a:latin typeface="+mn-lt"/>
                    <a:ea typeface="+mn-ea"/>
                    <a:cs typeface="+mn-cs"/>
                  </a:rPr>
                  <a:t>11</a:t>
                </a:r>
              </a:p>
            </p:txBody>
          </p:sp>
          <p:sp>
            <p:nvSpPr>
              <p:cNvPr id="17" name="TextBox 17"/>
              <p:cNvSpPr txBox="1"/>
              <p:nvPr/>
            </p:nvSpPr>
            <p:spPr>
              <a:xfrm>
                <a:off x="4629779" y="4337685"/>
                <a:ext cx="227343" cy="528066"/>
              </a:xfrm>
              <a:prstGeom prst="rect">
                <a:avLst/>
              </a:prstGeom>
              <a:noFill/>
              <a:ln>
                <a:noFill/>
              </a:ln>
            </p:spPr>
            <p:txBody>
              <a:bodyPr wrap="none" lIns="0" tIns="0" rIns="0" bIns="0" anchor="t" anchorCtr="0">
                <a:spAutoFit/>
              </a:bodyPr>
              <a:lstStyle/>
              <a:p>
                <a:pPr algn="ctr"/>
                <a:r>
                  <a:rPr lang="en-AU" sz="2700" dirty="0">
                    <a:solidFill>
                      <a:schemeClr val="dk1"/>
                    </a:solidFill>
                    <a:latin typeface="+mn-lt"/>
                    <a:ea typeface="+mn-ea"/>
                    <a:cs typeface="+mn-cs"/>
                  </a:rPr>
                  <a:t>9</a:t>
                </a:r>
              </a:p>
            </p:txBody>
          </p:sp>
          <p:sp>
            <p:nvSpPr>
              <p:cNvPr id="18" name="TextBox 18"/>
              <p:cNvSpPr txBox="1"/>
              <p:nvPr/>
            </p:nvSpPr>
            <p:spPr>
              <a:xfrm>
                <a:off x="5496554" y="4337685"/>
                <a:ext cx="227343" cy="528066"/>
              </a:xfrm>
              <a:prstGeom prst="rect">
                <a:avLst/>
              </a:prstGeom>
              <a:noFill/>
              <a:ln>
                <a:noFill/>
              </a:ln>
            </p:spPr>
            <p:txBody>
              <a:bodyPr wrap="none" lIns="0" tIns="0" rIns="0" bIns="0" anchor="t" anchorCtr="0">
                <a:spAutoFit/>
              </a:bodyPr>
              <a:lstStyle/>
              <a:p>
                <a:pPr algn="ctr"/>
                <a:r>
                  <a:rPr lang="en-AU" sz="2700" dirty="0">
                    <a:solidFill>
                      <a:schemeClr val="dk1"/>
                    </a:solidFill>
                    <a:latin typeface="+mn-lt"/>
                    <a:ea typeface="+mn-ea"/>
                    <a:cs typeface="+mn-cs"/>
                  </a:rPr>
                  <a:t>8</a:t>
                </a:r>
              </a:p>
            </p:txBody>
          </p:sp>
        </p:grpSp>
      </p:grpSp>
      <p:grpSp>
        <p:nvGrpSpPr>
          <p:cNvPr id="33" name="Group 33"/>
          <p:cNvGrpSpPr/>
          <p:nvPr/>
        </p:nvGrpSpPr>
        <p:grpSpPr>
          <a:xfrm>
            <a:off x="6629400" y="1809750"/>
            <a:ext cx="3501439" cy="2135315"/>
            <a:chOff x="6629400" y="1809750"/>
            <a:chExt cx="3501439" cy="2135315"/>
          </a:xfrm>
        </p:grpSpPr>
        <p:sp>
          <p:nvSpPr>
            <p:cNvPr id="21" name="Rectangle 21"/>
            <p:cNvSpPr/>
            <p:nvPr/>
          </p:nvSpPr>
          <p:spPr>
            <a:xfrm>
              <a:off x="6629400" y="1809750"/>
              <a:ext cx="228600" cy="228600"/>
            </a:xfrm>
            <a:prstGeom prst="rect">
              <a:avLst/>
            </a:prstGeom>
            <a:solidFill>
              <a:schemeClr val="accent1"/>
            </a:solidFill>
            <a:ln>
              <a:noFill/>
            </a:ln>
          </p:spPr>
        </p:sp>
        <p:sp>
          <p:nvSpPr>
            <p:cNvPr id="22" name="TextBox 22"/>
            <p:cNvSpPr txBox="1"/>
            <p:nvPr/>
          </p:nvSpPr>
          <p:spPr>
            <a:xfrm>
              <a:off x="6963918" y="1812608"/>
              <a:ext cx="2833535"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Architectural components</a:t>
              </a:r>
            </a:p>
          </p:txBody>
        </p:sp>
        <p:sp>
          <p:nvSpPr>
            <p:cNvPr id="23" name="Rectangle 23"/>
            <p:cNvSpPr/>
            <p:nvPr/>
          </p:nvSpPr>
          <p:spPr>
            <a:xfrm>
              <a:off x="6629400" y="2171700"/>
              <a:ext cx="228600" cy="228600"/>
            </a:xfrm>
            <a:prstGeom prst="rect">
              <a:avLst/>
            </a:prstGeom>
            <a:solidFill>
              <a:schemeClr val="accent2"/>
            </a:solidFill>
            <a:ln>
              <a:noFill/>
            </a:ln>
          </p:spPr>
        </p:sp>
        <p:sp>
          <p:nvSpPr>
            <p:cNvPr id="24" name="TextBox 24"/>
            <p:cNvSpPr txBox="1"/>
            <p:nvPr/>
          </p:nvSpPr>
          <p:spPr>
            <a:xfrm>
              <a:off x="6963918" y="2174558"/>
              <a:ext cx="3166921"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Garden furniture and objects</a:t>
              </a:r>
            </a:p>
          </p:txBody>
        </p:sp>
        <p:sp>
          <p:nvSpPr>
            <p:cNvPr id="25" name="Rectangle 25"/>
            <p:cNvSpPr/>
            <p:nvPr/>
          </p:nvSpPr>
          <p:spPr>
            <a:xfrm>
              <a:off x="6629400" y="2533650"/>
              <a:ext cx="228600" cy="228600"/>
            </a:xfrm>
            <a:prstGeom prst="rect">
              <a:avLst/>
            </a:prstGeom>
            <a:solidFill>
              <a:srgbClr val="3D6E9B"/>
            </a:solidFill>
            <a:ln>
              <a:noFill/>
            </a:ln>
          </p:spPr>
        </p:sp>
        <p:sp>
          <p:nvSpPr>
            <p:cNvPr id="26" name="TextBox 26"/>
            <p:cNvSpPr txBox="1"/>
            <p:nvPr/>
          </p:nvSpPr>
          <p:spPr>
            <a:xfrm>
              <a:off x="6963918" y="2536508"/>
              <a:ext cx="2733637"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Sculpture and decoration</a:t>
              </a:r>
            </a:p>
          </p:txBody>
        </p:sp>
        <p:sp>
          <p:nvSpPr>
            <p:cNvPr id="27" name="Rectangle 27"/>
            <p:cNvSpPr/>
            <p:nvPr/>
          </p:nvSpPr>
          <p:spPr>
            <a:xfrm>
              <a:off x="6629400" y="2895600"/>
              <a:ext cx="228600" cy="228600"/>
            </a:xfrm>
            <a:prstGeom prst="rect">
              <a:avLst/>
            </a:prstGeom>
            <a:solidFill>
              <a:srgbClr val="A8C0D4"/>
            </a:solidFill>
            <a:ln>
              <a:noFill/>
            </a:ln>
          </p:spPr>
        </p:sp>
        <p:sp>
          <p:nvSpPr>
            <p:cNvPr id="28" name="TextBox 28"/>
            <p:cNvSpPr txBox="1"/>
            <p:nvPr/>
          </p:nvSpPr>
          <p:spPr>
            <a:xfrm>
              <a:off x="6963918" y="2898458"/>
              <a:ext cx="2999692"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Inscriptions and calligraphy</a:t>
              </a:r>
            </a:p>
          </p:txBody>
        </p:sp>
        <p:sp>
          <p:nvSpPr>
            <p:cNvPr id="29" name="Rectangle 29"/>
            <p:cNvSpPr/>
            <p:nvPr/>
          </p:nvSpPr>
          <p:spPr>
            <a:xfrm>
              <a:off x="6629400" y="3257550"/>
              <a:ext cx="228600" cy="228600"/>
            </a:xfrm>
            <a:prstGeom prst="rect">
              <a:avLst/>
            </a:prstGeom>
            <a:solidFill>
              <a:srgbClr val="C9D6E0"/>
            </a:solidFill>
            <a:ln>
              <a:noFill/>
            </a:ln>
          </p:spPr>
        </p:sp>
        <p:sp>
          <p:nvSpPr>
            <p:cNvPr id="30" name="TextBox 30"/>
            <p:cNvSpPr txBox="1"/>
            <p:nvPr/>
          </p:nvSpPr>
          <p:spPr>
            <a:xfrm>
              <a:off x="6963918" y="3260408"/>
              <a:ext cx="3111264"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Plants and natural landscape</a:t>
              </a:r>
            </a:p>
          </p:txBody>
        </p:sp>
        <p:sp>
          <p:nvSpPr>
            <p:cNvPr id="31" name="Rectangle 31"/>
            <p:cNvSpPr/>
            <p:nvPr/>
          </p:nvSpPr>
          <p:spPr>
            <a:xfrm>
              <a:off x="6629400" y="3619500"/>
              <a:ext cx="228600" cy="228600"/>
            </a:xfrm>
            <a:prstGeom prst="rect">
              <a:avLst/>
            </a:prstGeom>
            <a:solidFill>
              <a:srgbClr val="E1E8EE"/>
            </a:solidFill>
            <a:ln>
              <a:noFill/>
            </a:ln>
          </p:spPr>
        </p:sp>
        <p:sp>
          <p:nvSpPr>
            <p:cNvPr id="32" name="TextBox 32"/>
            <p:cNvSpPr txBox="1"/>
            <p:nvPr/>
          </p:nvSpPr>
          <p:spPr>
            <a:xfrm>
              <a:off x="6963918" y="3622358"/>
              <a:ext cx="3155789"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Architecture and structures</a:t>
              </a:r>
            </a:p>
          </p:txBody>
        </p:sp>
      </p:grpSp>
      <p:grpSp>
        <p:nvGrpSpPr>
          <p:cNvPr id="37" name="Group 37"/>
          <p:cNvGrpSpPr/>
          <p:nvPr/>
        </p:nvGrpSpPr>
        <p:grpSpPr>
          <a:xfrm>
            <a:off x="6621018" y="4019550"/>
            <a:ext cx="4885182" cy="1649539"/>
            <a:chOff x="6621018" y="4019550"/>
            <a:chExt cx="4885182" cy="1649539"/>
          </a:xfrm>
        </p:grpSpPr>
        <p:sp>
          <p:nvSpPr>
            <p:cNvPr id="34" name="Rectangle 34"/>
            <p:cNvSpPr/>
            <p:nvPr/>
          </p:nvSpPr>
          <p:spPr>
            <a:xfrm>
              <a:off x="6629400" y="4019550"/>
              <a:ext cx="4876800" cy="914400"/>
            </a:xfrm>
            <a:prstGeom prst="rect">
              <a:avLst/>
            </a:prstGeom>
            <a:solidFill>
              <a:schemeClr val="lt2"/>
            </a:solidFill>
            <a:ln w="19050">
              <a:solidFill>
                <a:schemeClr val="accent3"/>
              </a:solidFill>
              <a:prstDash val="lgDash"/>
            </a:ln>
          </p:spPr>
        </p:sp>
        <p:sp>
          <p:nvSpPr>
            <p:cNvPr id="35" name="TextBox 35"/>
            <p:cNvSpPr txBox="1"/>
            <p:nvPr/>
          </p:nvSpPr>
          <p:spPr>
            <a:xfrm>
              <a:off x="7550831" y="4374832"/>
              <a:ext cx="3033938" cy="322707"/>
            </a:xfrm>
            <a:prstGeom prst="rect">
              <a:avLst/>
            </a:prstGeom>
            <a:noFill/>
            <a:ln>
              <a:noFill/>
            </a:ln>
          </p:spPr>
          <p:txBody>
            <a:bodyPr wrap="none" lIns="0" tIns="0" rIns="0" bIns="0" anchor="t" anchorCtr="0">
              <a:spAutoFit/>
            </a:bodyPr>
            <a:lstStyle/>
            <a:p>
              <a:pPr algn="ctr"/>
              <a:r>
                <a:rPr lang="en-AU" sz="1650" dirty="0">
                  <a:solidFill>
                    <a:schemeClr val="accent5"/>
                  </a:solidFill>
                  <a:latin typeface="+mn-lt"/>
                  <a:ea typeface="+mn-ea"/>
                  <a:cs typeface="+mn-cs"/>
                </a:rPr>
                <a:t>Fieldwork photo to be added</a:t>
              </a:r>
            </a:p>
          </p:txBody>
        </p:sp>
        <p:sp>
          <p:nvSpPr>
            <p:cNvPr id="36" name="TextBox 36"/>
            <p:cNvSpPr txBox="1"/>
            <p:nvPr/>
          </p:nvSpPr>
          <p:spPr>
            <a:xfrm>
              <a:off x="6621018" y="5041582"/>
              <a:ext cx="4008692"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accent5"/>
                  </a:solidFill>
                  <a:latin typeface="+mn-lt"/>
                  <a:ea typeface="+mn-ea"/>
                  <a:cs typeface="+mn-cs"/>
                </a:rPr>
                <a:t>Reserved — add your own capture shot:</a:t>
              </a:r>
              <a:br/>
              <a:r>
                <a:rPr lang="en-AU" sz="1650" dirty="0">
                  <a:solidFill>
                    <a:schemeClr val="accent5"/>
                  </a:solidFill>
                  <a:latin typeface="+mn-lt"/>
                  <a:ea typeface="+mn-ea"/>
                  <a:cs typeface="+mn-cs"/>
                </a:rPr>
                <a:t>handheld LiDAR, or the aerial pass.</a:t>
              </a:r>
            </a:p>
          </p:txBody>
        </p:sp>
      </p:grpSp>
      <p:grpSp>
        <p:nvGrpSpPr>
          <p:cNvPr id="39" name="Group 39"/>
          <p:cNvGrpSpPr/>
          <p:nvPr/>
        </p:nvGrpSpPr>
        <p:grpSpPr>
          <a:xfrm>
            <a:off x="677418" y="5670232"/>
            <a:ext cx="9243123" cy="322707"/>
            <a:chOff x="677418" y="5670232"/>
            <a:chExt cx="9243123" cy="322707"/>
          </a:xfrm>
        </p:grpSpPr>
        <p:sp>
          <p:nvSpPr>
            <p:cNvPr id="38" name="TextBox 38"/>
            <p:cNvSpPr txBox="1"/>
            <p:nvPr/>
          </p:nvSpPr>
          <p:spPr>
            <a:xfrm>
              <a:off x="677418" y="5670232"/>
              <a:ext cx="9243123"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iPhone LiDAR, Gaussian Splatting, aerial photogrammetry — every tree is procedural.</a:t>
              </a:r>
            </a:p>
          </p:txBody>
        </p:sp>
      </p:grpSp>
      <p:grpSp>
        <p:nvGrpSpPr>
          <p:cNvPr id="42" name="Group 42"/>
          <p:cNvGrpSpPr/>
          <p:nvPr/>
        </p:nvGrpSpPr>
        <p:grpSpPr>
          <a:xfrm>
            <a:off x="679704" y="6080760"/>
            <a:ext cx="10832592" cy="234696"/>
            <a:chOff x="679704" y="6080760"/>
            <a:chExt cx="10832592" cy="234696"/>
          </a:xfrm>
        </p:grpSpPr>
        <p:sp>
          <p:nvSpPr>
            <p:cNvPr id="40" name="TextBox 40"/>
            <p:cNvSpPr txBox="1"/>
            <p:nvPr/>
          </p:nvSpPr>
          <p:spPr>
            <a:xfrm>
              <a:off x="679704" y="6080760"/>
              <a:ext cx="7996286"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Models decimated 50,000 → 5,000–8,000 polygons, UVs preserved for 4K atlases. Open on Sketchfab.</a:t>
              </a:r>
            </a:p>
          </p:txBody>
        </p:sp>
        <p:sp>
          <p:nvSpPr>
            <p:cNvPr id="41" name="TextBox 41"/>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6910479" cy="704088"/>
            <a:chOff x="667512" y="678180"/>
            <a:chExt cx="6910479" cy="704088"/>
          </a:xfrm>
        </p:grpSpPr>
        <p:sp>
          <p:nvSpPr>
            <p:cNvPr id="2" name="TextBox 2"/>
            <p:cNvSpPr txBox="1"/>
            <p:nvPr/>
          </p:nvSpPr>
          <p:spPr>
            <a:xfrm>
              <a:off x="667512" y="678180"/>
              <a:ext cx="6910479"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Configured, not engineered</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7" name="Group 7"/>
          <p:cNvGrpSpPr/>
          <p:nvPr/>
        </p:nvGrpSpPr>
        <p:grpSpPr>
          <a:xfrm>
            <a:off x="675132" y="1676400"/>
            <a:ext cx="5268468" cy="4184523"/>
            <a:chOff x="675132" y="1676400"/>
            <a:chExt cx="5268468" cy="4184523"/>
          </a:xfrm>
        </p:grpSpPr>
        <p:pic>
          <p:nvPicPr>
            <p:cNvPr id="5" name="Image 5"/>
            <p:cNvPicPr>
              <a:picLocks noChangeAspect="1"/>
            </p:cNvPicPr>
            <p:nvPr/>
          </p:nvPicPr>
          <p:blipFill>
            <a:blip r:embed="rId2"/>
            <a:stretch>
              <a:fillRect/>
            </a:stretch>
          </p:blipFill>
          <p:spPr>
            <a:xfrm>
              <a:off x="685800" y="1676400"/>
              <a:ext cx="5257800" cy="2524125"/>
            </a:xfrm>
            <a:prstGeom prst="rect">
              <a:avLst/>
            </a:prstGeom>
          </p:spPr>
        </p:pic>
        <p:sp>
          <p:nvSpPr>
            <p:cNvPr id="6" name="TextBox 6"/>
            <p:cNvSpPr txBox="1"/>
            <p:nvPr/>
          </p:nvSpPr>
          <p:spPr>
            <a:xfrm>
              <a:off x="675132" y="4307205"/>
              <a:ext cx="4541901" cy="1553718"/>
            </a:xfrm>
            <a:prstGeom prst="rect">
              <a:avLst/>
            </a:prstGeom>
            <a:noFill/>
            <a:ln>
              <a:noFill/>
            </a:ln>
          </p:spPr>
          <p:txBody>
            <a:bodyPr wrap="none" lIns="0" tIns="0" rIns="0" bIns="0" anchor="t" anchorCtr="0">
              <a:spAutoFit/>
            </a:bodyPr>
            <a:lstStyle/>
            <a:p>
              <a:pPr algn="l">
                <a:lnSpc>
                  <a:spcPts val="3000"/>
                </a:lnSpc>
              </a:pPr>
              <a:r>
                <a:rPr lang="en-AU" sz="2100" dirty="0">
                  <a:solidFill>
                    <a:schemeClr val="dk1"/>
                  </a:solidFill>
                  <a:latin typeface="+mn-lt"/>
                  <a:ea typeface="+mn-ea"/>
                  <a:cs typeface="+mn-cs"/>
                </a:rPr>
                <a:t>The project supplies a written</a:t>
              </a:r>
              <a:br/>
              <a:r>
                <a:rPr lang="en-AU" sz="2100" dirty="0">
                  <a:solidFill>
                    <a:schemeClr val="dk1"/>
                  </a:solidFill>
                  <a:latin typeface="+mn-lt"/>
                  <a:ea typeface="+mn-ea"/>
                  <a:cs typeface="+mn-cs"/>
                </a:rPr>
                <a:t>character brief; the service holds</a:t>
              </a:r>
              <a:br/>
              <a:r>
                <a:rPr lang="en-AU" sz="2100" dirty="0">
                  <a:solidFill>
                    <a:schemeClr val="dk1"/>
                  </a:solidFill>
                  <a:latin typeface="+mn-lt"/>
                  <a:ea typeface="+mn-ea"/>
                  <a:cs typeface="+mn-cs"/>
                </a:rPr>
                <a:t>it as the agent's standing</a:t>
              </a:r>
              <a:br/>
              <a:r>
                <a:rPr lang="en-AU" sz="2100" dirty="0">
                  <a:solidFill>
                    <a:schemeClr val="dk1"/>
                  </a:solidFill>
                  <a:latin typeface="+mn-lt"/>
                  <a:ea typeface="+mn-ea"/>
                  <a:cs typeface="+mn-cs"/>
                </a:rPr>
                <a:t>instruction.</a:t>
              </a:r>
            </a:p>
          </p:txBody>
        </p:sp>
      </p:grpSp>
      <p:grpSp>
        <p:nvGrpSpPr>
          <p:cNvPr id="16" name="Group 16"/>
          <p:cNvGrpSpPr/>
          <p:nvPr/>
        </p:nvGrpSpPr>
        <p:grpSpPr>
          <a:xfrm>
            <a:off x="6240018" y="1790700"/>
            <a:ext cx="4668774" cy="3668839"/>
            <a:chOff x="6240018" y="1790700"/>
            <a:chExt cx="4668774" cy="3668839"/>
          </a:xfrm>
        </p:grpSpPr>
        <p:sp>
          <p:nvSpPr>
            <p:cNvPr id="8" name="Freeform 8"/>
            <p:cNvSpPr/>
            <p:nvPr/>
          </p:nvSpPr>
          <p:spPr>
            <a:xfrm>
              <a:off x="6273800" y="1790700"/>
              <a:ext cx="253999" cy="241894"/>
            </a:xfrm>
            <a:custGeom>
              <a:avLst/>
              <a:gdLst/>
              <a:ahLst/>
              <a:cxnLst/>
              <a:rect l="l" t="t" r="r" b="b"/>
              <a:pathLst>
                <a:path w="253999" h="241894">
                  <a:moveTo>
                    <a:pt x="203199" y="0"/>
                  </a:moveTo>
                  <a:cubicBezTo>
                    <a:pt x="231255" y="0"/>
                    <a:pt x="253999" y="22744"/>
                    <a:pt x="253999" y="50800"/>
                  </a:cubicBezTo>
                  <a:lnTo>
                    <a:pt x="253999" y="152400"/>
                  </a:lnTo>
                  <a:cubicBezTo>
                    <a:pt x="253999" y="180456"/>
                    <a:pt x="231255" y="203199"/>
                    <a:pt x="203199" y="203199"/>
                  </a:cubicBezTo>
                  <a:lnTo>
                    <a:pt x="143205" y="203199"/>
                  </a:lnTo>
                  <a:lnTo>
                    <a:pt x="82728" y="239483"/>
                  </a:lnTo>
                  <a:cubicBezTo>
                    <a:pt x="79027" y="241704"/>
                    <a:pt x="74451" y="241894"/>
                    <a:pt x="70580" y="239986"/>
                  </a:cubicBezTo>
                  <a:cubicBezTo>
                    <a:pt x="66708" y="238078"/>
                    <a:pt x="64070" y="234335"/>
                    <a:pt x="63576" y="230047"/>
                  </a:cubicBezTo>
                  <a:lnTo>
                    <a:pt x="63500" y="228599"/>
                  </a:lnTo>
                  <a:lnTo>
                    <a:pt x="63500" y="203199"/>
                  </a:lnTo>
                  <a:lnTo>
                    <a:pt x="50800" y="203199"/>
                  </a:lnTo>
                  <a:cubicBezTo>
                    <a:pt x="23731" y="203200"/>
                    <a:pt x="1417" y="181974"/>
                    <a:pt x="63" y="154940"/>
                  </a:cubicBezTo>
                  <a:lnTo>
                    <a:pt x="0" y="152400"/>
                  </a:lnTo>
                  <a:lnTo>
                    <a:pt x="0" y="50800"/>
                  </a:lnTo>
                  <a:cubicBezTo>
                    <a:pt x="0" y="22744"/>
                    <a:pt x="22744" y="0"/>
                    <a:pt x="50800" y="0"/>
                  </a:cubicBezTo>
                  <a:close/>
                  <a:moveTo>
                    <a:pt x="152400" y="114300"/>
                  </a:moveTo>
                  <a:lnTo>
                    <a:pt x="76200" y="114300"/>
                  </a:lnTo>
                  <a:cubicBezTo>
                    <a:pt x="69186" y="114300"/>
                    <a:pt x="63500" y="119986"/>
                    <a:pt x="63500" y="127000"/>
                  </a:cubicBezTo>
                  <a:cubicBezTo>
                    <a:pt x="63500" y="134014"/>
                    <a:pt x="69186" y="139700"/>
                    <a:pt x="76200" y="139700"/>
                  </a:cubicBezTo>
                  <a:lnTo>
                    <a:pt x="152400" y="139700"/>
                  </a:lnTo>
                  <a:cubicBezTo>
                    <a:pt x="159414" y="139700"/>
                    <a:pt x="165100" y="134014"/>
                    <a:pt x="165100" y="127000"/>
                  </a:cubicBezTo>
                  <a:cubicBezTo>
                    <a:pt x="165100" y="119986"/>
                    <a:pt x="159414" y="114300"/>
                    <a:pt x="152400" y="114300"/>
                  </a:cubicBezTo>
                  <a:moveTo>
                    <a:pt x="177800" y="63500"/>
                  </a:moveTo>
                  <a:lnTo>
                    <a:pt x="76200" y="63500"/>
                  </a:lnTo>
                  <a:cubicBezTo>
                    <a:pt x="69186" y="63500"/>
                    <a:pt x="63500" y="69186"/>
                    <a:pt x="63500" y="76200"/>
                  </a:cubicBezTo>
                  <a:cubicBezTo>
                    <a:pt x="63500" y="83214"/>
                    <a:pt x="69186" y="88900"/>
                    <a:pt x="76200" y="88900"/>
                  </a:cubicBezTo>
                  <a:lnTo>
                    <a:pt x="177800" y="88900"/>
                  </a:lnTo>
                  <a:cubicBezTo>
                    <a:pt x="184814" y="88900"/>
                    <a:pt x="190500" y="83214"/>
                    <a:pt x="190500" y="76200"/>
                  </a:cubicBezTo>
                  <a:cubicBezTo>
                    <a:pt x="190500" y="69186"/>
                    <a:pt x="184814" y="63500"/>
                    <a:pt x="177800" y="63500"/>
                  </a:cubicBezTo>
                </a:path>
              </a:pathLst>
            </a:custGeom>
            <a:solidFill>
              <a:schemeClr val="accent2"/>
            </a:solidFill>
            <a:ln>
              <a:noFill/>
            </a:ln>
          </p:spPr>
        </p:sp>
        <p:sp>
          <p:nvSpPr>
            <p:cNvPr id="9" name="TextBox 9"/>
            <p:cNvSpPr txBox="1"/>
            <p:nvPr/>
          </p:nvSpPr>
          <p:spPr>
            <a:xfrm>
              <a:off x="6659118" y="1822132"/>
              <a:ext cx="2323972"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The AI cultural guide</a:t>
              </a:r>
            </a:p>
          </p:txBody>
        </p:sp>
        <p:sp>
          <p:nvSpPr>
            <p:cNvPr id="10" name="TextBox 10"/>
            <p:cNvSpPr txBox="1"/>
            <p:nvPr/>
          </p:nvSpPr>
          <p:spPr>
            <a:xfrm>
              <a:off x="6240018" y="2241232"/>
              <a:ext cx="4668774" cy="15419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Minecraft Java Edition on a custom server,</a:t>
              </a:r>
              <a:br/>
              <a:r>
                <a:rPr lang="en-AU" sz="1650" dirty="0">
                  <a:solidFill>
                    <a:schemeClr val="dk1"/>
                  </a:solidFill>
                  <a:latin typeface="+mn-lt"/>
                  <a:ea typeface="+mn-ea"/>
                  <a:cs typeface="+mn-cs"/>
                </a:rPr>
                <a:t>with an in-world NPC through MinePal that</a:t>
              </a:r>
              <a:br/>
              <a:r>
                <a:rPr lang="en-AU" sz="1650" dirty="0">
                  <a:solidFill>
                    <a:schemeClr val="dk1"/>
                  </a:solidFill>
                  <a:latin typeface="+mn-lt"/>
                  <a:ea typeface="+mn-ea"/>
                  <a:cs typeface="+mn-cs"/>
                </a:rPr>
                <a:t>converses about garden aesthetics, classical</a:t>
              </a:r>
              <a:br/>
              <a:r>
                <a:rPr lang="en-AU" sz="1650" dirty="0">
                  <a:solidFill>
                    <a:schemeClr val="dk1"/>
                  </a:solidFill>
                  <a:latin typeface="+mn-lt"/>
                  <a:ea typeface="+mn-ea"/>
                  <a:cs typeface="+mn-cs"/>
                </a:rPr>
                <a:t>poetry and Chinese philosophy, switching</a:t>
              </a:r>
              <a:br/>
              <a:r>
                <a:rPr lang="en-AU" sz="1650" dirty="0">
                  <a:solidFill>
                    <a:schemeClr val="dk1"/>
                  </a:solidFill>
                  <a:latin typeface="+mn-lt"/>
                  <a:ea typeface="+mn-ea"/>
                  <a:cs typeface="+mn-cs"/>
                </a:rPr>
                <a:t>language on request.</a:t>
              </a:r>
            </a:p>
          </p:txBody>
        </p:sp>
        <p:grpSp>
          <p:nvGrpSpPr>
            <p:cNvPr id="13" name="Group 13"/>
            <p:cNvGrpSpPr/>
            <p:nvPr/>
          </p:nvGrpSpPr>
          <p:grpSpPr>
            <a:xfrm>
              <a:off x="6311900" y="4064000"/>
              <a:ext cx="177800" cy="254000"/>
              <a:chOff x="6311900" y="4064000"/>
              <a:chExt cx="177800" cy="254000"/>
            </a:xfrm>
          </p:grpSpPr>
          <p:sp>
            <p:nvSpPr>
              <p:cNvPr id="11" name="Freeform 11"/>
              <p:cNvSpPr/>
              <p:nvPr/>
            </p:nvSpPr>
            <p:spPr>
              <a:xfrm>
                <a:off x="6337300" y="4064000"/>
                <a:ext cx="127000" cy="127000"/>
              </a:xfrm>
              <a:custGeom>
                <a:avLst/>
                <a:gdLst/>
                <a:ahLst/>
                <a:cxnLst/>
                <a:rect l="l" t="t" r="r" b="b"/>
                <a:pathLst>
                  <a:path w="127000" h="127000">
                    <a:moveTo>
                      <a:pt x="63500" y="0"/>
                    </a:moveTo>
                    <a:cubicBezTo>
                      <a:pt x="98570" y="0"/>
                      <a:pt x="127000" y="28430"/>
                      <a:pt x="127000" y="63500"/>
                    </a:cubicBezTo>
                    <a:cubicBezTo>
                      <a:pt x="127000" y="98570"/>
                      <a:pt x="98570" y="127000"/>
                      <a:pt x="63500" y="127000"/>
                    </a:cubicBezTo>
                    <a:cubicBezTo>
                      <a:pt x="28430" y="127000"/>
                      <a:pt x="0" y="98570"/>
                      <a:pt x="0" y="63500"/>
                    </a:cubicBezTo>
                    <a:lnTo>
                      <a:pt x="63" y="60744"/>
                    </a:lnTo>
                    <a:cubicBezTo>
                      <a:pt x="1539" y="26779"/>
                      <a:pt x="29503" y="2"/>
                      <a:pt x="63500" y="0"/>
                    </a:cubicBezTo>
                    <a:close/>
                  </a:path>
                </a:pathLst>
              </a:custGeom>
              <a:solidFill>
                <a:schemeClr val="accent2"/>
              </a:solidFill>
              <a:ln>
                <a:noFill/>
              </a:ln>
            </p:spPr>
          </p:sp>
          <p:sp>
            <p:nvSpPr>
              <p:cNvPr id="12" name="Freeform 12"/>
              <p:cNvSpPr/>
              <p:nvPr/>
            </p:nvSpPr>
            <p:spPr>
              <a:xfrm>
                <a:off x="6311900" y="4216400"/>
                <a:ext cx="177800" cy="101600"/>
              </a:xfrm>
              <a:custGeom>
                <a:avLst/>
                <a:gdLst/>
                <a:ahLst/>
                <a:cxnLst/>
                <a:rect l="l" t="t" r="r" b="b"/>
                <a:pathLst>
                  <a:path w="177800" h="101600">
                    <a:moveTo>
                      <a:pt x="114300" y="0"/>
                    </a:moveTo>
                    <a:cubicBezTo>
                      <a:pt x="149370" y="0"/>
                      <a:pt x="177800" y="28430"/>
                      <a:pt x="177800" y="63500"/>
                    </a:cubicBezTo>
                    <a:lnTo>
                      <a:pt x="177800" y="76200"/>
                    </a:lnTo>
                    <a:cubicBezTo>
                      <a:pt x="177800" y="90228"/>
                      <a:pt x="166428" y="101600"/>
                      <a:pt x="152400" y="101600"/>
                    </a:cubicBezTo>
                    <a:lnTo>
                      <a:pt x="25400" y="101600"/>
                    </a:lnTo>
                    <a:cubicBezTo>
                      <a:pt x="11372" y="101600"/>
                      <a:pt x="0" y="90228"/>
                      <a:pt x="0" y="76200"/>
                    </a:cubicBezTo>
                    <a:lnTo>
                      <a:pt x="0" y="63500"/>
                    </a:lnTo>
                    <a:cubicBezTo>
                      <a:pt x="0" y="28430"/>
                      <a:pt x="28430" y="0"/>
                      <a:pt x="63500" y="0"/>
                    </a:cubicBezTo>
                    <a:lnTo>
                      <a:pt x="114300" y="0"/>
                    </a:lnTo>
                    <a:close/>
                  </a:path>
                </a:pathLst>
              </a:custGeom>
              <a:solidFill>
                <a:schemeClr val="accent2"/>
              </a:solidFill>
              <a:ln>
                <a:noFill/>
              </a:ln>
            </p:spPr>
          </p:sp>
        </p:grpSp>
        <p:sp>
          <p:nvSpPr>
            <p:cNvPr id="14" name="TextBox 14"/>
            <p:cNvSpPr txBox="1"/>
            <p:nvPr/>
          </p:nvSpPr>
          <p:spPr>
            <a:xfrm>
              <a:off x="6659118" y="4108132"/>
              <a:ext cx="2893215"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The workshop instrument</a:t>
              </a:r>
            </a:p>
          </p:txBody>
        </p:sp>
        <p:sp>
          <p:nvSpPr>
            <p:cNvPr id="15" name="TextBox 15"/>
            <p:cNvSpPr txBox="1"/>
            <p:nvPr/>
          </p:nvSpPr>
          <p:spPr>
            <a:xfrm>
              <a:off x="6240018" y="4527232"/>
              <a:ext cx="4469702" cy="9323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Message boards for asynchronous dialogue,</a:t>
              </a:r>
              <a:br/>
              <a:r>
                <a:rPr lang="en-AU" sz="1650" dirty="0">
                  <a:solidFill>
                    <a:schemeClr val="dk1"/>
                  </a:solidFill>
                  <a:latin typeface="+mn-lt"/>
                  <a:ea typeface="+mn-ea"/>
                  <a:cs typeface="+mn-cs"/>
                </a:rPr>
                <a:t>real-time voice, and personal courtyards</a:t>
              </a:r>
              <a:br/>
              <a:r>
                <a:rPr lang="en-AU" sz="1650" dirty="0">
                  <a:solidFill>
                    <a:schemeClr val="dk1"/>
                  </a:solidFill>
                  <a:latin typeface="+mn-lt"/>
                  <a:ea typeface="+mn-ea"/>
                  <a:cs typeface="+mn-cs"/>
                </a:rPr>
                <a:t>participants customise themselves.</a:t>
              </a:r>
            </a:p>
          </p:txBody>
        </p:sp>
      </p:grpSp>
      <p:grpSp>
        <p:nvGrpSpPr>
          <p:cNvPr id="19" name="Group 19"/>
          <p:cNvGrpSpPr/>
          <p:nvPr/>
        </p:nvGrpSpPr>
        <p:grpSpPr>
          <a:xfrm>
            <a:off x="679704" y="6080760"/>
            <a:ext cx="10832592" cy="234696"/>
            <a:chOff x="679704" y="6080760"/>
            <a:chExt cx="10832592" cy="234696"/>
          </a:xfrm>
        </p:grpSpPr>
        <p:sp>
          <p:nvSpPr>
            <p:cNvPr id="17" name="TextBox 17"/>
            <p:cNvSpPr txBox="1"/>
            <p:nvPr/>
          </p:nvSpPr>
          <p:spPr>
            <a:xfrm>
              <a:off x="679704" y="6080760"/>
              <a:ext cx="4800046"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Co-creation workshops run through the second half of 2026.</a:t>
              </a:r>
            </a:p>
          </p:txBody>
        </p:sp>
        <p:sp>
          <p:nvSpPr>
            <p:cNvPr id="18" name="TextBox 18"/>
            <p:cNvSpPr txBox="1"/>
            <p:nvPr/>
          </p:nvSpPr>
          <p:spPr>
            <a:xfrm>
              <a:off x="11322406" y="6080760"/>
              <a:ext cx="189890"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5603347" cy="704088"/>
            <a:chOff x="667512" y="678180"/>
            <a:chExt cx="5603347" cy="704088"/>
          </a:xfrm>
        </p:grpSpPr>
        <p:sp>
          <p:nvSpPr>
            <p:cNvPr id="2" name="TextBox 2"/>
            <p:cNvSpPr txBox="1"/>
            <p:nvPr/>
          </p:nvSpPr>
          <p:spPr>
            <a:xfrm>
              <a:off x="667512" y="678180"/>
              <a:ext cx="5603347"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What this contributes</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8" name="Group 8"/>
          <p:cNvGrpSpPr/>
          <p:nvPr/>
        </p:nvGrpSpPr>
        <p:grpSpPr>
          <a:xfrm>
            <a:off x="672084" y="1752600"/>
            <a:ext cx="3071050" cy="2144839"/>
            <a:chOff x="672084" y="1752600"/>
            <a:chExt cx="3071050" cy="2144839"/>
          </a:xfrm>
        </p:grpSpPr>
        <p:sp>
          <p:nvSpPr>
            <p:cNvPr id="5" name="Rectangle 5"/>
            <p:cNvSpPr/>
            <p:nvPr/>
          </p:nvSpPr>
          <p:spPr>
            <a:xfrm>
              <a:off x="685800" y="1752600"/>
              <a:ext cx="571500" cy="38100"/>
            </a:xfrm>
            <a:prstGeom prst="rect">
              <a:avLst/>
            </a:prstGeom>
            <a:solidFill>
              <a:schemeClr val="accent1"/>
            </a:solidFill>
            <a:ln>
              <a:noFill/>
            </a:ln>
          </p:spPr>
        </p:sp>
        <p:sp>
          <p:nvSpPr>
            <p:cNvPr id="6" name="TextBox 6"/>
            <p:cNvSpPr txBox="1"/>
            <p:nvPr/>
          </p:nvSpPr>
          <p:spPr>
            <a:xfrm>
              <a:off x="672084" y="1823085"/>
              <a:ext cx="2082962"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Empirically</a:t>
              </a:r>
            </a:p>
          </p:txBody>
        </p:sp>
        <p:sp>
          <p:nvSpPr>
            <p:cNvPr id="7" name="TextBox 7"/>
            <p:cNvSpPr txBox="1"/>
            <p:nvPr/>
          </p:nvSpPr>
          <p:spPr>
            <a:xfrm>
              <a:off x="677418" y="2355532"/>
              <a:ext cx="3065716" cy="15419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What this audience wants:</a:t>
              </a:r>
              <a:br/>
              <a:r>
                <a:rPr lang="en-AU" sz="1650" dirty="0">
                  <a:solidFill>
                    <a:schemeClr val="dk1"/>
                  </a:solidFill>
                  <a:latin typeface="+mn-lt"/>
                  <a:ea typeface="+mn-ea"/>
                  <a:cs typeface="+mn-cs"/>
                </a:rPr>
                <a:t>contemplative, not gamified</a:t>
              </a:r>
              <a:br/>
              <a:r>
                <a:rPr lang="en-AU" sz="1650" dirty="0">
                  <a:solidFill>
                    <a:schemeClr val="dk1"/>
                  </a:solidFill>
                  <a:latin typeface="+mn-lt"/>
                  <a:ea typeface="+mn-ea"/>
                  <a:cs typeface="+mn-cs"/>
                </a:rPr>
                <a:t>interaction; temporal rhythm</a:t>
              </a:r>
              <a:br/>
              <a:r>
                <a:rPr lang="en-AU" sz="1650" dirty="0">
                  <a:solidFill>
                    <a:schemeClr val="dk1"/>
                  </a:solidFill>
                  <a:latin typeface="+mn-lt"/>
                  <a:ea typeface="+mn-ea"/>
                  <a:cs typeface="+mn-cs"/>
                </a:rPr>
                <a:t>sensory content; a low</a:t>
              </a:r>
              <a:br/>
              <a:r>
                <a:rPr lang="en-AU" sz="1650" dirty="0">
                  <a:solidFill>
                    <a:schemeClr val="dk1"/>
                  </a:solidFill>
                  <a:latin typeface="+mn-lt"/>
                  <a:ea typeface="+mn-ea"/>
                  <a:cs typeface="+mn-cs"/>
                </a:rPr>
                <a:t>operational threshold.</a:t>
              </a:r>
            </a:p>
          </p:txBody>
        </p:sp>
      </p:grpSp>
      <p:grpSp>
        <p:nvGrpSpPr>
          <p:cNvPr id="12" name="Group 12"/>
          <p:cNvGrpSpPr/>
          <p:nvPr/>
        </p:nvGrpSpPr>
        <p:grpSpPr>
          <a:xfrm>
            <a:off x="4377309" y="1752600"/>
            <a:ext cx="3060573" cy="2144839"/>
            <a:chOff x="4377309" y="1752600"/>
            <a:chExt cx="3060573" cy="2144839"/>
          </a:xfrm>
        </p:grpSpPr>
        <p:sp>
          <p:nvSpPr>
            <p:cNvPr id="9" name="Rectangle 9"/>
            <p:cNvSpPr/>
            <p:nvPr/>
          </p:nvSpPr>
          <p:spPr>
            <a:xfrm>
              <a:off x="4391025" y="1752600"/>
              <a:ext cx="571500" cy="38100"/>
            </a:xfrm>
            <a:prstGeom prst="rect">
              <a:avLst/>
            </a:prstGeom>
            <a:solidFill>
              <a:schemeClr val="accent2"/>
            </a:solidFill>
            <a:ln>
              <a:noFill/>
            </a:ln>
          </p:spPr>
        </p:sp>
        <p:sp>
          <p:nvSpPr>
            <p:cNvPr id="10" name="TextBox 10"/>
            <p:cNvSpPr txBox="1"/>
            <p:nvPr/>
          </p:nvSpPr>
          <p:spPr>
            <a:xfrm>
              <a:off x="4377309" y="1823085"/>
              <a:ext cx="1782223"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As design</a:t>
              </a:r>
            </a:p>
          </p:txBody>
        </p:sp>
        <p:sp>
          <p:nvSpPr>
            <p:cNvPr id="11" name="TextBox 11"/>
            <p:cNvSpPr txBox="1"/>
            <p:nvPr/>
          </p:nvSpPr>
          <p:spPr>
            <a:xfrm>
              <a:off x="4382643" y="2355532"/>
              <a:ext cx="3055239" cy="15419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A transferable dual-platform</a:t>
              </a:r>
              <a:br/>
              <a:r>
                <a:rPr lang="en-AU" sz="1650" dirty="0">
                  <a:solidFill>
                    <a:schemeClr val="dk1"/>
                  </a:solidFill>
                  <a:latin typeface="+mn-lt"/>
                  <a:ea typeface="+mn-ea"/>
                  <a:cs typeface="+mn-cs"/>
                </a:rPr>
                <a:t>model: a contemplative world</a:t>
              </a:r>
              <a:br/>
              <a:r>
                <a:rPr lang="en-AU" sz="1650" dirty="0">
                  <a:solidFill>
                    <a:schemeClr val="dk1"/>
                  </a:solidFill>
                  <a:latin typeface="+mn-lt"/>
                  <a:ea typeface="+mn-ea"/>
                  <a:cs typeface="+mn-cs"/>
                </a:rPr>
                <a:t>paired with a co-creative</a:t>
              </a:r>
              <a:br/>
              <a:r>
                <a:rPr lang="en-AU" sz="1650" dirty="0">
                  <a:solidFill>
                    <a:schemeClr val="dk1"/>
                  </a:solidFill>
                  <a:latin typeface="+mn-lt"/>
                  <a:ea typeface="+mn-ea"/>
                  <a:cs typeface="+mn-cs"/>
                </a:rPr>
                <a:t>one, joined by a pipeline</a:t>
              </a:r>
              <a:br/>
              <a:r>
                <a:rPr lang="en-AU" sz="1650" dirty="0">
                  <a:solidFill>
                    <a:schemeClr val="dk1"/>
                  </a:solidFill>
                  <a:latin typeface="+mn-lt"/>
                  <a:ea typeface="+mn-ea"/>
                  <a:cs typeface="+mn-cs"/>
                </a:rPr>
                <a:t>that moves content between.</a:t>
              </a:r>
            </a:p>
          </p:txBody>
        </p:sp>
      </p:grpSp>
      <p:grpSp>
        <p:nvGrpSpPr>
          <p:cNvPr id="16" name="Group 16"/>
          <p:cNvGrpSpPr/>
          <p:nvPr/>
        </p:nvGrpSpPr>
        <p:grpSpPr>
          <a:xfrm>
            <a:off x="8082534" y="1752600"/>
            <a:ext cx="2913888" cy="2144839"/>
            <a:chOff x="8082534" y="1752600"/>
            <a:chExt cx="2913888" cy="2144839"/>
          </a:xfrm>
        </p:grpSpPr>
        <p:sp>
          <p:nvSpPr>
            <p:cNvPr id="13" name="Rectangle 13"/>
            <p:cNvSpPr/>
            <p:nvPr/>
          </p:nvSpPr>
          <p:spPr>
            <a:xfrm>
              <a:off x="8096250" y="1752600"/>
              <a:ext cx="571500" cy="38100"/>
            </a:xfrm>
            <a:prstGeom prst="rect">
              <a:avLst/>
            </a:prstGeom>
            <a:solidFill>
              <a:schemeClr val="accent3"/>
            </a:solidFill>
            <a:ln>
              <a:noFill/>
            </a:ln>
          </p:spPr>
        </p:sp>
        <p:sp>
          <p:nvSpPr>
            <p:cNvPr id="14" name="TextBox 14"/>
            <p:cNvSpPr txBox="1"/>
            <p:nvPr/>
          </p:nvSpPr>
          <p:spPr>
            <a:xfrm>
              <a:off x="8082534" y="1823085"/>
              <a:ext cx="2204573"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As practice</a:t>
              </a:r>
            </a:p>
          </p:txBody>
        </p:sp>
        <p:sp>
          <p:nvSpPr>
            <p:cNvPr id="15" name="TextBox 15"/>
            <p:cNvSpPr txBox="1"/>
            <p:nvPr/>
          </p:nvSpPr>
          <p:spPr>
            <a:xfrm>
              <a:off x="8087868" y="2355532"/>
              <a:ext cx="2908554" cy="15419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A cultural XR privileging</a:t>
              </a:r>
              <a:br/>
              <a:r>
                <a:rPr lang="en-AU" sz="1650" dirty="0">
                  <a:solidFill>
                    <a:schemeClr val="dk1"/>
                  </a:solidFill>
                  <a:latin typeface="+mn-lt"/>
                  <a:ea typeface="+mn-ea"/>
                  <a:cs typeface="+mn-cs"/>
                </a:rPr>
                <a:t>affect, ritual and the</a:t>
              </a:r>
              <a:br/>
              <a:r>
                <a:rPr lang="en-AU" sz="1650" dirty="0">
                  <a:solidFill>
                    <a:schemeClr val="dk1"/>
                  </a:solidFill>
                  <a:latin typeface="+mn-lt"/>
                  <a:ea typeface="+mn-ea"/>
                  <a:cs typeface="+mn-cs"/>
                </a:rPr>
                <a:t>multisensory over photoreal</a:t>
              </a:r>
            </a:p>
            <a:p>
              <a:pPr algn="l">
                <a:lnSpc>
                  <a:spcPts val="2400"/>
                </a:lnSpc>
              </a:pPr>
              <a:r>
                <a:rPr lang="en-AU" sz="1650" dirty="0">
                  <a:solidFill>
                    <a:schemeClr val="dk1"/>
                  </a:solidFill>
                  <a:latin typeface="+mn-lt"/>
                  <a:ea typeface="+mn-ea"/>
                  <a:cs typeface="+mn-cs"/>
                </a:rPr>
                <a:t>— heritage invention, not</a:t>
              </a:r>
              <a:br/>
              <a:r>
                <a:rPr lang="en-AU" sz="1650" dirty="0">
                  <a:solidFill>
                    <a:schemeClr val="dk1"/>
                  </a:solidFill>
                  <a:latin typeface="+mn-lt"/>
                  <a:ea typeface="+mn-ea"/>
                  <a:cs typeface="+mn-cs"/>
                </a:rPr>
                <a:t>heritage documentation.</a:t>
              </a:r>
            </a:p>
          </p:txBody>
        </p:sp>
      </p:grpSp>
      <p:grpSp>
        <p:nvGrpSpPr>
          <p:cNvPr id="19" name="Group 19"/>
          <p:cNvGrpSpPr/>
          <p:nvPr/>
        </p:nvGrpSpPr>
        <p:grpSpPr>
          <a:xfrm>
            <a:off x="677418" y="4076700"/>
            <a:ext cx="10828782" cy="773239"/>
            <a:chOff x="677418" y="4076700"/>
            <a:chExt cx="10828782" cy="773239"/>
          </a:xfrm>
        </p:grpSpPr>
        <p:sp>
          <p:nvSpPr>
            <p:cNvPr id="17" name="Line 17"/>
            <p:cNvSpPr/>
            <p:nvPr/>
          </p:nvSpPr>
          <p:spPr>
            <a:xfrm>
              <a:off x="685800" y="4076700"/>
              <a:ext cx="10820400" cy="9525"/>
            </a:xfrm>
            <a:custGeom>
              <a:avLst/>
              <a:gdLst/>
              <a:ahLst/>
              <a:cxnLst/>
              <a:rect l="l" t="t" r="r" b="b"/>
              <a:pathLst>
                <a:path w="10820400" h="9525">
                  <a:moveTo>
                    <a:pt x="0" y="0"/>
                  </a:moveTo>
                  <a:lnTo>
                    <a:pt x="10820400" y="0"/>
                  </a:lnTo>
                </a:path>
              </a:pathLst>
            </a:custGeom>
            <a:noFill/>
            <a:ln w="19050">
              <a:solidFill>
                <a:schemeClr val="accent6"/>
              </a:solidFill>
            </a:ln>
          </p:spPr>
        </p:sp>
        <p:sp>
          <p:nvSpPr>
            <p:cNvPr id="18" name="TextBox 18"/>
            <p:cNvSpPr txBox="1"/>
            <p:nvPr/>
          </p:nvSpPr>
          <p:spPr>
            <a:xfrm>
              <a:off x="677418" y="4222432"/>
              <a:ext cx="9498902"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accent5"/>
                  </a:solidFill>
                  <a:latin typeface="+mn-lt"/>
                  <a:ea typeface="+mn-ea"/>
                  <a:cs typeface="+mn-cs"/>
                </a:rPr>
                <a:t>The boundary, stated: these findings establish need, design preferences and initial</a:t>
              </a:r>
              <a:br/>
              <a:r>
                <a:rPr lang="en-AU" sz="1650" dirty="0">
                  <a:solidFill>
                    <a:schemeClr val="accent5"/>
                  </a:solidFill>
                  <a:latin typeface="+mn-lt"/>
                  <a:ea typeface="+mn-ea"/>
                  <a:cs typeface="+mn-cs"/>
                </a:rPr>
                <a:t>reception — not long-term effect. Identity formation awaits the post-workshop evaluation.</a:t>
              </a:r>
            </a:p>
          </p:txBody>
        </p:sp>
      </p:grpSp>
      <p:grpSp>
        <p:nvGrpSpPr>
          <p:cNvPr id="22" name="Group 22"/>
          <p:cNvGrpSpPr/>
          <p:nvPr/>
        </p:nvGrpSpPr>
        <p:grpSpPr>
          <a:xfrm>
            <a:off x="672846" y="5067300"/>
            <a:ext cx="10833354" cy="1004507"/>
            <a:chOff x="672846" y="5067300"/>
            <a:chExt cx="10833354" cy="1004507"/>
          </a:xfrm>
        </p:grpSpPr>
        <p:sp>
          <p:nvSpPr>
            <p:cNvPr id="20" name="Line 20"/>
            <p:cNvSpPr/>
            <p:nvPr/>
          </p:nvSpPr>
          <p:spPr>
            <a:xfrm>
              <a:off x="685800" y="5067300"/>
              <a:ext cx="10820400" cy="9525"/>
            </a:xfrm>
            <a:custGeom>
              <a:avLst/>
              <a:gdLst/>
              <a:ahLst/>
              <a:cxnLst/>
              <a:rect l="l" t="t" r="r" b="b"/>
              <a:pathLst>
                <a:path w="10820400" h="9525">
                  <a:moveTo>
                    <a:pt x="0" y="0"/>
                  </a:moveTo>
                  <a:lnTo>
                    <a:pt x="10820400" y="0"/>
                  </a:lnTo>
                </a:path>
              </a:pathLst>
            </a:custGeom>
            <a:noFill/>
            <a:ln w="28575">
              <a:solidFill>
                <a:schemeClr val="accent1"/>
              </a:solidFill>
            </a:ln>
          </p:spPr>
        </p:sp>
        <p:sp>
          <p:nvSpPr>
            <p:cNvPr id="21" name="TextBox 21"/>
            <p:cNvSpPr txBox="1"/>
            <p:nvPr/>
          </p:nvSpPr>
          <p:spPr>
            <a:xfrm>
              <a:off x="672846" y="5192078"/>
              <a:ext cx="8381238" cy="879729"/>
            </a:xfrm>
            <a:prstGeom prst="rect">
              <a:avLst/>
            </a:prstGeom>
            <a:noFill/>
            <a:ln>
              <a:noFill/>
            </a:ln>
          </p:spPr>
          <p:txBody>
            <a:bodyPr wrap="none" lIns="0" tIns="0" rIns="0" bIns="0" anchor="t" anchorCtr="0">
              <a:spAutoFit/>
            </a:bodyPr>
            <a:lstStyle/>
            <a:p>
              <a:pPr algn="l">
                <a:lnSpc>
                  <a:spcPts val="3000"/>
                </a:lnSpc>
              </a:pPr>
              <a:r>
                <a:rPr lang="en-AU" sz="2550" dirty="0">
                  <a:solidFill>
                    <a:schemeClr val="dk1"/>
                  </a:solidFill>
                  <a:latin typeface="+mn-lt"/>
                  <a:ea typeface="+mn-ea"/>
                  <a:cs typeface="+mn-cs"/>
                </a:rPr>
                <a:t>Postgeographic sanctuaries: living counter-archives</a:t>
              </a:r>
              <a:br/>
              <a:r>
                <a:rPr lang="en-AU" sz="2550" dirty="0">
                  <a:solidFill>
                    <a:schemeClr val="dk1"/>
                  </a:solidFill>
                  <a:latin typeface="+mn-lt"/>
                  <a:ea typeface="+mn-ea"/>
                  <a:cs typeface="+mn-cs"/>
                </a:rPr>
                <a:t>co-created with the communities they serve.</a:t>
              </a:r>
            </a:p>
          </p:txBody>
        </p:sp>
      </p:grpSp>
      <p:grpSp>
        <p:nvGrpSpPr>
          <p:cNvPr id="25" name="Group 25"/>
          <p:cNvGrpSpPr/>
          <p:nvPr/>
        </p:nvGrpSpPr>
        <p:grpSpPr>
          <a:xfrm>
            <a:off x="679704" y="6080760"/>
            <a:ext cx="10832592" cy="234696"/>
            <a:chOff x="679704" y="6080760"/>
            <a:chExt cx="10832592" cy="234696"/>
          </a:xfrm>
        </p:grpSpPr>
        <p:sp>
          <p:nvSpPr>
            <p:cNvPr id="23" name="TextBox 23"/>
            <p:cNvSpPr txBox="1"/>
            <p:nvPr/>
          </p:nvSpPr>
          <p:spPr>
            <a:xfrm>
              <a:off x="679704" y="6080760"/>
              <a:ext cx="6990327"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daichen.wang@hdr.qut.edu.au · sketchfab.com/DaichenWang — QUT Ethics LR 2025-8766</a:t>
              </a:r>
            </a:p>
          </p:txBody>
        </p:sp>
        <p:sp>
          <p:nvSpPr>
            <p:cNvPr id="24" name="TextBox 24"/>
            <p:cNvSpPr txBox="1"/>
            <p:nvPr/>
          </p:nvSpPr>
          <p:spPr>
            <a:xfrm>
              <a:off x="11322406" y="6080760"/>
              <a:ext cx="189890"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11</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b-artwork">
  <a:themeElements>
    <a:clrScheme name="deck-b-artwork">
      <a:dk1>
        <a:srgbClr val="1A1A1A"/>
      </a:dk1>
      <a:lt1>
        <a:srgbClr val="FFFFFF"/>
      </a:lt1>
      <a:dk2>
        <a:srgbClr val="1F497D"/>
      </a:dk2>
      <a:lt2>
        <a:srgbClr val="F2F5F8"/>
      </a:lt2>
      <a:accent1>
        <a:srgbClr val="003B71"/>
      </a:accent1>
      <a:accent2>
        <a:srgbClr val="0091DA"/>
      </a:accent2>
      <a:accent3>
        <a:srgbClr val="8A8D8F"/>
      </a:accent3>
      <a:accent4>
        <a:srgbClr val="003B71"/>
      </a:accent4>
      <a:accent5>
        <a:srgbClr val="5A6570"/>
      </a:accent5>
      <a:accent6>
        <a:srgbClr val="D8DFE6"/>
      </a:accent6>
      <a:hlink>
        <a:srgbClr val="0091DA"/>
      </a:hlink>
      <a:folHlink>
        <a:srgbClr val="8A8D8F"/>
      </a:folHlink>
    </a:clrScheme>
    <a:fontScheme name="deck-b-artwor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b-artwo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b-artwork">
  <a:themeElements>
    <a:clrScheme name="deck-b-artwork">
      <a:dk1>
        <a:srgbClr val="1A1A1A"/>
      </a:dk1>
      <a:lt1>
        <a:srgbClr val="FFFFFF"/>
      </a:lt1>
      <a:dk2>
        <a:srgbClr val="1F497D"/>
      </a:dk2>
      <a:lt2>
        <a:srgbClr val="F2F5F8"/>
      </a:lt2>
      <a:accent1>
        <a:srgbClr val="003B71"/>
      </a:accent1>
      <a:accent2>
        <a:srgbClr val="0091DA"/>
      </a:accent2>
      <a:accent3>
        <a:srgbClr val="8A8D8F"/>
      </a:accent3>
      <a:accent4>
        <a:srgbClr val="003B71"/>
      </a:accent4>
      <a:accent5>
        <a:srgbClr val="5A6570"/>
      </a:accent5>
      <a:accent6>
        <a:srgbClr val="D8DFE6"/>
      </a:accent6>
      <a:hlink>
        <a:srgbClr val="0091DA"/>
      </a:hlink>
      <a:folHlink>
        <a:srgbClr val="8A8D8F"/>
      </a:folHlink>
    </a:clrScheme>
    <a:fontScheme name="deck-b-artwor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b-artwo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en-AU</dc:language>
  <cp:lastModifiedBy/>
  <cp:revision>1</cp:revision>
  <dcterms:created xsi:type="dcterms:W3CDTF">2026-09-03T05:13:22Z</dcterms:created>
  <dcterms:modified xsi:type="dcterms:W3CDTF">2026-09-03T05:13:22Z</dcterms:modified>
  <cp:category/>
  <cp:contentStatus/>
</cp:coreProperties>
</file>