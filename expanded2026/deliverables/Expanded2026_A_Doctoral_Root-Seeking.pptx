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Default Extension="png" ContentType="image/png"/>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p="http://schemas.openxmlformats.org/presentationml/2006/main" xmlns:r="http://schemas.openxmlformats.org/officeDocument/2006/relationships" saveSubsetFonts="1" autoCompressPictures="0">
  <p:sldMasterIdLst>
    <p:sldMasterId id="2147483648" r:id="rId1"/>
  </p:sldMasterIdLst>
  <p:notesMasterIdLst>
    <p:notesMasterId r:id="rId18"/>
  </p:notes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  <Relationship Id="rId18"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pPr/>
            <a:endParaRPr lang="en-AU"/>
          </a:p>
        </p:txBody>
      </p:sp>
      <p:sp>
        <p:nvSpPr>
          <p:cNvPr id="3" name="Date Placeholder 2"/>
          <p:cNvSpPr>
            <a:spLocks noGrp="1"/>
          </p:cNvSpPr>
          <p:nvPr>
            <p:ph type="dt" sz="half" idx="1"/>
          </p:nvPr>
        </p:nvSpPr>
        <p:spPr>
          <a:xfrm>
            <a:off x="3884613" y="0"/>
            <a:ext cx="2971800" cy="457200"/>
          </a:xfrm>
          <a:prstGeom prst="rect">
            <a:avLst/>
          </a:prstGeom>
        </p:spPr>
        <p:txBody>
          <a:bodyPr/>
          <a:lstStyle/>
          <a:p>
            <a:pPr/>
            <a:endParaRPr lang="en-AU"/>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pPr/>
            <a:endParaRPr lang="en-AU"/>
          </a:p>
        </p:txBody>
      </p:sp>
      <p:sp>
        <p:nvSpPr>
          <p:cNvPr id="6" name="Footer Placeholder 5"/>
          <p:cNvSpPr>
            <a:spLocks noGrp="1"/>
          </p:cNvSpPr>
          <p:nvPr>
            <p:ph type="ftr" sz="quarter" idx="4"/>
          </p:nvPr>
        </p:nvSpPr>
        <p:spPr>
          <a:xfrm>
            <a:off x="0" y="8685213"/>
            <a:ext cx="2971800" cy="457200"/>
          </a:xfrm>
          <a:prstGeom prst="rect">
            <a:avLst/>
          </a:prstGeom>
        </p:spPr>
        <p:txBody>
          <a:bodyPr/>
          <a:lstStyle/>
          <a:p>
            <a:pPr/>
            <a:endParaRPr lang="en-AU"/>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pPr/>
            <a:endParaRPr lang="en-AU"/>
          </a:p>
        </p:txBody>
      </p:sp>
    </p:spTree>
  </p:cSld>
  <p:clrMap bg1="lt1" tx1="dk1" bg2="lt2" tx2="dk2" accent1="accent1" accent2="accent2" accent3="accent3" accent4="accent4" accent5="accent5" accent6="accent6" hlink="hlink" folHlink="folHlink"/>
  <p:hf/>
  <p:notesStyle>
    <a:lvl1pPr marL="0" algn="l">
      <a:defRPr sz="1200" lang="en-AU"/>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AU" dirty="0"/>
              <a:t>Good morning. My name is Daichen Wang, and I am a doctoral candidate in the School of Creative Arts at Queensland University of Technology. The project is called Root-Seeking, or Xun Gen, and what you are looking at is a classical Chinese garden that no longer exists in this form, rebuilt as a virtual environment for people who cannot go back to it.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AU" dirty="0"/>
              <a:t>I want to start with the moment this research actually began, because it explains the whole thing better than an abstract can. On the ninth of February this year I was standing in the waiting hall of Wuxi Railway Station. It was the peak of the Lunar New Year rush. Everyone around me was going home, and in a few days I would be flying back to Brisbane. That is the tension the project sits inside. For some people return is simply a rhythm of life. For others it has become a periodic exception, something you plan and save for and eventually stop planning. The Chinese diaspora numbers in the tens of millions, and for a great many of them the desire to reconnect with where they came from stays powerful and persistent long after returning stops being practical.</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AU" dirty="0"/>
              <a:t>So the first question is what kind of thing that desire actually is. Fei Xiaotong described traditional Chinese society as Xiangtu, soil-bound: identity, kinship and obligation inseparable from the land you were born on, organised in concentric circles he called Chaxu Geju. Chunyun, the migration I was standing in the middle of, is its most visible modern expression. But Fei's frame reaches a limit with permanent migrants, because their geographical centre has already moved and is not moving back. So the research shifts from roots to routes, and turns to Avtar Brah. Homing desire, she argues, is not the desire to return to a particular place. Home is a mythic place of desire in the diasporic imagination: a feeling you construct, not a location you reach. And Paul Connerton tells us where that construction happens. Cultural memory is not only in texts and monuments; it is inscribed in the body through habit. Familiar spaces, familiar sounds, familiar ways of moving are the mechanism.</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AU" dirty="0"/>
              <a:t>Which brings me to what has not been built. Despite a lot of very good XR heritage research, there is no peer-reviewed, empirically validated social VR environment designed specifically for the cultural and spatial needs of the Chinese diaspora. The tools people already use — WeChat, video calls, social media — do sustain relationships across distance, and I want to be fair to them. What they cannot do is reproduce the embodied spatial familiarity Fei identified as the bedrock of that soil-bound world. You can see your mother's face on a screen; you cannot walk through the courtyard behind her. On the research side, the preliminary VR-for-diaspora studies either lacked cultural specificity or narrowed to student populations, and none of them centres the classical Chinese garden as a carrier for root-seeking.</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AU" dirty="0"/>
              <a:t>The doctoral inquiry sits at two levels. The overarching question is bigger than any single platform: when permanent physical return is no longer viable, how can the sensory, spatial and social conditions of cultural belonging be reconstituted elsewhere? I operationalise that through one designed case, and I want to be precise about the word case. The garden is an instrumental case, not the object of the thesis. Underneath it sit three subsidiary questions. Which cultural, spatial and sensory elements do diaspora members themselves identify as essential. How participatory co-design can genuinely engage a diaspora community in shaping something culturally authentic. And how participants actually experience the environment in terms of belonging and emotional reconnection.</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AU" dirty="0"/>
              <a:t>The study answers those in three phases. Phase One was survey work and building. A global online survey of the Chinese diaspora returned two hundred and six questionnaires across two rounds, of which a hundred and seventy-two were retained. On site at Jichang Garden I worked with fifty visitors and staff, twenty-seven of whom completed the questionnaire — fifteen visitors and twelve administrators — and demonstrations reached forty people. Phase Two took the prototype to Brisbane: twelve participants in two groups of six, in June. I recruited through Chinese-language social media, the Chinese Students and Scholars Association, and deliberately through a local table tennis club, because I did not want a room full of students. Phase Three was folded into those same sessions: pre- and post-experience state questionnaires plus a twenty-six item experience measure covering interface, immersion, cultural recognition and social presence. All of it under QUT ethics approval.</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AU" dirty="0"/>
              <a:t>This is where the design requirements came from, and I want to be clear that they came from the data rather than from my taste. On the left are the on-site visitor items, ranked. Gardens being important in Chinese culture sits highest at four point four seven, with ninety-three per cent agreement. Willingness to visit a garden abroad and gardens relieving pressure both sit at four point three three. But look at the bottom two bars, in the lighter blue. I feel emotionally attached drops to three point eight, and it holds special significance for me drops to three point five three, with fewer than half agreeing in each case. Recognition is running ahead of attachment, in the same people at the same sitting. On the right, the online survey set the requirements. Seasonal change and the passage of time rated highest of the five cultural authenticity items, cultural symbols second. And the clearest result was negative: a hundred and thirty of a hundred and seventy-two named overly complex operation as the thing to avoid. That pushed the prototype away from gamification and towards ritual.</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AU" dirty="0"/>
              <a:t>So two platforms were built, and they are one designed environment rather than two projects. On the left, the high-fidelity world: Unity 2022.3, deployed through VRChat for Meta Quest 3, running at ninety frames per second inside a three by three metre tracking volume, with a desktop fallback so nobody is excluded for lack of a headset. On the right, Minecraft Java Edition on a custom server with an AI cultural guide through MinePal — configured rather than engineered: I wrote it a character brief covering classical poetry, Daoist naturalism and garden design, rather than training anything. The line at the top is the important one. Minecraft is the methodological engine of Phase Two, not a demo. Its coarse blocks keep building visible and reversible for people with no 3D modelling skills, and its message boards and personal courtyards let them contribute when they are not in the room.</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AU" dirty="0"/>
              <a:t>Where it stands today. Data collection is complete across all three phases. The VR environment is fully operational, holding ninety frames per second on Quest 3, and it has been publicly exhibited. The Minecraft platform with the MinePal guide is complete, with over ninety per cent conversational accuracy across roughly twenty test rounds. A hundred and two artifacts scanned from Jichang Garden — using handheld iPhone LiDAR, Gaussian Splatting and aerial photogrammetry — are openly available on Sketchfab. The one thing still in progress is the thematic analysis of the June focus-group data, and a third iteration in Unreal Engine.</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AU" dirty="0"/>
              <a:t>The work makes three contributions, and they are addressed to three different rooms. To diaspora and memory studies, a theoretical one: a model of root-seeking as sensory and embodied memory activation, which is what happens when you put Fei's Xiangtu in dialogue with Brah's homing desire. To digital heritage and human-computer interaction, an empirical one: to my knowledge the first peer-reviewed, empirically evaluated social VR environment tailored to Chinese diaspora cultural needs. And to community-centred design practice, a methodological one: a co-design model for culturally specific XR that other people can run. The line underneath matters for how you should read all of this. The empirical findings are situated in this case. The theoretical model and the methodology are the parts designed to travel.</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AU" dirty="0"/>
              <a:t>Four things next. Finish the thematic analysis, which drives every remaining update to both platforms. Compare the two modalities by triangulating the questionnaire patterns against the discussion themes, because embodied presence and social building may well shape root-seeking differently. Finish the Unreal Engine version and then compare across all three. And bring motion-captured classical dance into both worlds with the QUT XR Screen Futures Hub, so that root-seeking extends past exploring a space into performing in it. Let me leave you with the claim I would most like challenged. If root-seeking operates through sensory memory rather than physical location, then the question is not where it can happen. It is how. Thank you.</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deck-a-doctoral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deck-a-doctoral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36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21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95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85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7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145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3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2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1050" kern="1200">
          <a:solidFill>
            <a:schemeClr val="tx1"/>
          </a:solidFill>
          <a:latin typeface="+mn-lt"/>
          <a:ea typeface="+mn-ea"/>
          <a:cs typeface="+mn-cs"/>
        </a:defRPr>
      </a:lvl9pPr>
    </p:bodyStyle>
    <p:otherStyle>
      <a:defPPr>
        <a:defRPr lang="en-US"/>
      </a:defPPr>
      <a:lvl1pPr marL="0" algn="l" defTabSz="457200" rtl="0" eaLnBrk="1" latinLnBrk="0" hangingPunct="1">
        <a:defRPr sz="2100" kern="1200">
          <a:solidFill>
            <a:schemeClr val="tx1"/>
          </a:solidFill>
          <a:latin typeface="+mn-lt"/>
          <a:ea typeface="+mn-ea"/>
          <a:cs typeface="+mn-cs"/>
        </a:defRPr>
      </a:lvl1pPr>
      <a:lvl2pPr marL="457200" algn="l" defTabSz="457200" rtl="0" eaLnBrk="1" latinLnBrk="0" hangingPunct="1">
        <a:defRPr sz="1950" kern="1200">
          <a:solidFill>
            <a:schemeClr val="tx1"/>
          </a:solidFill>
          <a:latin typeface="+mn-lt"/>
          <a:ea typeface="+mn-ea"/>
          <a:cs typeface="+mn-cs"/>
        </a:defRPr>
      </a:lvl2pPr>
      <a:lvl3pPr marL="914400" algn="l" defTabSz="457200" rtl="0" eaLnBrk="1" latinLnBrk="0" hangingPunct="1">
        <a:defRPr sz="1850" kern="1200">
          <a:solidFill>
            <a:schemeClr val="tx1"/>
          </a:solidFill>
          <a:latin typeface="+mn-lt"/>
          <a:ea typeface="+mn-ea"/>
          <a:cs typeface="+mn-cs"/>
        </a:defRPr>
      </a:lvl3pPr>
      <a:lvl4pPr marL="1371600" algn="l" defTabSz="457200" rtl="0" eaLnBrk="1" latinLnBrk="0" hangingPunct="1">
        <a:defRPr sz="1700" kern="1200">
          <a:solidFill>
            <a:schemeClr val="tx1"/>
          </a:solidFill>
          <a:latin typeface="+mn-lt"/>
          <a:ea typeface="+mn-ea"/>
          <a:cs typeface="+mn-cs"/>
        </a:defRPr>
      </a:lvl4pPr>
      <a:lvl5pPr marL="1828800" algn="l" defTabSz="457200" rtl="0" eaLnBrk="1" latinLnBrk="0" hangingPunct="1">
        <a:defRPr sz="1600" kern="1200">
          <a:solidFill>
            <a:schemeClr val="tx1"/>
          </a:solidFill>
          <a:latin typeface="+mn-lt"/>
          <a:ea typeface="+mn-ea"/>
          <a:cs typeface="+mn-cs"/>
        </a:defRPr>
      </a:lvl5pPr>
      <a:lvl6pPr marL="2286000" algn="l" defTabSz="457200" rtl="0" eaLnBrk="1" latinLnBrk="0" hangingPunct="1">
        <a:defRPr sz="1450" kern="1200">
          <a:solidFill>
            <a:schemeClr val="tx1"/>
          </a:solidFill>
          <a:latin typeface="+mn-lt"/>
          <a:ea typeface="+mn-ea"/>
          <a:cs typeface="+mn-cs"/>
        </a:defRPr>
      </a:lvl6pPr>
      <a:lvl7pPr marL="2743200" algn="l" defTabSz="457200" rtl="0" eaLnBrk="1" latinLnBrk="0" hangingPunct="1">
        <a:defRPr sz="13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0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41bf2411077ac3cc.png"/>
  <Relationship Id="rId3"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41bf2411077ac3cc.png"/>
  <Relationship Id="rId3" Type="http://schemas.openxmlformats.org/officeDocument/2006/relationships/image" Target="../media/image_44911c2eec7c0d8e.png"/>
  <Relationship Id="rId4"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1.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666750" y="845820"/>
            <a:ext cx="8993841" cy="1886331"/>
            <a:chOff x="666750" y="845820"/>
            <a:chExt cx="8993841" cy="1886331"/>
          </a:xfrm>
        </p:grpSpPr>
        <p:sp>
          <p:nvSpPr>
            <p:cNvPr id="2" name="TextBox 2"/>
            <p:cNvSpPr txBox="1"/>
            <p:nvPr/>
          </p:nvSpPr>
          <p:spPr>
            <a:xfrm>
              <a:off x="666750" y="845820"/>
              <a:ext cx="8993841" cy="1047750"/>
            </a:xfrm>
            <a:prstGeom prst="rect">
              <a:avLst/>
            </a:prstGeom>
            <a:noFill/>
            <a:ln>
              <a:noFill/>
            </a:ln>
          </p:spPr>
          <p:txBody>
            <a:bodyPr wrap="none" lIns="0" tIns="0" rIns="0" bIns="0" anchor="t" anchorCtr="0">
              <a:spAutoFit/>
            </a:bodyPr>
            <a:lstStyle/>
            <a:p>
              <a:pPr algn="l"/>
              <a:r>
                <a:rPr lang="en-AU" sz="5400" dirty="0">
                  <a:solidFill>
                    <a:schemeClr val="accent1"/>
                  </a:solidFill>
                  <a:latin typeface="+mj-lt"/>
                  <a:ea typeface="+mj-ea"/>
                  <a:cs typeface="+mj-cs"/>
                </a:rPr>
                <a:t>Root-Seeking · Xun Gen</a:t>
              </a:r>
            </a:p>
          </p:txBody>
        </p:sp>
        <p:sp>
          <p:nvSpPr>
            <p:cNvPr id="3" name="TextBox 3"/>
            <p:cNvSpPr txBox="1"/>
            <p:nvPr/>
          </p:nvSpPr>
          <p:spPr>
            <a:xfrm>
              <a:off x="672084" y="1765935"/>
              <a:ext cx="7725537" cy="966216"/>
            </a:xfrm>
            <a:prstGeom prst="rect">
              <a:avLst/>
            </a:prstGeom>
            <a:noFill/>
            <a:ln>
              <a:noFill/>
            </a:ln>
          </p:spPr>
          <p:txBody>
            <a:bodyPr wrap="none" lIns="0" tIns="0" rIns="0" bIns="0" anchor="t" anchorCtr="0">
              <a:spAutoFit/>
            </a:bodyPr>
            <a:lstStyle/>
            <a:p>
              <a:pPr algn="l">
                <a:lnSpc>
                  <a:spcPts val="3450"/>
                </a:lnSpc>
              </a:pPr>
              <a:r>
                <a:rPr lang="en-AU" sz="2700" dirty="0">
                  <a:solidFill>
                    <a:schemeClr val="dk1"/>
                  </a:solidFill>
                  <a:latin typeface="+mj-lt"/>
                  <a:ea typeface="+mj-ea"/>
                  <a:cs typeface="+mj-cs"/>
                </a:rPr>
                <a:t>A practice-based inquiry into XR environments</a:t>
              </a:r>
              <a:br/>
              <a:r>
                <a:rPr lang="en-AU" sz="2700" dirty="0">
                  <a:solidFill>
                    <a:schemeClr val="dk1"/>
                  </a:solidFill>
                  <a:latin typeface="+mj-lt"/>
                  <a:ea typeface="+mj-ea"/>
                  <a:cs typeface="+mj-cs"/>
                </a:rPr>
                <a:t>for diasporic cultural reconnection</a:t>
              </a:r>
            </a:p>
          </p:txBody>
        </p:sp>
      </p:grpSp>
      <p:grpSp>
        <p:nvGrpSpPr>
          <p:cNvPr id="7" name="Group 7"/>
          <p:cNvGrpSpPr/>
          <p:nvPr/>
        </p:nvGrpSpPr>
        <p:grpSpPr>
          <a:xfrm>
            <a:off x="679704" y="3143250"/>
            <a:ext cx="10826496" cy="2695956"/>
            <a:chOff x="679704" y="3143250"/>
            <a:chExt cx="10826496" cy="2695956"/>
          </a:xfrm>
        </p:grpSpPr>
        <p:pic>
          <p:nvPicPr>
            <p:cNvPr id="5" name="Image 5"/>
            <p:cNvPicPr>
              <a:picLocks noChangeAspect="1"/>
            </p:cNvPicPr>
            <p:nvPr/>
          </p:nvPicPr>
          <p:blipFill>
            <a:blip r:embed="rId2"/>
            <a:srcRect l="0" t="30340" r="0" b="30340"/>
            <a:stretch>
              <a:fillRect/>
            </a:stretch>
          </p:blipFill>
          <p:spPr>
            <a:xfrm>
              <a:off x="685800" y="3143250"/>
              <a:ext cx="10820400" cy="2381250"/>
            </a:xfrm>
            <a:prstGeom prst="rect">
              <a:avLst/>
            </a:prstGeom>
          </p:spPr>
        </p:pic>
        <p:sp>
          <p:nvSpPr>
            <p:cNvPr id="6" name="TextBox 6"/>
            <p:cNvSpPr txBox="1"/>
            <p:nvPr/>
          </p:nvSpPr>
          <p:spPr>
            <a:xfrm>
              <a:off x="679704" y="5604510"/>
              <a:ext cx="5130613" cy="234696"/>
            </a:xfrm>
            <a:prstGeom prst="rect">
              <a:avLst/>
            </a:prstGeom>
            <a:noFill/>
            <a:ln>
              <a:noFill/>
            </a:ln>
          </p:spPr>
          <p:txBody>
            <a:bodyPr wrap="none" lIns="0" tIns="0" rIns="0" bIns="0" anchor="t" anchorCtr="0">
              <a:spAutoFit/>
            </a:bodyPr>
            <a:lstStyle/>
            <a:p>
              <a:pPr algn="l"/>
              <a:r>
                <a:rPr lang="en-AU" sz="1200" dirty="0">
                  <a:solidFill>
                    <a:schemeClr val="accent5"/>
                  </a:solidFill>
                  <a:latin typeface="+mn-lt"/>
                  <a:ea typeface="+mn-ea"/>
                  <a:cs typeface="+mn-cs"/>
                </a:rPr>
                <a:t>Root-Seeking · Xun Gen — the reconstructed Jichang Garden in VR</a:t>
              </a:r>
            </a:p>
          </p:txBody>
        </p:sp>
      </p:grpSp>
      <p:grpSp>
        <p:nvGrpSpPr>
          <p:cNvPr id="11" name="Group 11"/>
          <p:cNvGrpSpPr/>
          <p:nvPr/>
        </p:nvGrpSpPr>
        <p:grpSpPr>
          <a:xfrm>
            <a:off x="677418" y="5962650"/>
            <a:ext cx="10837164" cy="487489"/>
            <a:chOff x="677418" y="5962650"/>
            <a:chExt cx="10837164" cy="487489"/>
          </a:xfrm>
        </p:grpSpPr>
        <p:sp>
          <p:nvSpPr>
            <p:cNvPr id="8" name="Line 8"/>
            <p:cNvSpPr/>
            <p:nvPr/>
          </p:nvSpPr>
          <p:spPr>
            <a:xfrm>
              <a:off x="685800" y="5962650"/>
              <a:ext cx="10820400" cy="9525"/>
            </a:xfrm>
            <a:custGeom>
              <a:avLst/>
              <a:gdLst/>
              <a:ahLst/>
              <a:cxnLst/>
              <a:rect l="l" t="t" r="r" b="b"/>
              <a:pathLst>
                <a:path w="10820400" h="9525">
                  <a:moveTo>
                    <a:pt x="0" y="0"/>
                  </a:moveTo>
                  <a:lnTo>
                    <a:pt x="10820400" y="0"/>
                  </a:lnTo>
                </a:path>
              </a:pathLst>
            </a:custGeom>
            <a:noFill/>
            <a:ln w="28575">
              <a:solidFill>
                <a:schemeClr val="accent1"/>
              </a:solidFill>
            </a:ln>
          </p:spPr>
        </p:sp>
        <p:sp>
          <p:nvSpPr>
            <p:cNvPr id="9" name="TextBox 9"/>
            <p:cNvSpPr txBox="1"/>
            <p:nvPr/>
          </p:nvSpPr>
          <p:spPr>
            <a:xfrm>
              <a:off x="677418" y="6127432"/>
              <a:ext cx="8383876" cy="322707"/>
            </a:xfrm>
            <a:prstGeom prst="rect">
              <a:avLst/>
            </a:prstGeom>
            <a:noFill/>
            <a:ln>
              <a:noFill/>
            </a:ln>
          </p:spPr>
          <p:txBody>
            <a:bodyPr wrap="none" lIns="0" tIns="0" rIns="0" bIns="0" anchor="t" anchorCtr="0">
              <a:spAutoFit/>
            </a:bodyPr>
            <a:lstStyle/>
            <a:p>
              <a:pPr algn="l"/>
              <a:r>
                <a:rPr lang="en-AU" sz="1650" dirty="0">
                  <a:solidFill>
                    <a:schemeClr val="dk1"/>
                  </a:solidFill>
                  <a:latin typeface="+mn-lt"/>
                  <a:ea typeface="+mn-ea"/>
                  <a:cs typeface="+mn-cs"/>
                </a:rPr>
                <a:t>Daichen Wang — School of Creative Arts, Queensland University of Technology</a:t>
              </a:r>
            </a:p>
          </p:txBody>
        </p:sp>
        <p:sp>
          <p:nvSpPr>
            <p:cNvPr id="10" name="TextBox 10"/>
            <p:cNvSpPr txBox="1"/>
            <p:nvPr/>
          </p:nvSpPr>
          <p:spPr>
            <a:xfrm>
              <a:off x="9255633" y="6127432"/>
              <a:ext cx="2258949" cy="322707"/>
            </a:xfrm>
            <a:prstGeom prst="rect">
              <a:avLst/>
            </a:prstGeom>
            <a:noFill/>
            <a:ln>
              <a:noFill/>
            </a:ln>
          </p:spPr>
          <p:txBody>
            <a:bodyPr wrap="none" lIns="0" tIns="0" rIns="0" bIns="0" anchor="t" anchorCtr="0">
              <a:spAutoFit/>
            </a:bodyPr>
            <a:lstStyle/>
            <a:p>
              <a:pPr algn="r"/>
              <a:r>
                <a:rPr lang="en-AU" sz="1650" dirty="0">
                  <a:solidFill>
                    <a:schemeClr val="accent5"/>
                  </a:solidFill>
                  <a:latin typeface="+mn-lt"/>
                  <a:ea typeface="+mn-ea"/>
                  <a:cs typeface="+mn-cs"/>
                </a:rPr>
                <a:t>Expanded 2026 · Linz</a:t>
              </a:r>
            </a:p>
          </p:txBody>
        </p:sp>
      </p:gr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667512" y="678180"/>
            <a:ext cx="9822063" cy="704088"/>
            <a:chOff x="667512" y="678180"/>
            <a:chExt cx="9822063" cy="704088"/>
          </a:xfrm>
        </p:grpSpPr>
        <p:sp>
          <p:nvSpPr>
            <p:cNvPr id="2" name="TextBox 2"/>
            <p:cNvSpPr txBox="1"/>
            <p:nvPr/>
          </p:nvSpPr>
          <p:spPr>
            <a:xfrm>
              <a:off x="667512" y="678180"/>
              <a:ext cx="9822063" cy="704088"/>
            </a:xfrm>
            <a:prstGeom prst="rect">
              <a:avLst/>
            </a:prstGeom>
            <a:noFill/>
            <a:ln>
              <a:noFill/>
            </a:ln>
          </p:spPr>
          <p:txBody>
            <a:bodyPr wrap="none" lIns="0" tIns="0" rIns="0" bIns="0" anchor="t" anchorCtr="0">
              <a:spAutoFit/>
            </a:bodyPr>
            <a:lstStyle/>
            <a:p>
              <a:pPr algn="l"/>
              <a:r>
                <a:rPr lang="en-AU" sz="3600" dirty="0">
                  <a:solidFill>
                    <a:schemeClr val="accent1"/>
                  </a:solidFill>
                  <a:latin typeface="+mj-lt"/>
                  <a:ea typeface="+mj-ea"/>
                  <a:cs typeface="+mj-cs"/>
                </a:rPr>
                <a:t>9 February 2026, Wuxi Railway Station</a:t>
              </a:r>
            </a:p>
          </p:txBody>
        </p:sp>
        <p:sp>
          <p:nvSpPr>
            <p:cNvPr id="3" name="Rectangle 3"/>
            <p:cNvSpPr/>
            <p:nvPr/>
          </p:nvSpPr>
          <p:spPr>
            <a:xfrm>
              <a:off x="685800" y="1295400"/>
              <a:ext cx="2095500" cy="38100"/>
            </a:xfrm>
            <a:prstGeom prst="rect">
              <a:avLst/>
            </a:prstGeom>
            <a:solidFill>
              <a:schemeClr val="accent1"/>
            </a:solidFill>
            <a:ln>
              <a:noFill/>
            </a:ln>
          </p:spPr>
        </p:sp>
      </p:grpSp>
      <p:grpSp>
        <p:nvGrpSpPr>
          <p:cNvPr id="7" name="Group 7"/>
          <p:cNvGrpSpPr/>
          <p:nvPr/>
        </p:nvGrpSpPr>
        <p:grpSpPr>
          <a:xfrm>
            <a:off x="667512" y="1821180"/>
            <a:ext cx="5545836" cy="3753993"/>
            <a:chOff x="667512" y="1821180"/>
            <a:chExt cx="5545836" cy="3753993"/>
          </a:xfrm>
        </p:grpSpPr>
        <p:sp>
          <p:nvSpPr>
            <p:cNvPr id="5" name="TextBox 5"/>
            <p:cNvSpPr txBox="1"/>
            <p:nvPr/>
          </p:nvSpPr>
          <p:spPr>
            <a:xfrm>
              <a:off x="667512" y="1821180"/>
              <a:ext cx="5545836" cy="1256538"/>
            </a:xfrm>
            <a:prstGeom prst="rect">
              <a:avLst/>
            </a:prstGeom>
            <a:noFill/>
            <a:ln>
              <a:noFill/>
            </a:ln>
          </p:spPr>
          <p:txBody>
            <a:bodyPr wrap="none" lIns="0" tIns="0" rIns="0" bIns="0" anchor="t" anchorCtr="0">
              <a:spAutoFit/>
            </a:bodyPr>
            <a:lstStyle/>
            <a:p>
              <a:pPr algn="l">
                <a:lnSpc>
                  <a:spcPts val="4350"/>
                </a:lnSpc>
              </a:pPr>
              <a:r>
                <a:rPr lang="en-AU" sz="3600" dirty="0">
                  <a:solidFill>
                    <a:schemeClr val="accent1"/>
                  </a:solidFill>
                  <a:latin typeface="+mj-lt"/>
                  <a:ea typeface="+mj-ea"/>
                  <a:cs typeface="+mj-cs"/>
                </a:rPr>
                <a:t>The crowd was returning</a:t>
              </a:r>
              <a:br/>
              <a:r>
                <a:rPr lang="en-AU" sz="3600" dirty="0">
                  <a:solidFill>
                    <a:schemeClr val="accent1"/>
                  </a:solidFill>
                  <a:latin typeface="+mj-lt"/>
                  <a:ea typeface="+mj-ea"/>
                  <a:cs typeface="+mj-cs"/>
                </a:rPr>
                <a:t>home, but I was not.</a:t>
              </a:r>
            </a:p>
          </p:txBody>
        </p:sp>
        <p:sp>
          <p:nvSpPr>
            <p:cNvPr id="6" name="TextBox 6"/>
            <p:cNvSpPr txBox="1"/>
            <p:nvPr/>
          </p:nvSpPr>
          <p:spPr>
            <a:xfrm>
              <a:off x="675132" y="3259455"/>
              <a:ext cx="5355336" cy="2315718"/>
            </a:xfrm>
            <a:prstGeom prst="rect">
              <a:avLst/>
            </a:prstGeom>
            <a:noFill/>
            <a:ln>
              <a:noFill/>
            </a:ln>
          </p:spPr>
          <p:txBody>
            <a:bodyPr wrap="none" lIns="0" tIns="0" rIns="0" bIns="0" anchor="t" anchorCtr="0">
              <a:spAutoFit/>
            </a:bodyPr>
            <a:lstStyle/>
            <a:p>
              <a:pPr algn="l">
                <a:lnSpc>
                  <a:spcPts val="3000"/>
                </a:lnSpc>
              </a:pPr>
              <a:r>
                <a:rPr lang="en-AU" sz="2100" dirty="0">
                  <a:solidFill>
                    <a:schemeClr val="dk1"/>
                  </a:solidFill>
                  <a:latin typeface="+mn-lt"/>
                  <a:ea typeface="+mn-ea"/>
                  <a:cs typeface="+mn-cs"/>
                </a:rPr>
                <a:t>The Lunar New Year rush at its peak; in a</a:t>
              </a:r>
              <a:br/>
              <a:r>
                <a:rPr lang="en-AU" sz="2100" dirty="0">
                  <a:solidFill>
                    <a:schemeClr val="dk1"/>
                  </a:solidFill>
                  <a:latin typeface="+mn-lt"/>
                  <a:ea typeface="+mn-ea"/>
                  <a:cs typeface="+mn-cs"/>
                </a:rPr>
                <a:t>few days I would fly back to Brisbane.</a:t>
              </a:r>
              <a:br/>
              <a:r>
                <a:rPr lang="en-AU" sz="2100" dirty="0">
                  <a:solidFill>
                    <a:schemeClr val="dk1"/>
                  </a:solidFill>
                  <a:latin typeface="+mn-lt"/>
                  <a:ea typeface="+mn-ea"/>
                  <a:cs typeface="+mn-cs"/>
                </a:rPr>
                <a:t>That tension — between those for whom</a:t>
              </a:r>
              <a:br/>
              <a:r>
                <a:rPr lang="en-AU" sz="2100" dirty="0">
                  <a:solidFill>
                    <a:schemeClr val="dk1"/>
                  </a:solidFill>
                  <a:latin typeface="+mn-lt"/>
                  <a:ea typeface="+mn-ea"/>
                  <a:cs typeface="+mn-cs"/>
                </a:rPr>
                <a:t>return is a way of life and those for</a:t>
              </a:r>
              <a:br/>
              <a:r>
                <a:rPr lang="en-AU" sz="2100" dirty="0">
                  <a:solidFill>
                    <a:schemeClr val="dk1"/>
                  </a:solidFill>
                  <a:latin typeface="+mn-lt"/>
                  <a:ea typeface="+mn-ea"/>
                  <a:cs typeface="+mn-cs"/>
                </a:rPr>
                <a:t>whom it has become a periodic exception</a:t>
              </a:r>
            </a:p>
            <a:p>
              <a:pPr algn="l">
                <a:lnSpc>
                  <a:spcPts val="3000"/>
                </a:lnSpc>
              </a:pPr>
              <a:r>
                <a:rPr lang="en-AU" sz="2100" dirty="0">
                  <a:solidFill>
                    <a:schemeClr val="dk1"/>
                  </a:solidFill>
                  <a:latin typeface="+mn-lt"/>
                  <a:ea typeface="+mn-ea"/>
                  <a:cs typeface="+mn-cs"/>
                </a:rPr>
                <a:t>— is where this research starts.</a:t>
              </a:r>
            </a:p>
          </p:txBody>
        </p:sp>
      </p:grpSp>
      <p:grpSp>
        <p:nvGrpSpPr>
          <p:cNvPr id="11" name="Group 11"/>
          <p:cNvGrpSpPr/>
          <p:nvPr/>
        </p:nvGrpSpPr>
        <p:grpSpPr>
          <a:xfrm>
            <a:off x="7268718" y="1638300"/>
            <a:ext cx="4237482" cy="3668839"/>
            <a:chOff x="7268718" y="1638300"/>
            <a:chExt cx="4237482" cy="3668839"/>
          </a:xfrm>
        </p:grpSpPr>
        <p:sp>
          <p:nvSpPr>
            <p:cNvPr id="8" name="Rectangle 8"/>
            <p:cNvSpPr/>
            <p:nvPr/>
          </p:nvSpPr>
          <p:spPr>
            <a:xfrm>
              <a:off x="7277100" y="1638300"/>
              <a:ext cx="4229100" cy="2819400"/>
            </a:xfrm>
            <a:prstGeom prst="rect">
              <a:avLst/>
            </a:prstGeom>
            <a:solidFill>
              <a:schemeClr val="lt2"/>
            </a:solidFill>
            <a:ln w="19050">
              <a:solidFill>
                <a:schemeClr val="accent3"/>
              </a:solidFill>
              <a:prstDash val="lgDash"/>
            </a:ln>
          </p:spPr>
        </p:sp>
        <p:sp>
          <p:nvSpPr>
            <p:cNvPr id="9" name="TextBox 9"/>
            <p:cNvSpPr txBox="1"/>
            <p:nvPr/>
          </p:nvSpPr>
          <p:spPr>
            <a:xfrm>
              <a:off x="8118965" y="2793682"/>
              <a:ext cx="2545371" cy="322707"/>
            </a:xfrm>
            <a:prstGeom prst="rect">
              <a:avLst/>
            </a:prstGeom>
            <a:noFill/>
            <a:ln>
              <a:noFill/>
            </a:ln>
          </p:spPr>
          <p:txBody>
            <a:bodyPr wrap="none" lIns="0" tIns="0" rIns="0" bIns="0" anchor="t" anchorCtr="0">
              <a:spAutoFit/>
            </a:bodyPr>
            <a:lstStyle/>
            <a:p>
              <a:pPr algn="ctr"/>
              <a:r>
                <a:rPr lang="en-AU" sz="1650" dirty="0">
                  <a:solidFill>
                    <a:schemeClr val="accent5"/>
                  </a:solidFill>
                  <a:latin typeface="+mn-lt"/>
                  <a:ea typeface="+mn-ea"/>
                  <a:cs typeface="+mn-cs"/>
                </a:rPr>
                <a:t>Photograph to be added</a:t>
              </a:r>
            </a:p>
          </p:txBody>
        </p:sp>
        <p:sp>
          <p:nvSpPr>
            <p:cNvPr id="10" name="TextBox 10"/>
            <p:cNvSpPr txBox="1"/>
            <p:nvPr/>
          </p:nvSpPr>
          <p:spPr>
            <a:xfrm>
              <a:off x="7268718" y="4679632"/>
              <a:ext cx="3715322" cy="627507"/>
            </a:xfrm>
            <a:prstGeom prst="rect">
              <a:avLst/>
            </a:prstGeom>
            <a:noFill/>
            <a:ln>
              <a:noFill/>
            </a:ln>
          </p:spPr>
          <p:txBody>
            <a:bodyPr wrap="none" lIns="0" tIns="0" rIns="0" bIns="0" anchor="t" anchorCtr="0">
              <a:spAutoFit/>
            </a:bodyPr>
            <a:lstStyle/>
            <a:p>
              <a:pPr algn="l">
                <a:lnSpc>
                  <a:spcPts val="2400"/>
                </a:lnSpc>
              </a:pPr>
              <a:r>
                <a:rPr lang="en-AU" sz="1650" dirty="0">
                  <a:solidFill>
                    <a:schemeClr val="accent5"/>
                  </a:solidFill>
                  <a:latin typeface="+mn-lt"/>
                  <a:ea typeface="+mn-ea"/>
                  <a:cs typeface="+mn-cs"/>
                </a:rPr>
                <a:t>Reserved — add your own photograph</a:t>
              </a:r>
              <a:br/>
              <a:r>
                <a:rPr lang="en-AU" sz="1650" dirty="0">
                  <a:solidFill>
                    <a:schemeClr val="accent5"/>
                  </a:solidFill>
                  <a:latin typeface="+mn-lt"/>
                  <a:ea typeface="+mn-ea"/>
                  <a:cs typeface="+mn-cs"/>
                </a:rPr>
                <a:t>of the station, 9 February 2026.</a:t>
              </a:r>
            </a:p>
          </p:txBody>
        </p:sp>
      </p:grpSp>
      <p:grpSp>
        <p:nvGrpSpPr>
          <p:cNvPr id="14" name="Group 14"/>
          <p:cNvGrpSpPr/>
          <p:nvPr/>
        </p:nvGrpSpPr>
        <p:grpSpPr>
          <a:xfrm>
            <a:off x="679704" y="6080760"/>
            <a:ext cx="10832592" cy="234696"/>
            <a:chOff x="679704" y="6080760"/>
            <a:chExt cx="10832592" cy="234696"/>
          </a:xfrm>
        </p:grpSpPr>
        <p:sp>
          <p:nvSpPr>
            <p:cNvPr id="12" name="TextBox 12"/>
            <p:cNvSpPr txBox="1"/>
            <p:nvPr/>
          </p:nvSpPr>
          <p:spPr>
            <a:xfrm>
              <a:off x="679704" y="6080760"/>
              <a:ext cx="3599609" cy="234696"/>
            </a:xfrm>
            <a:prstGeom prst="rect">
              <a:avLst/>
            </a:prstGeom>
            <a:noFill/>
            <a:ln>
              <a:noFill/>
            </a:ln>
          </p:spPr>
          <p:txBody>
            <a:bodyPr wrap="none" lIns="0" tIns="0" rIns="0" bIns="0" anchor="t" anchorCtr="0">
              <a:spAutoFit/>
            </a:bodyPr>
            <a:lstStyle/>
            <a:p>
              <a:pPr algn="l"/>
              <a:r>
                <a:rPr lang="en-AU" sz="1200" dirty="0">
                  <a:solidFill>
                    <a:schemeClr val="accent5"/>
                  </a:solidFill>
                  <a:latin typeface="+mn-lt"/>
                  <a:ea typeface="+mn-ea"/>
                  <a:cs typeface="+mn-cs"/>
                </a:rPr>
                <a:t>Root-Seeking · Xun Gen — Expanded 2026, Linz</a:t>
              </a:r>
            </a:p>
          </p:txBody>
        </p:sp>
        <p:sp>
          <p:nvSpPr>
            <p:cNvPr id="13" name="TextBox 13"/>
            <p:cNvSpPr txBox="1"/>
            <p:nvPr/>
          </p:nvSpPr>
          <p:spPr>
            <a:xfrm>
              <a:off x="11411255" y="6080760"/>
              <a:ext cx="101041" cy="234696"/>
            </a:xfrm>
            <a:prstGeom prst="rect">
              <a:avLst/>
            </a:prstGeom>
            <a:noFill/>
            <a:ln>
              <a:noFill/>
            </a:ln>
          </p:spPr>
          <p:txBody>
            <a:bodyPr wrap="none" lIns="0" tIns="0" rIns="0" bIns="0" anchor="t" anchorCtr="0">
              <a:spAutoFit/>
            </a:bodyPr>
            <a:lstStyle/>
            <a:p>
              <a:pPr algn="r"/>
              <a:r>
                <a:rPr lang="en-AU" sz="1200" dirty="0">
                  <a:solidFill>
                    <a:schemeClr val="accent5"/>
                  </a:solidFill>
                  <a:latin typeface="+mn-lt"/>
                  <a:ea typeface="+mn-ea"/>
                  <a:cs typeface="+mn-cs"/>
                </a:rPr>
                <a:t>2</a:t>
              </a:r>
            </a:p>
          </p:txBody>
        </p:sp>
      </p:gr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667512" y="678180"/>
            <a:ext cx="8217205" cy="704088"/>
            <a:chOff x="667512" y="678180"/>
            <a:chExt cx="8217205" cy="704088"/>
          </a:xfrm>
        </p:grpSpPr>
        <p:sp>
          <p:nvSpPr>
            <p:cNvPr id="2" name="TextBox 2"/>
            <p:cNvSpPr txBox="1"/>
            <p:nvPr/>
          </p:nvSpPr>
          <p:spPr>
            <a:xfrm>
              <a:off x="667512" y="678180"/>
              <a:ext cx="8217205" cy="704088"/>
            </a:xfrm>
            <a:prstGeom prst="rect">
              <a:avLst/>
            </a:prstGeom>
            <a:noFill/>
            <a:ln>
              <a:noFill/>
            </a:ln>
          </p:spPr>
          <p:txBody>
            <a:bodyPr wrap="none" lIns="0" tIns="0" rIns="0" bIns="0" anchor="t" anchorCtr="0">
              <a:spAutoFit/>
            </a:bodyPr>
            <a:lstStyle/>
            <a:p>
              <a:pPr algn="l"/>
              <a:r>
                <a:rPr lang="en-AU" sz="3600" dirty="0">
                  <a:solidFill>
                    <a:schemeClr val="accent1"/>
                  </a:solidFill>
                  <a:latin typeface="+mj-lt"/>
                  <a:ea typeface="+mj-ea"/>
                  <a:cs typeface="+mj-cs"/>
                </a:rPr>
                <a:t>Roots of soil, routes of mobility</a:t>
              </a:r>
            </a:p>
          </p:txBody>
        </p:sp>
        <p:sp>
          <p:nvSpPr>
            <p:cNvPr id="3" name="Rectangle 3"/>
            <p:cNvSpPr/>
            <p:nvPr/>
          </p:nvSpPr>
          <p:spPr>
            <a:xfrm>
              <a:off x="685800" y="1295400"/>
              <a:ext cx="2095500" cy="38100"/>
            </a:xfrm>
            <a:prstGeom prst="rect">
              <a:avLst/>
            </a:prstGeom>
            <a:solidFill>
              <a:schemeClr val="accent1"/>
            </a:solidFill>
            <a:ln>
              <a:noFill/>
            </a:ln>
          </p:spPr>
        </p:sp>
      </p:grpSp>
      <p:grpSp>
        <p:nvGrpSpPr>
          <p:cNvPr id="18" name="Group 18"/>
          <p:cNvGrpSpPr/>
          <p:nvPr/>
        </p:nvGrpSpPr>
        <p:grpSpPr>
          <a:xfrm>
            <a:off x="857250" y="1918335"/>
            <a:ext cx="9741186" cy="3866388"/>
            <a:chOff x="857250" y="1918335"/>
            <a:chExt cx="9741186" cy="3866388"/>
          </a:xfrm>
        </p:grpSpPr>
        <p:sp>
          <p:nvSpPr>
            <p:cNvPr id="5" name="Line 5"/>
            <p:cNvSpPr/>
            <p:nvPr/>
          </p:nvSpPr>
          <p:spPr>
            <a:xfrm>
              <a:off x="952500" y="2019300"/>
              <a:ext cx="9525" cy="3657600"/>
            </a:xfrm>
            <a:custGeom>
              <a:avLst/>
              <a:gdLst/>
              <a:ahLst/>
              <a:cxnLst/>
              <a:rect l="l" t="t" r="r" b="b"/>
              <a:pathLst>
                <a:path w="9525" h="3657600">
                  <a:moveTo>
                    <a:pt x="0" y="0"/>
                  </a:moveTo>
                  <a:lnTo>
                    <a:pt x="0" y="3657600"/>
                  </a:lnTo>
                </a:path>
              </a:pathLst>
            </a:custGeom>
            <a:noFill/>
            <a:ln w="19050">
              <a:solidFill>
                <a:schemeClr val="accent6"/>
              </a:solidFill>
            </a:ln>
          </p:spPr>
        </p:sp>
        <p:grpSp>
          <p:nvGrpSpPr>
            <p:cNvPr id="9" name="Group 9"/>
            <p:cNvGrpSpPr/>
            <p:nvPr/>
          </p:nvGrpSpPr>
          <p:grpSpPr>
            <a:xfrm>
              <a:off x="857250" y="1918335"/>
              <a:ext cx="9314688" cy="1275588"/>
              <a:chOff x="857250" y="1918335"/>
              <a:chExt cx="9314688" cy="1275588"/>
            </a:xfrm>
          </p:grpSpPr>
          <p:sp>
            <p:nvSpPr>
              <p:cNvPr id="6" name="Ellipse 6"/>
              <p:cNvSpPr/>
              <p:nvPr/>
            </p:nvSpPr>
            <p:spPr>
              <a:xfrm>
                <a:off x="857250" y="1990725"/>
                <a:ext cx="190500" cy="190500"/>
              </a:xfrm>
              <a:prstGeom prst="ellipse">
                <a:avLst/>
              </a:prstGeom>
              <a:solidFill>
                <a:schemeClr val="accent1"/>
              </a:solidFill>
              <a:ln>
                <a:noFill/>
              </a:ln>
            </p:spPr>
          </p:sp>
          <p:sp>
            <p:nvSpPr>
              <p:cNvPr id="7" name="TextBox 7"/>
              <p:cNvSpPr txBox="1"/>
              <p:nvPr/>
            </p:nvSpPr>
            <p:spPr>
              <a:xfrm>
                <a:off x="1319784" y="1918335"/>
                <a:ext cx="7535820" cy="528066"/>
              </a:xfrm>
              <a:prstGeom prst="rect">
                <a:avLst/>
              </a:prstGeom>
              <a:noFill/>
              <a:ln>
                <a:noFill/>
              </a:ln>
            </p:spPr>
            <p:txBody>
              <a:bodyPr wrap="none" lIns="0" tIns="0" rIns="0" bIns="0" anchor="t" anchorCtr="0">
                <a:spAutoFit/>
              </a:bodyPr>
              <a:lstStyle/>
              <a:p>
                <a:pPr algn="l"/>
                <a:r>
                  <a:rPr lang="en-AU" sz="2700" dirty="0">
                    <a:solidFill>
                      <a:schemeClr val="accent1"/>
                    </a:solidFill>
                    <a:latin typeface="+mj-lt"/>
                    <a:ea typeface="+mj-ea"/>
                    <a:cs typeface="+mj-cs"/>
                  </a:rPr>
                  <a:t>Fei Xiaotong — identity bound to the soil</a:t>
                </a:r>
              </a:p>
            </p:txBody>
          </p:sp>
          <p:sp>
            <p:nvSpPr>
              <p:cNvPr id="8" name="TextBox 8"/>
              <p:cNvSpPr txBox="1"/>
              <p:nvPr/>
            </p:nvSpPr>
            <p:spPr>
              <a:xfrm>
                <a:off x="1322832" y="2402205"/>
                <a:ext cx="8849106" cy="791718"/>
              </a:xfrm>
              <a:prstGeom prst="rect">
                <a:avLst/>
              </a:prstGeom>
              <a:noFill/>
              <a:ln>
                <a:noFill/>
              </a:ln>
            </p:spPr>
            <p:txBody>
              <a:bodyPr wrap="none" lIns="0" tIns="0" rIns="0" bIns="0" anchor="t" anchorCtr="0">
                <a:spAutoFit/>
              </a:bodyPr>
              <a:lstStyle/>
              <a:p>
                <a:pPr algn="l">
                  <a:lnSpc>
                    <a:spcPts val="3000"/>
                  </a:lnSpc>
                </a:pPr>
                <a:r>
                  <a:rPr lang="en-AU" sz="2100" dirty="0">
                    <a:solidFill>
                      <a:schemeClr val="dk1"/>
                    </a:solidFill>
                    <a:latin typeface="+mn-lt"/>
                    <a:ea typeface="+mn-ea"/>
                    <a:cs typeface="+mn-cs"/>
                  </a:rPr>
                  <a:t>Xiangtu society: identity, kinship and moral obligation are</a:t>
                </a:r>
                <a:br/>
                <a:r>
                  <a:rPr lang="en-AU" sz="2100" dirty="0">
                    <a:solidFill>
                      <a:schemeClr val="dk1"/>
                    </a:solidFill>
                    <a:latin typeface="+mn-lt"/>
                    <a:ea typeface="+mn-ea"/>
                    <a:cs typeface="+mn-cs"/>
                  </a:rPr>
                  <a:t>inseparable from the land of birth — Chaxu Geju, concentric circles.</a:t>
                </a:r>
              </a:p>
            </p:txBody>
          </p:sp>
        </p:grpSp>
        <p:grpSp>
          <p:nvGrpSpPr>
            <p:cNvPr id="13" name="Group 13"/>
            <p:cNvGrpSpPr/>
            <p:nvPr/>
          </p:nvGrpSpPr>
          <p:grpSpPr>
            <a:xfrm>
              <a:off x="857250" y="3213735"/>
              <a:ext cx="9181338" cy="1275588"/>
              <a:chOff x="857250" y="3213735"/>
              <a:chExt cx="9181338" cy="1275588"/>
            </a:xfrm>
          </p:grpSpPr>
          <p:sp>
            <p:nvSpPr>
              <p:cNvPr id="10" name="Ellipse 10"/>
              <p:cNvSpPr/>
              <p:nvPr/>
            </p:nvSpPr>
            <p:spPr>
              <a:xfrm>
                <a:off x="857250" y="3286125"/>
                <a:ext cx="190500" cy="190500"/>
              </a:xfrm>
              <a:prstGeom prst="ellipse">
                <a:avLst/>
              </a:prstGeom>
              <a:solidFill>
                <a:schemeClr val="accent2"/>
              </a:solidFill>
              <a:ln>
                <a:noFill/>
              </a:ln>
            </p:spPr>
          </p:sp>
          <p:sp>
            <p:nvSpPr>
              <p:cNvPr id="11" name="TextBox 11"/>
              <p:cNvSpPr txBox="1"/>
              <p:nvPr/>
            </p:nvSpPr>
            <p:spPr>
              <a:xfrm>
                <a:off x="1319784" y="3213735"/>
                <a:ext cx="6623835" cy="528066"/>
              </a:xfrm>
              <a:prstGeom prst="rect">
                <a:avLst/>
              </a:prstGeom>
              <a:noFill/>
              <a:ln>
                <a:noFill/>
              </a:ln>
            </p:spPr>
            <p:txBody>
              <a:bodyPr wrap="none" lIns="0" tIns="0" rIns="0" bIns="0" anchor="t" anchorCtr="0">
                <a:spAutoFit/>
              </a:bodyPr>
              <a:lstStyle/>
              <a:p>
                <a:pPr algn="l"/>
                <a:r>
                  <a:rPr lang="en-AU" sz="2700" dirty="0">
                    <a:solidFill>
                      <a:schemeClr val="accent1"/>
                    </a:solidFill>
                    <a:latin typeface="+mj-lt"/>
                    <a:ea typeface="+mj-ea"/>
                    <a:cs typeface="+mj-cs"/>
                  </a:rPr>
                  <a:t>Where that frame reaches its limit</a:t>
                </a:r>
              </a:p>
            </p:txBody>
          </p:sp>
          <p:sp>
            <p:nvSpPr>
              <p:cNvPr id="12" name="TextBox 12"/>
              <p:cNvSpPr txBox="1"/>
              <p:nvPr/>
            </p:nvSpPr>
            <p:spPr>
              <a:xfrm>
                <a:off x="1322832" y="3697605"/>
                <a:ext cx="8715756" cy="791718"/>
              </a:xfrm>
              <a:prstGeom prst="rect">
                <a:avLst/>
              </a:prstGeom>
              <a:noFill/>
              <a:ln>
                <a:noFill/>
              </a:ln>
            </p:spPr>
            <p:txBody>
              <a:bodyPr wrap="none" lIns="0" tIns="0" rIns="0" bIns="0" anchor="t" anchorCtr="0">
                <a:spAutoFit/>
              </a:bodyPr>
              <a:lstStyle/>
              <a:p>
                <a:pPr algn="l">
                  <a:lnSpc>
                    <a:spcPts val="3000"/>
                  </a:lnSpc>
                </a:pPr>
                <a:r>
                  <a:rPr lang="en-AU" sz="2100" dirty="0">
                    <a:solidFill>
                      <a:schemeClr val="dk1"/>
                    </a:solidFill>
                    <a:latin typeface="+mn-lt"/>
                    <a:ea typeface="+mn-ea"/>
                    <a:cs typeface="+mn-cs"/>
                  </a:rPr>
                  <a:t>For permanent transnational migrants the geographical centre has</a:t>
                </a:r>
                <a:br/>
                <a:r>
                  <a:rPr lang="en-AU" sz="2100" dirty="0">
                    <a:solidFill>
                      <a:schemeClr val="dk1"/>
                    </a:solidFill>
                    <a:latin typeface="+mn-lt"/>
                    <a:ea typeface="+mn-ea"/>
                    <a:cs typeface="+mn-cs"/>
                  </a:rPr>
                  <a:t>irreversibly shifted. Roots give way to routes.</a:t>
                </a:r>
              </a:p>
            </p:txBody>
          </p:sp>
        </p:grpSp>
        <p:grpSp>
          <p:nvGrpSpPr>
            <p:cNvPr id="17" name="Group 17"/>
            <p:cNvGrpSpPr/>
            <p:nvPr/>
          </p:nvGrpSpPr>
          <p:grpSpPr>
            <a:xfrm>
              <a:off x="857250" y="4509135"/>
              <a:ext cx="9741186" cy="1275588"/>
              <a:chOff x="857250" y="4509135"/>
              <a:chExt cx="9741186" cy="1275588"/>
            </a:xfrm>
          </p:grpSpPr>
          <p:sp>
            <p:nvSpPr>
              <p:cNvPr id="14" name="Ellipse 14"/>
              <p:cNvSpPr/>
              <p:nvPr/>
            </p:nvSpPr>
            <p:spPr>
              <a:xfrm>
                <a:off x="857250" y="4581525"/>
                <a:ext cx="190500" cy="190500"/>
              </a:xfrm>
              <a:prstGeom prst="ellipse">
                <a:avLst/>
              </a:prstGeom>
              <a:solidFill>
                <a:schemeClr val="accent1"/>
              </a:solidFill>
              <a:ln>
                <a:noFill/>
              </a:ln>
            </p:spPr>
          </p:sp>
          <p:sp>
            <p:nvSpPr>
              <p:cNvPr id="15" name="TextBox 15"/>
              <p:cNvSpPr txBox="1"/>
              <p:nvPr/>
            </p:nvSpPr>
            <p:spPr>
              <a:xfrm>
                <a:off x="1319784" y="4509135"/>
                <a:ext cx="9278652" cy="528066"/>
              </a:xfrm>
              <a:prstGeom prst="rect">
                <a:avLst/>
              </a:prstGeom>
              <a:noFill/>
              <a:ln>
                <a:noFill/>
              </a:ln>
            </p:spPr>
            <p:txBody>
              <a:bodyPr wrap="none" lIns="0" tIns="0" rIns="0" bIns="0" anchor="t" anchorCtr="0">
                <a:spAutoFit/>
              </a:bodyPr>
              <a:lstStyle/>
              <a:p>
                <a:pPr algn="l"/>
                <a:r>
                  <a:rPr lang="en-AU" sz="2700" dirty="0">
                    <a:solidFill>
                      <a:schemeClr val="accent1"/>
                    </a:solidFill>
                    <a:latin typeface="+mj-lt"/>
                    <a:ea typeface="+mj-ea"/>
                    <a:cs typeface="+mj-cs"/>
                  </a:rPr>
                  <a:t>Brah — homing desire, and a body that remembers</a:t>
                </a:r>
              </a:p>
            </p:txBody>
          </p:sp>
          <p:sp>
            <p:nvSpPr>
              <p:cNvPr id="16" name="TextBox 16"/>
              <p:cNvSpPr txBox="1"/>
              <p:nvPr/>
            </p:nvSpPr>
            <p:spPr>
              <a:xfrm>
                <a:off x="1322832" y="4993005"/>
                <a:ext cx="7715631" cy="791718"/>
              </a:xfrm>
              <a:prstGeom prst="rect">
                <a:avLst/>
              </a:prstGeom>
              <a:noFill/>
              <a:ln>
                <a:noFill/>
              </a:ln>
            </p:spPr>
            <p:txBody>
              <a:bodyPr wrap="none" lIns="0" tIns="0" rIns="0" bIns="0" anchor="t" anchorCtr="0">
                <a:spAutoFit/>
              </a:bodyPr>
              <a:lstStyle/>
              <a:p>
                <a:pPr algn="l">
                  <a:lnSpc>
                    <a:spcPts val="3000"/>
                  </a:lnSpc>
                </a:pPr>
                <a:r>
                  <a:rPr lang="en-AU" sz="2100" dirty="0">
                    <a:solidFill>
                      <a:schemeClr val="dk1"/>
                    </a:solidFill>
                    <a:latin typeface="+mn-lt"/>
                    <a:ea typeface="+mn-ea"/>
                    <a:cs typeface="+mn-cs"/>
                  </a:rPr>
                  <a:t>Home is “a mythic place of desire” — a feeling constructed,</a:t>
                </a:r>
                <a:br/>
                <a:r>
                  <a:rPr lang="en-AU" sz="2100" dirty="0">
                    <a:solidFill>
                      <a:schemeClr val="dk1"/>
                    </a:solidFill>
                    <a:latin typeface="+mn-lt"/>
                    <a:ea typeface="+mn-ea"/>
                    <a:cs typeface="+mn-cs"/>
                  </a:rPr>
                  <a:t>not a place reached. Connerton then puts it in the body.</a:t>
                </a:r>
              </a:p>
            </p:txBody>
          </p:sp>
        </p:grpSp>
      </p:grpSp>
      <p:grpSp>
        <p:nvGrpSpPr>
          <p:cNvPr id="21" name="Group 21"/>
          <p:cNvGrpSpPr/>
          <p:nvPr/>
        </p:nvGrpSpPr>
        <p:grpSpPr>
          <a:xfrm>
            <a:off x="679704" y="6080760"/>
            <a:ext cx="10832592" cy="234696"/>
            <a:chOff x="679704" y="6080760"/>
            <a:chExt cx="10832592" cy="234696"/>
          </a:xfrm>
        </p:grpSpPr>
        <p:sp>
          <p:nvSpPr>
            <p:cNvPr id="19" name="TextBox 19"/>
            <p:cNvSpPr txBox="1"/>
            <p:nvPr/>
          </p:nvSpPr>
          <p:spPr>
            <a:xfrm>
              <a:off x="679704" y="6080760"/>
              <a:ext cx="3599609" cy="234696"/>
            </a:xfrm>
            <a:prstGeom prst="rect">
              <a:avLst/>
            </a:prstGeom>
            <a:noFill/>
            <a:ln>
              <a:noFill/>
            </a:ln>
          </p:spPr>
          <p:txBody>
            <a:bodyPr wrap="none" lIns="0" tIns="0" rIns="0" bIns="0" anchor="t" anchorCtr="0">
              <a:spAutoFit/>
            </a:bodyPr>
            <a:lstStyle/>
            <a:p>
              <a:pPr algn="l"/>
              <a:r>
                <a:rPr lang="en-AU" sz="1200" dirty="0">
                  <a:solidFill>
                    <a:schemeClr val="accent5"/>
                  </a:solidFill>
                  <a:latin typeface="+mn-lt"/>
                  <a:ea typeface="+mn-ea"/>
                  <a:cs typeface="+mn-cs"/>
                </a:rPr>
                <a:t>Root-Seeking · Xun Gen — Expanded 2026, Linz</a:t>
              </a:r>
            </a:p>
          </p:txBody>
        </p:sp>
        <p:sp>
          <p:nvSpPr>
            <p:cNvPr id="20" name="TextBox 20"/>
            <p:cNvSpPr txBox="1"/>
            <p:nvPr/>
          </p:nvSpPr>
          <p:spPr>
            <a:xfrm>
              <a:off x="11411255" y="6080760"/>
              <a:ext cx="101041" cy="234696"/>
            </a:xfrm>
            <a:prstGeom prst="rect">
              <a:avLst/>
            </a:prstGeom>
            <a:noFill/>
            <a:ln>
              <a:noFill/>
            </a:ln>
          </p:spPr>
          <p:txBody>
            <a:bodyPr wrap="none" lIns="0" tIns="0" rIns="0" bIns="0" anchor="t" anchorCtr="0">
              <a:spAutoFit/>
            </a:bodyPr>
            <a:lstStyle/>
            <a:p>
              <a:pPr algn="r"/>
              <a:r>
                <a:rPr lang="en-AU" sz="1200" dirty="0">
                  <a:solidFill>
                    <a:schemeClr val="accent5"/>
                  </a:solidFill>
                  <a:latin typeface="+mn-lt"/>
                  <a:ea typeface="+mn-ea"/>
                  <a:cs typeface="+mn-cs"/>
                </a:rPr>
                <a:t>3</a:t>
              </a:r>
            </a:p>
          </p:txBody>
        </p:sp>
      </p:gr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667512" y="678180"/>
            <a:ext cx="5914050" cy="704088"/>
            <a:chOff x="667512" y="678180"/>
            <a:chExt cx="5914050" cy="704088"/>
          </a:xfrm>
        </p:grpSpPr>
        <p:sp>
          <p:nvSpPr>
            <p:cNvPr id="2" name="TextBox 2"/>
            <p:cNvSpPr txBox="1"/>
            <p:nvPr/>
          </p:nvSpPr>
          <p:spPr>
            <a:xfrm>
              <a:off x="667512" y="678180"/>
              <a:ext cx="5914050" cy="704088"/>
            </a:xfrm>
            <a:prstGeom prst="rect">
              <a:avLst/>
            </a:prstGeom>
            <a:noFill/>
            <a:ln>
              <a:noFill/>
            </a:ln>
          </p:spPr>
          <p:txBody>
            <a:bodyPr wrap="none" lIns="0" tIns="0" rIns="0" bIns="0" anchor="t" anchorCtr="0">
              <a:spAutoFit/>
            </a:bodyPr>
            <a:lstStyle/>
            <a:p>
              <a:pPr algn="l"/>
              <a:r>
                <a:rPr lang="en-AU" sz="3600" dirty="0">
                  <a:solidFill>
                    <a:schemeClr val="accent1"/>
                  </a:solidFill>
                  <a:latin typeface="+mj-lt"/>
                  <a:ea typeface="+mj-ea"/>
                  <a:cs typeface="+mj-cs"/>
                </a:rPr>
                <a:t>What has not been built</a:t>
              </a:r>
            </a:p>
          </p:txBody>
        </p:sp>
        <p:sp>
          <p:nvSpPr>
            <p:cNvPr id="3" name="Rectangle 3"/>
            <p:cNvSpPr/>
            <p:nvPr/>
          </p:nvSpPr>
          <p:spPr>
            <a:xfrm>
              <a:off x="685800" y="1295400"/>
              <a:ext cx="2095500" cy="38100"/>
            </a:xfrm>
            <a:prstGeom prst="rect">
              <a:avLst/>
            </a:prstGeom>
            <a:solidFill>
              <a:schemeClr val="accent1"/>
            </a:solidFill>
            <a:ln>
              <a:noFill/>
            </a:ln>
          </p:spPr>
        </p:sp>
      </p:grpSp>
      <p:grpSp>
        <p:nvGrpSpPr>
          <p:cNvPr id="6" name="Group 6"/>
          <p:cNvGrpSpPr/>
          <p:nvPr/>
        </p:nvGrpSpPr>
        <p:grpSpPr>
          <a:xfrm>
            <a:off x="672846" y="1858328"/>
            <a:ext cx="9288018" cy="1375029"/>
            <a:chOff x="672846" y="1858328"/>
            <a:chExt cx="9288018" cy="1375029"/>
          </a:xfrm>
        </p:grpSpPr>
        <p:sp>
          <p:nvSpPr>
            <p:cNvPr id="5" name="TextBox 5"/>
            <p:cNvSpPr txBox="1"/>
            <p:nvPr/>
          </p:nvSpPr>
          <p:spPr>
            <a:xfrm>
              <a:off x="672846" y="1858328"/>
              <a:ext cx="9288018" cy="1375029"/>
            </a:xfrm>
            <a:prstGeom prst="rect">
              <a:avLst/>
            </a:prstGeom>
            <a:noFill/>
            <a:ln>
              <a:noFill/>
            </a:ln>
          </p:spPr>
          <p:txBody>
            <a:bodyPr wrap="none" lIns="0" tIns="0" rIns="0" bIns="0" anchor="t" anchorCtr="0">
              <a:spAutoFit/>
            </a:bodyPr>
            <a:lstStyle/>
            <a:p>
              <a:pPr algn="l">
                <a:lnSpc>
                  <a:spcPts val="3450"/>
                </a:lnSpc>
              </a:pPr>
              <a:r>
                <a:rPr lang="en-AU" sz="2550" dirty="0">
                  <a:solidFill>
                    <a:schemeClr val="dk1"/>
                  </a:solidFill>
                  <a:latin typeface="+mn-lt"/>
                  <a:ea typeface="+mn-ea"/>
                  <a:cs typeface="+mn-cs"/>
                </a:rPr>
                <a:t xml:space="preserve">No peer-reviewed, empirically validated </a:t>
              </a:r>
              <a:r>
                <a:rPr lang="en-AU" sz="2550" b="1" dirty="0">
                  <a:solidFill>
                    <a:schemeClr val="accent1"/>
                  </a:solidFill>
                  <a:latin typeface="+mn-lt"/>
                  <a:ea typeface="+mn-ea"/>
                  <a:cs typeface="+mn-cs"/>
                </a:rPr>
                <a:t>social VR</a:t>
              </a:r>
              <a:br/>
              <a:r>
                <a:rPr lang="en-AU" sz="2550" dirty="0">
                  <a:solidFill>
                    <a:schemeClr val="dk1"/>
                  </a:solidFill>
                  <a:latin typeface="+mn-lt"/>
                  <a:ea typeface="+mn-ea"/>
                  <a:cs typeface="+mn-cs"/>
                </a:rPr>
                <a:t>environment has been designed for the cultural and spatial</a:t>
              </a:r>
              <a:br/>
              <a:r>
                <a:rPr lang="en-AU" sz="2550" dirty="0">
                  <a:solidFill>
                    <a:schemeClr val="dk1"/>
                  </a:solidFill>
                  <a:latin typeface="+mn-lt"/>
                  <a:ea typeface="+mn-ea"/>
                  <a:cs typeface="+mn-cs"/>
                </a:rPr>
                <a:t>needs of the Chinese diaspora.</a:t>
              </a:r>
            </a:p>
          </p:txBody>
        </p:sp>
      </p:grpSp>
      <p:grpSp>
        <p:nvGrpSpPr>
          <p:cNvPr id="9" name="Group 9"/>
          <p:cNvGrpSpPr/>
          <p:nvPr/>
        </p:nvGrpSpPr>
        <p:grpSpPr>
          <a:xfrm>
            <a:off x="675132" y="3517582"/>
            <a:ext cx="4675251" cy="2305241"/>
            <a:chOff x="675132" y="3517582"/>
            <a:chExt cx="4675251" cy="2305241"/>
          </a:xfrm>
        </p:grpSpPr>
        <p:sp>
          <p:nvSpPr>
            <p:cNvPr id="7" name="TextBox 7"/>
            <p:cNvSpPr txBox="1"/>
            <p:nvPr/>
          </p:nvSpPr>
          <p:spPr>
            <a:xfrm>
              <a:off x="677418" y="3517582"/>
              <a:ext cx="2877507" cy="322707"/>
            </a:xfrm>
            <a:prstGeom prst="rect">
              <a:avLst/>
            </a:prstGeom>
            <a:noFill/>
            <a:ln>
              <a:noFill/>
            </a:ln>
          </p:spPr>
          <p:txBody>
            <a:bodyPr wrap="none" lIns="0" tIns="0" rIns="0" bIns="0" anchor="t" anchorCtr="0">
              <a:spAutoFit/>
            </a:bodyPr>
            <a:lstStyle/>
            <a:p>
              <a:pPr algn="l"/>
              <a:r>
                <a:rPr lang="en-AU" sz="1650" dirty="0">
                  <a:solidFill>
                    <a:schemeClr val="accent5"/>
                  </a:solidFill>
                  <a:latin typeface="+mn-lt"/>
                  <a:ea typeface="+mn-ea"/>
                  <a:cs typeface="+mn-cs"/>
                </a:rPr>
                <a:t>Existing digital strategies</a:t>
              </a:r>
            </a:p>
          </p:txBody>
        </p:sp>
        <p:sp>
          <p:nvSpPr>
            <p:cNvPr id="8" name="TextBox 8"/>
            <p:cNvSpPr txBox="1"/>
            <p:nvPr/>
          </p:nvSpPr>
          <p:spPr>
            <a:xfrm>
              <a:off x="675132" y="3888105"/>
              <a:ext cx="4675251" cy="1934718"/>
            </a:xfrm>
            <a:prstGeom prst="rect">
              <a:avLst/>
            </a:prstGeom>
            <a:noFill/>
            <a:ln>
              <a:noFill/>
            </a:ln>
          </p:spPr>
          <p:txBody>
            <a:bodyPr wrap="none" lIns="0" tIns="0" rIns="0" bIns="0" anchor="t" anchorCtr="0">
              <a:spAutoFit/>
            </a:bodyPr>
            <a:lstStyle/>
            <a:p>
              <a:pPr algn="l">
                <a:lnSpc>
                  <a:spcPts val="3000"/>
                </a:lnSpc>
              </a:pPr>
              <a:r>
                <a:rPr lang="en-AU" sz="2100" dirty="0">
                  <a:solidFill>
                    <a:schemeClr val="dk1"/>
                  </a:solidFill>
                  <a:latin typeface="+mn-lt"/>
                  <a:ea typeface="+mn-ea"/>
                  <a:cs typeface="+mn-cs"/>
                </a:rPr>
                <a:t>WeChat, video calls and social media</a:t>
              </a:r>
              <a:br/>
              <a:r>
                <a:rPr lang="en-AU" sz="2100" dirty="0">
                  <a:solidFill>
                    <a:schemeClr val="dk1"/>
                  </a:solidFill>
                  <a:latin typeface="+mn-lt"/>
                  <a:ea typeface="+mn-ea"/>
                  <a:cs typeface="+mn-cs"/>
                </a:rPr>
                <a:t>sustain relationships at a distance</a:t>
              </a:r>
            </a:p>
            <a:p>
              <a:pPr algn="l">
                <a:lnSpc>
                  <a:spcPts val="3000"/>
                </a:lnSpc>
              </a:pPr>
              <a:r>
                <a:rPr lang="en-AU" sz="2100" dirty="0">
                  <a:solidFill>
                    <a:schemeClr val="dk1"/>
                  </a:solidFill>
                  <a:latin typeface="+mn-lt"/>
                  <a:ea typeface="+mn-ea"/>
                  <a:cs typeface="+mn-cs"/>
                </a:rPr>
                <a:t>— but not the embodied spatial</a:t>
              </a:r>
              <a:br/>
              <a:r>
                <a:rPr lang="en-AU" sz="2100" dirty="0">
                  <a:solidFill>
                    <a:schemeClr val="dk1"/>
                  </a:solidFill>
                  <a:latin typeface="+mn-lt"/>
                  <a:ea typeface="+mn-ea"/>
                  <a:cs typeface="+mn-cs"/>
                </a:rPr>
                <a:t>familiarity Fei identified as the</a:t>
              </a:r>
              <a:br/>
              <a:r>
                <a:rPr lang="en-AU" sz="2100" dirty="0">
                  <a:solidFill>
                    <a:schemeClr val="dk1"/>
                  </a:solidFill>
                  <a:latin typeface="+mn-lt"/>
                  <a:ea typeface="+mn-ea"/>
                  <a:cs typeface="+mn-cs"/>
                </a:rPr>
                <a:t>bedrock of Xiangtu society.</a:t>
              </a:r>
            </a:p>
          </p:txBody>
        </p:sp>
      </p:grpSp>
      <p:grpSp>
        <p:nvGrpSpPr>
          <p:cNvPr id="13" name="Group 13"/>
          <p:cNvGrpSpPr/>
          <p:nvPr/>
        </p:nvGrpSpPr>
        <p:grpSpPr>
          <a:xfrm>
            <a:off x="6096000" y="3429000"/>
            <a:ext cx="4870323" cy="2393823"/>
            <a:chOff x="6096000" y="3429000"/>
            <a:chExt cx="4870323" cy="2393823"/>
          </a:xfrm>
        </p:grpSpPr>
        <p:sp>
          <p:nvSpPr>
            <p:cNvPr id="10" name="Line 10"/>
            <p:cNvSpPr/>
            <p:nvPr/>
          </p:nvSpPr>
          <p:spPr>
            <a:xfrm>
              <a:off x="6096000" y="3429000"/>
              <a:ext cx="9525" cy="2343150"/>
            </a:xfrm>
            <a:custGeom>
              <a:avLst/>
              <a:gdLst/>
              <a:ahLst/>
              <a:cxnLst/>
              <a:rect l="l" t="t" r="r" b="b"/>
              <a:pathLst>
                <a:path w="9525" h="2343150">
                  <a:moveTo>
                    <a:pt x="0" y="0"/>
                  </a:moveTo>
                  <a:lnTo>
                    <a:pt x="0" y="2343150"/>
                  </a:lnTo>
                </a:path>
              </a:pathLst>
            </a:custGeom>
            <a:noFill/>
            <a:ln w="19050">
              <a:solidFill>
                <a:schemeClr val="accent6"/>
              </a:solidFill>
            </a:ln>
          </p:spPr>
        </p:sp>
        <p:sp>
          <p:nvSpPr>
            <p:cNvPr id="11" name="TextBox 11"/>
            <p:cNvSpPr txBox="1"/>
            <p:nvPr/>
          </p:nvSpPr>
          <p:spPr>
            <a:xfrm>
              <a:off x="6240018" y="3517582"/>
              <a:ext cx="3348877" cy="322707"/>
            </a:xfrm>
            <a:prstGeom prst="rect">
              <a:avLst/>
            </a:prstGeom>
            <a:noFill/>
            <a:ln>
              <a:noFill/>
            </a:ln>
          </p:spPr>
          <p:txBody>
            <a:bodyPr wrap="none" lIns="0" tIns="0" rIns="0" bIns="0" anchor="t" anchorCtr="0">
              <a:spAutoFit/>
            </a:bodyPr>
            <a:lstStyle/>
            <a:p>
              <a:pPr algn="l"/>
              <a:r>
                <a:rPr lang="en-AU" sz="1650" dirty="0">
                  <a:solidFill>
                    <a:schemeClr val="accent5"/>
                  </a:solidFill>
                  <a:latin typeface="+mn-lt"/>
                  <a:ea typeface="+mn-ea"/>
                  <a:cs typeface="+mn-cs"/>
                </a:rPr>
                <a:t>Existing VR-for-diaspora work</a:t>
              </a:r>
            </a:p>
          </p:txBody>
        </p:sp>
        <p:sp>
          <p:nvSpPr>
            <p:cNvPr id="12" name="TextBox 12"/>
            <p:cNvSpPr txBox="1"/>
            <p:nvPr/>
          </p:nvSpPr>
          <p:spPr>
            <a:xfrm>
              <a:off x="6237732" y="3888105"/>
              <a:ext cx="4728591" cy="1934718"/>
            </a:xfrm>
            <a:prstGeom prst="rect">
              <a:avLst/>
            </a:prstGeom>
            <a:noFill/>
            <a:ln>
              <a:noFill/>
            </a:ln>
          </p:spPr>
          <p:txBody>
            <a:bodyPr wrap="none" lIns="0" tIns="0" rIns="0" bIns="0" anchor="t" anchorCtr="0">
              <a:spAutoFit/>
            </a:bodyPr>
            <a:lstStyle/>
            <a:p>
              <a:pPr algn="l">
                <a:lnSpc>
                  <a:spcPts val="3000"/>
                </a:lnSpc>
              </a:pPr>
              <a:r>
                <a:rPr lang="en-AU" sz="2100" dirty="0">
                  <a:solidFill>
                    <a:schemeClr val="dk1"/>
                  </a:solidFill>
                  <a:latin typeface="+mn-lt"/>
                  <a:ea typeface="+mn-ea"/>
                  <a:cs typeface="+mn-cs"/>
                </a:rPr>
                <a:t>Preliminary studies either lacked</a:t>
              </a:r>
              <a:br/>
              <a:r>
                <a:rPr lang="en-AU" sz="2100" dirty="0">
                  <a:solidFill>
                    <a:schemeClr val="dk1"/>
                  </a:solidFill>
                  <a:latin typeface="+mn-lt"/>
                  <a:ea typeface="+mn-ea"/>
                  <a:cs typeface="+mn-cs"/>
                </a:rPr>
                <a:t>cultural specificity or focused</a:t>
              </a:r>
              <a:br/>
              <a:r>
                <a:rPr lang="en-AU" sz="2100" dirty="0">
                  <a:solidFill>
                    <a:schemeClr val="dk1"/>
                  </a:solidFill>
                  <a:latin typeface="+mn-lt"/>
                  <a:ea typeface="+mn-ea"/>
                  <a:cs typeface="+mn-cs"/>
                </a:rPr>
                <a:t>narrowly on students. None centres</a:t>
              </a:r>
              <a:br/>
              <a:r>
                <a:rPr lang="en-AU" sz="2100" dirty="0">
                  <a:solidFill>
                    <a:schemeClr val="dk1"/>
                  </a:solidFill>
                  <a:latin typeface="+mn-lt"/>
                  <a:ea typeface="+mn-ea"/>
                  <a:cs typeface="+mn-cs"/>
                </a:rPr>
                <a:t>the classical Chinese garden as a</a:t>
              </a:r>
              <a:br/>
              <a:r>
                <a:rPr lang="en-AU" sz="2100" dirty="0">
                  <a:solidFill>
                    <a:schemeClr val="dk1"/>
                  </a:solidFill>
                  <a:latin typeface="+mn-lt"/>
                  <a:ea typeface="+mn-ea"/>
                  <a:cs typeface="+mn-cs"/>
                </a:rPr>
                <a:t>carrier for root-seeking.</a:t>
              </a:r>
            </a:p>
          </p:txBody>
        </p:sp>
      </p:grpSp>
      <p:grpSp>
        <p:nvGrpSpPr>
          <p:cNvPr id="16" name="Group 16"/>
          <p:cNvGrpSpPr/>
          <p:nvPr/>
        </p:nvGrpSpPr>
        <p:grpSpPr>
          <a:xfrm>
            <a:off x="679704" y="6080760"/>
            <a:ext cx="10832592" cy="234696"/>
            <a:chOff x="679704" y="6080760"/>
            <a:chExt cx="10832592" cy="234696"/>
          </a:xfrm>
        </p:grpSpPr>
        <p:sp>
          <p:nvSpPr>
            <p:cNvPr id="14" name="TextBox 14"/>
            <p:cNvSpPr txBox="1"/>
            <p:nvPr/>
          </p:nvSpPr>
          <p:spPr>
            <a:xfrm>
              <a:off x="679704" y="6080760"/>
              <a:ext cx="3599609" cy="234696"/>
            </a:xfrm>
            <a:prstGeom prst="rect">
              <a:avLst/>
            </a:prstGeom>
            <a:noFill/>
            <a:ln>
              <a:noFill/>
            </a:ln>
          </p:spPr>
          <p:txBody>
            <a:bodyPr wrap="none" lIns="0" tIns="0" rIns="0" bIns="0" anchor="t" anchorCtr="0">
              <a:spAutoFit/>
            </a:bodyPr>
            <a:lstStyle/>
            <a:p>
              <a:pPr algn="l"/>
              <a:r>
                <a:rPr lang="en-AU" sz="1200" dirty="0">
                  <a:solidFill>
                    <a:schemeClr val="accent5"/>
                  </a:solidFill>
                  <a:latin typeface="+mn-lt"/>
                  <a:ea typeface="+mn-ea"/>
                  <a:cs typeface="+mn-cs"/>
                </a:rPr>
                <a:t>Root-Seeking · Xun Gen — Expanded 2026, Linz</a:t>
              </a:r>
            </a:p>
          </p:txBody>
        </p:sp>
        <p:sp>
          <p:nvSpPr>
            <p:cNvPr id="15" name="TextBox 15"/>
            <p:cNvSpPr txBox="1"/>
            <p:nvPr/>
          </p:nvSpPr>
          <p:spPr>
            <a:xfrm>
              <a:off x="11411255" y="6080760"/>
              <a:ext cx="101041" cy="234696"/>
            </a:xfrm>
            <a:prstGeom prst="rect">
              <a:avLst/>
            </a:prstGeom>
            <a:noFill/>
            <a:ln>
              <a:noFill/>
            </a:ln>
          </p:spPr>
          <p:txBody>
            <a:bodyPr wrap="none" lIns="0" tIns="0" rIns="0" bIns="0" anchor="t" anchorCtr="0">
              <a:spAutoFit/>
            </a:bodyPr>
            <a:lstStyle/>
            <a:p>
              <a:pPr algn="r"/>
              <a:r>
                <a:rPr lang="en-AU" sz="1200" dirty="0">
                  <a:solidFill>
                    <a:schemeClr val="accent5"/>
                  </a:solidFill>
                  <a:latin typeface="+mn-lt"/>
                  <a:ea typeface="+mn-ea"/>
                  <a:cs typeface="+mn-cs"/>
                </a:rPr>
                <a:t>4</a:t>
              </a:r>
            </a:p>
          </p:txBody>
        </p:sp>
      </p:gr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667512" y="678180"/>
            <a:ext cx="3502609" cy="704088"/>
            <a:chOff x="667512" y="678180"/>
            <a:chExt cx="3502609" cy="704088"/>
          </a:xfrm>
        </p:grpSpPr>
        <p:sp>
          <p:nvSpPr>
            <p:cNvPr id="2" name="TextBox 2"/>
            <p:cNvSpPr txBox="1"/>
            <p:nvPr/>
          </p:nvSpPr>
          <p:spPr>
            <a:xfrm>
              <a:off x="667512" y="678180"/>
              <a:ext cx="3502609" cy="704088"/>
            </a:xfrm>
            <a:prstGeom prst="rect">
              <a:avLst/>
            </a:prstGeom>
            <a:noFill/>
            <a:ln>
              <a:noFill/>
            </a:ln>
          </p:spPr>
          <p:txBody>
            <a:bodyPr wrap="none" lIns="0" tIns="0" rIns="0" bIns="0" anchor="t" anchorCtr="0">
              <a:spAutoFit/>
            </a:bodyPr>
            <a:lstStyle/>
            <a:p>
              <a:pPr algn="l"/>
              <a:r>
                <a:rPr lang="en-AU" sz="3600" dirty="0">
                  <a:solidFill>
                    <a:schemeClr val="accent1"/>
                  </a:solidFill>
                  <a:latin typeface="+mj-lt"/>
                  <a:ea typeface="+mj-ea"/>
                  <a:cs typeface="+mj-cs"/>
                </a:rPr>
                <a:t>The questions</a:t>
              </a:r>
            </a:p>
          </p:txBody>
        </p:sp>
        <p:sp>
          <p:nvSpPr>
            <p:cNvPr id="3" name="Rectangle 3"/>
            <p:cNvSpPr/>
            <p:nvPr/>
          </p:nvSpPr>
          <p:spPr>
            <a:xfrm>
              <a:off x="685800" y="1295400"/>
              <a:ext cx="2095500" cy="38100"/>
            </a:xfrm>
            <a:prstGeom prst="rect">
              <a:avLst/>
            </a:prstGeom>
            <a:solidFill>
              <a:schemeClr val="accent1"/>
            </a:solidFill>
            <a:ln>
              <a:noFill/>
            </a:ln>
          </p:spPr>
        </p:sp>
      </p:grpSp>
      <p:grpSp>
        <p:nvGrpSpPr>
          <p:cNvPr id="7" name="Group 7"/>
          <p:cNvGrpSpPr/>
          <p:nvPr/>
        </p:nvGrpSpPr>
        <p:grpSpPr>
          <a:xfrm>
            <a:off x="672084" y="1784032"/>
            <a:ext cx="8668512" cy="1824419"/>
            <a:chOff x="672084" y="1784032"/>
            <a:chExt cx="8668512" cy="1824419"/>
          </a:xfrm>
        </p:grpSpPr>
        <p:sp>
          <p:nvSpPr>
            <p:cNvPr id="5" name="TextBox 5"/>
            <p:cNvSpPr txBox="1"/>
            <p:nvPr/>
          </p:nvSpPr>
          <p:spPr>
            <a:xfrm>
              <a:off x="677418" y="1784032"/>
              <a:ext cx="2733637" cy="322707"/>
            </a:xfrm>
            <a:prstGeom prst="rect">
              <a:avLst/>
            </a:prstGeom>
            <a:noFill/>
            <a:ln>
              <a:noFill/>
            </a:ln>
          </p:spPr>
          <p:txBody>
            <a:bodyPr wrap="none" lIns="0" tIns="0" rIns="0" bIns="0" anchor="t" anchorCtr="0">
              <a:spAutoFit/>
            </a:bodyPr>
            <a:lstStyle/>
            <a:p>
              <a:pPr algn="l"/>
              <a:r>
                <a:rPr lang="en-AU" sz="1650" dirty="0">
                  <a:solidFill>
                    <a:schemeClr val="accent5"/>
                  </a:solidFill>
                  <a:latin typeface="+mn-lt"/>
                  <a:ea typeface="+mn-ea"/>
                  <a:cs typeface="+mn-cs"/>
                </a:rPr>
                <a:t>The overarching question</a:t>
              </a:r>
            </a:p>
          </p:txBody>
        </p:sp>
        <p:sp>
          <p:nvSpPr>
            <p:cNvPr id="6" name="TextBox 6"/>
            <p:cNvSpPr txBox="1"/>
            <p:nvPr/>
          </p:nvSpPr>
          <p:spPr>
            <a:xfrm>
              <a:off x="672084" y="2165985"/>
              <a:ext cx="8668512" cy="1442466"/>
            </a:xfrm>
            <a:prstGeom prst="rect">
              <a:avLst/>
            </a:prstGeom>
            <a:noFill/>
            <a:ln>
              <a:noFill/>
            </a:ln>
          </p:spPr>
          <p:txBody>
            <a:bodyPr wrap="none" lIns="0" tIns="0" rIns="0" bIns="0" anchor="t" anchorCtr="0">
              <a:spAutoFit/>
            </a:bodyPr>
            <a:lstStyle/>
            <a:p>
              <a:pPr algn="l">
                <a:lnSpc>
                  <a:spcPts val="3600"/>
                </a:lnSpc>
              </a:pPr>
              <a:r>
                <a:rPr lang="en-AU" sz="2700" dirty="0">
                  <a:solidFill>
                    <a:schemeClr val="accent1"/>
                  </a:solidFill>
                  <a:latin typeface="+mj-lt"/>
                  <a:ea typeface="+mj-ea"/>
                  <a:cs typeface="+mj-cs"/>
                </a:rPr>
                <a:t>When permanent physical return is no longer viable,</a:t>
              </a:r>
              <a:br/>
              <a:r>
                <a:rPr lang="en-AU" sz="2700" dirty="0">
                  <a:solidFill>
                    <a:schemeClr val="accent1"/>
                  </a:solidFill>
                  <a:latin typeface="+mj-lt"/>
                  <a:ea typeface="+mj-ea"/>
                  <a:cs typeface="+mj-cs"/>
                </a:rPr>
                <a:t>how can the sensory, spatial and social conditions</a:t>
              </a:r>
              <a:br/>
              <a:r>
                <a:rPr lang="en-AU" sz="2700" dirty="0">
                  <a:solidFill>
                    <a:schemeClr val="accent1"/>
                  </a:solidFill>
                  <a:latin typeface="+mj-lt"/>
                  <a:ea typeface="+mj-ea"/>
                  <a:cs typeface="+mj-cs"/>
                </a:rPr>
                <a:t>of cultural belonging be reconstituted elsewhere?</a:t>
              </a:r>
            </a:p>
          </p:txBody>
        </p:sp>
      </p:grpSp>
      <p:grpSp>
        <p:nvGrpSpPr>
          <p:cNvPr id="13" name="Group 13"/>
          <p:cNvGrpSpPr/>
          <p:nvPr/>
        </p:nvGrpSpPr>
        <p:grpSpPr>
          <a:xfrm>
            <a:off x="675132" y="3771900"/>
            <a:ext cx="10831068" cy="2031873"/>
            <a:chOff x="675132" y="3771900"/>
            <a:chExt cx="10831068" cy="2031873"/>
          </a:xfrm>
        </p:grpSpPr>
        <p:sp>
          <p:nvSpPr>
            <p:cNvPr id="8" name="Line 8"/>
            <p:cNvSpPr/>
            <p:nvPr/>
          </p:nvSpPr>
          <p:spPr>
            <a:xfrm>
              <a:off x="685800" y="3771900"/>
              <a:ext cx="10820400" cy="9525"/>
            </a:xfrm>
            <a:custGeom>
              <a:avLst/>
              <a:gdLst/>
              <a:ahLst/>
              <a:cxnLst/>
              <a:rect l="l" t="t" r="r" b="b"/>
              <a:pathLst>
                <a:path w="10820400" h="9525">
                  <a:moveTo>
                    <a:pt x="0" y="0"/>
                  </a:moveTo>
                  <a:lnTo>
                    <a:pt x="10820400" y="0"/>
                  </a:lnTo>
                </a:path>
              </a:pathLst>
            </a:custGeom>
            <a:noFill/>
            <a:ln w="19050">
              <a:solidFill>
                <a:schemeClr val="accent6"/>
              </a:solidFill>
            </a:ln>
          </p:spPr>
        </p:sp>
        <p:sp>
          <p:nvSpPr>
            <p:cNvPr id="9" name="TextBox 9"/>
            <p:cNvSpPr txBox="1"/>
            <p:nvPr/>
          </p:nvSpPr>
          <p:spPr>
            <a:xfrm>
              <a:off x="677418" y="3898582"/>
              <a:ext cx="7623429" cy="627507"/>
            </a:xfrm>
            <a:prstGeom prst="rect">
              <a:avLst/>
            </a:prstGeom>
            <a:noFill/>
            <a:ln>
              <a:noFill/>
            </a:ln>
          </p:spPr>
          <p:txBody>
            <a:bodyPr wrap="none" lIns="0" tIns="0" rIns="0" bIns="0" anchor="t" anchorCtr="0">
              <a:spAutoFit/>
            </a:bodyPr>
            <a:lstStyle/>
            <a:p>
              <a:pPr algn="l">
                <a:lnSpc>
                  <a:spcPts val="2400"/>
                </a:lnSpc>
              </a:pPr>
              <a:r>
                <a:rPr lang="en-AU" sz="1650" dirty="0">
                  <a:solidFill>
                    <a:schemeClr val="accent5"/>
                  </a:solidFill>
                  <a:latin typeface="+mn-lt"/>
                  <a:ea typeface="+mn-ea"/>
                  <a:cs typeface="+mn-cs"/>
                </a:rPr>
                <a:t>Operationalised through one designed case — the garden is an instrumental</a:t>
              </a:r>
              <a:br/>
              <a:r>
                <a:rPr lang="en-AU" sz="1650" dirty="0">
                  <a:solidFill>
                    <a:schemeClr val="accent5"/>
                  </a:solidFill>
                  <a:latin typeface="+mn-lt"/>
                  <a:ea typeface="+mn-ea"/>
                  <a:cs typeface="+mn-cs"/>
                </a:rPr>
                <a:t>case, not the object of the thesis</a:t>
              </a:r>
            </a:p>
          </p:txBody>
        </p:sp>
        <p:sp>
          <p:nvSpPr>
            <p:cNvPr id="10" name="TextBox 10"/>
            <p:cNvSpPr txBox="1"/>
            <p:nvPr/>
          </p:nvSpPr>
          <p:spPr>
            <a:xfrm>
              <a:off x="675132" y="4554855"/>
              <a:ext cx="8749915" cy="410718"/>
            </a:xfrm>
            <a:prstGeom prst="rect">
              <a:avLst/>
            </a:prstGeom>
            <a:noFill/>
            <a:ln>
              <a:noFill/>
            </a:ln>
          </p:spPr>
          <p:txBody>
            <a:bodyPr wrap="none" lIns="0" tIns="0" rIns="0" bIns="0" anchor="t" anchorCtr="0">
              <a:spAutoFit/>
            </a:bodyPr>
            <a:lstStyle/>
            <a:p>
              <a:pPr algn="l"/>
              <a:r>
                <a:rPr lang="en-AU" sz="2100" b="1" dirty="0">
                  <a:solidFill>
                    <a:schemeClr val="accent2"/>
                  </a:solidFill>
                  <a:latin typeface="+mn-lt"/>
                  <a:ea typeface="+mn-ea"/>
                  <a:cs typeface="+mn-cs"/>
                </a:rPr>
                <a:t>Q1</a:t>
              </a:r>
              <a:r>
                <a:rPr lang="en-AU" sz="2100" dirty="0">
                  <a:solidFill>
                    <a:schemeClr val="dk1"/>
                  </a:solidFill>
                  <a:latin typeface="+mn-lt"/>
                  <a:ea typeface="+mn-ea"/>
                  <a:cs typeface="+mn-cs"/>
                </a:rPr>
                <a:t xml:space="preserve"> Which cultural, spatial and sensory elements are essential?</a:t>
              </a:r>
            </a:p>
          </p:txBody>
        </p:sp>
        <p:sp>
          <p:nvSpPr>
            <p:cNvPr id="11" name="TextBox 11"/>
            <p:cNvSpPr txBox="1"/>
            <p:nvPr/>
          </p:nvSpPr>
          <p:spPr>
            <a:xfrm>
              <a:off x="675132" y="4973955"/>
              <a:ext cx="8962181" cy="410718"/>
            </a:xfrm>
            <a:prstGeom prst="rect">
              <a:avLst/>
            </a:prstGeom>
            <a:noFill/>
            <a:ln>
              <a:noFill/>
            </a:ln>
          </p:spPr>
          <p:txBody>
            <a:bodyPr wrap="none" lIns="0" tIns="0" rIns="0" bIns="0" anchor="t" anchorCtr="0">
              <a:spAutoFit/>
            </a:bodyPr>
            <a:lstStyle/>
            <a:p>
              <a:pPr algn="l"/>
              <a:r>
                <a:rPr lang="en-AU" sz="2100" b="1" dirty="0">
                  <a:solidFill>
                    <a:schemeClr val="accent2"/>
                  </a:solidFill>
                  <a:latin typeface="+mn-lt"/>
                  <a:ea typeface="+mn-ea"/>
                  <a:cs typeface="+mn-cs"/>
                </a:rPr>
                <a:t>Q2</a:t>
              </a:r>
              <a:r>
                <a:rPr lang="en-AU" sz="2100" dirty="0">
                  <a:solidFill>
                    <a:schemeClr val="dk1"/>
                  </a:solidFill>
                  <a:latin typeface="+mn-lt"/>
                  <a:ea typeface="+mn-ea"/>
                  <a:cs typeface="+mn-cs"/>
                </a:rPr>
                <a:t xml:space="preserve"> How can co-design engage diaspora communities in shaping it?</a:t>
              </a:r>
            </a:p>
          </p:txBody>
        </p:sp>
        <p:sp>
          <p:nvSpPr>
            <p:cNvPr id="12" name="TextBox 12"/>
            <p:cNvSpPr txBox="1"/>
            <p:nvPr/>
          </p:nvSpPr>
          <p:spPr>
            <a:xfrm>
              <a:off x="675132" y="5393055"/>
              <a:ext cx="8749730" cy="410718"/>
            </a:xfrm>
            <a:prstGeom prst="rect">
              <a:avLst/>
            </a:prstGeom>
            <a:noFill/>
            <a:ln>
              <a:noFill/>
            </a:ln>
          </p:spPr>
          <p:txBody>
            <a:bodyPr wrap="none" lIns="0" tIns="0" rIns="0" bIns="0" anchor="t" anchorCtr="0">
              <a:spAutoFit/>
            </a:bodyPr>
            <a:lstStyle/>
            <a:p>
              <a:pPr algn="l"/>
              <a:r>
                <a:rPr lang="en-AU" sz="2100" b="1" dirty="0">
                  <a:solidFill>
                    <a:schemeClr val="accent2"/>
                  </a:solidFill>
                  <a:latin typeface="+mn-lt"/>
                  <a:ea typeface="+mn-ea"/>
                  <a:cs typeface="+mn-cs"/>
                </a:rPr>
                <a:t>Q3</a:t>
              </a:r>
              <a:r>
                <a:rPr lang="en-AU" sz="2100" dirty="0">
                  <a:solidFill>
                    <a:schemeClr val="dk1"/>
                  </a:solidFill>
                  <a:latin typeface="+mn-lt"/>
                  <a:ea typeface="+mn-ea"/>
                  <a:cs typeface="+mn-cs"/>
                </a:rPr>
                <a:t xml:space="preserve"> How do participants experience belonging and reconnection?</a:t>
              </a:r>
            </a:p>
          </p:txBody>
        </p:sp>
      </p:grpSp>
      <p:grpSp>
        <p:nvGrpSpPr>
          <p:cNvPr id="16" name="Group 16"/>
          <p:cNvGrpSpPr/>
          <p:nvPr/>
        </p:nvGrpSpPr>
        <p:grpSpPr>
          <a:xfrm>
            <a:off x="679704" y="6080760"/>
            <a:ext cx="10832592" cy="234696"/>
            <a:chOff x="679704" y="6080760"/>
            <a:chExt cx="10832592" cy="234696"/>
          </a:xfrm>
        </p:grpSpPr>
        <p:sp>
          <p:nvSpPr>
            <p:cNvPr id="14" name="TextBox 14"/>
            <p:cNvSpPr txBox="1"/>
            <p:nvPr/>
          </p:nvSpPr>
          <p:spPr>
            <a:xfrm>
              <a:off x="679704" y="6080760"/>
              <a:ext cx="3599609" cy="234696"/>
            </a:xfrm>
            <a:prstGeom prst="rect">
              <a:avLst/>
            </a:prstGeom>
            <a:noFill/>
            <a:ln>
              <a:noFill/>
            </a:ln>
          </p:spPr>
          <p:txBody>
            <a:bodyPr wrap="none" lIns="0" tIns="0" rIns="0" bIns="0" anchor="t" anchorCtr="0">
              <a:spAutoFit/>
            </a:bodyPr>
            <a:lstStyle/>
            <a:p>
              <a:pPr algn="l"/>
              <a:r>
                <a:rPr lang="en-AU" sz="1200" dirty="0">
                  <a:solidFill>
                    <a:schemeClr val="accent5"/>
                  </a:solidFill>
                  <a:latin typeface="+mn-lt"/>
                  <a:ea typeface="+mn-ea"/>
                  <a:cs typeface="+mn-cs"/>
                </a:rPr>
                <a:t>Root-Seeking · Xun Gen — Expanded 2026, Linz</a:t>
              </a:r>
            </a:p>
          </p:txBody>
        </p:sp>
        <p:sp>
          <p:nvSpPr>
            <p:cNvPr id="15" name="TextBox 15"/>
            <p:cNvSpPr txBox="1"/>
            <p:nvPr/>
          </p:nvSpPr>
          <p:spPr>
            <a:xfrm>
              <a:off x="11411255" y="6080760"/>
              <a:ext cx="101041" cy="234696"/>
            </a:xfrm>
            <a:prstGeom prst="rect">
              <a:avLst/>
            </a:prstGeom>
            <a:noFill/>
            <a:ln>
              <a:noFill/>
            </a:ln>
          </p:spPr>
          <p:txBody>
            <a:bodyPr wrap="none" lIns="0" tIns="0" rIns="0" bIns="0" anchor="t" anchorCtr="0">
              <a:spAutoFit/>
            </a:bodyPr>
            <a:lstStyle/>
            <a:p>
              <a:pPr algn="r"/>
              <a:r>
                <a:rPr lang="en-AU" sz="1200" dirty="0">
                  <a:solidFill>
                    <a:schemeClr val="accent5"/>
                  </a:solidFill>
                  <a:latin typeface="+mn-lt"/>
                  <a:ea typeface="+mn-ea"/>
                  <a:cs typeface="+mn-cs"/>
                </a:rPr>
                <a:t>5</a:t>
              </a:r>
            </a:p>
          </p:txBody>
        </p:sp>
      </p:gr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667512" y="678180"/>
            <a:ext cx="8754403" cy="704088"/>
            <a:chOff x="667512" y="678180"/>
            <a:chExt cx="8754403" cy="704088"/>
          </a:xfrm>
        </p:grpSpPr>
        <p:sp>
          <p:nvSpPr>
            <p:cNvPr id="2" name="TextBox 2"/>
            <p:cNvSpPr txBox="1"/>
            <p:nvPr/>
          </p:nvSpPr>
          <p:spPr>
            <a:xfrm>
              <a:off x="667512" y="678180"/>
              <a:ext cx="8754403" cy="704088"/>
            </a:xfrm>
            <a:prstGeom prst="rect">
              <a:avLst/>
            </a:prstGeom>
            <a:noFill/>
            <a:ln>
              <a:noFill/>
            </a:ln>
          </p:spPr>
          <p:txBody>
            <a:bodyPr wrap="none" lIns="0" tIns="0" rIns="0" bIns="0" anchor="t" anchorCtr="0">
              <a:spAutoFit/>
            </a:bodyPr>
            <a:lstStyle/>
            <a:p>
              <a:pPr algn="l"/>
              <a:r>
                <a:rPr lang="en-AU" sz="3600" dirty="0">
                  <a:solidFill>
                    <a:schemeClr val="accent1"/>
                  </a:solidFill>
                  <a:latin typeface="+mj-lt"/>
                  <a:ea typeface="+mj-ea"/>
                  <a:cs typeface="+mj-cs"/>
                </a:rPr>
                <a:t>A three-phase participatory study</a:t>
              </a:r>
            </a:p>
          </p:txBody>
        </p:sp>
        <p:sp>
          <p:nvSpPr>
            <p:cNvPr id="3" name="Rectangle 3"/>
            <p:cNvSpPr/>
            <p:nvPr/>
          </p:nvSpPr>
          <p:spPr>
            <a:xfrm>
              <a:off x="685800" y="1295400"/>
              <a:ext cx="2095500" cy="38100"/>
            </a:xfrm>
            <a:prstGeom prst="rect">
              <a:avLst/>
            </a:prstGeom>
            <a:solidFill>
              <a:schemeClr val="accent1"/>
            </a:solidFill>
            <a:ln>
              <a:noFill/>
            </a:ln>
          </p:spPr>
        </p:sp>
      </p:grpSp>
      <p:grpSp>
        <p:nvGrpSpPr>
          <p:cNvPr id="11" name="Group 11"/>
          <p:cNvGrpSpPr/>
          <p:nvPr/>
        </p:nvGrpSpPr>
        <p:grpSpPr>
          <a:xfrm>
            <a:off x="666750" y="1714500"/>
            <a:ext cx="3419475" cy="3630739"/>
            <a:chOff x="666750" y="1714500"/>
            <a:chExt cx="3419475" cy="3630739"/>
          </a:xfrm>
        </p:grpSpPr>
        <p:sp>
          <p:nvSpPr>
            <p:cNvPr id="5" name="Freeform 5"/>
            <p:cNvSpPr/>
            <p:nvPr/>
          </p:nvSpPr>
          <p:spPr>
            <a:xfrm>
              <a:off x="685800" y="1714500"/>
              <a:ext cx="3400425" cy="533400"/>
            </a:xfrm>
            <a:prstGeom prst="chevron">
              <a:avLst/>
            </a:prstGeom>
            <a:solidFill>
              <a:schemeClr val="accent1"/>
            </a:solidFill>
            <a:ln>
              <a:noFill/>
            </a:ln>
          </p:spPr>
        </p:sp>
        <p:sp>
          <p:nvSpPr>
            <p:cNvPr id="6" name="Freeform 6"/>
            <p:cNvSpPr/>
            <p:nvPr/>
          </p:nvSpPr>
          <p:spPr>
            <a:xfrm>
              <a:off x="1130300" y="1851234"/>
              <a:ext cx="255323" cy="256965"/>
            </a:xfrm>
            <a:custGeom>
              <a:avLst/>
              <a:gdLst/>
              <a:ahLst/>
              <a:cxnLst/>
              <a:rect l="l" t="t" r="r" b="b"/>
              <a:pathLst>
                <a:path w="255323" h="256965">
                  <a:moveTo>
                    <a:pt x="12700" y="2966"/>
                  </a:moveTo>
                  <a:cubicBezTo>
                    <a:pt x="19714" y="2966"/>
                    <a:pt x="25400" y="8652"/>
                    <a:pt x="25400" y="15666"/>
                  </a:cubicBezTo>
                  <a:lnTo>
                    <a:pt x="25400" y="231565"/>
                  </a:lnTo>
                  <a:lnTo>
                    <a:pt x="241299" y="231565"/>
                  </a:lnTo>
                  <a:cubicBezTo>
                    <a:pt x="247738" y="231566"/>
                    <a:pt x="253157" y="236385"/>
                    <a:pt x="253910" y="242779"/>
                  </a:cubicBezTo>
                  <a:lnTo>
                    <a:pt x="253999" y="244265"/>
                  </a:lnTo>
                  <a:cubicBezTo>
                    <a:pt x="253999" y="251279"/>
                    <a:pt x="248313" y="256965"/>
                    <a:pt x="241299" y="256965"/>
                  </a:cubicBezTo>
                  <a:lnTo>
                    <a:pt x="12700" y="256965"/>
                  </a:lnTo>
                  <a:cubicBezTo>
                    <a:pt x="5686" y="256965"/>
                    <a:pt x="0" y="251279"/>
                    <a:pt x="0" y="244265"/>
                  </a:cubicBezTo>
                  <a:lnTo>
                    <a:pt x="0" y="15666"/>
                  </a:lnTo>
                  <a:cubicBezTo>
                    <a:pt x="0" y="8652"/>
                    <a:pt x="5686" y="2966"/>
                    <a:pt x="12700" y="2966"/>
                  </a:cubicBezTo>
                  <a:moveTo>
                    <a:pt x="253618" y="12580"/>
                  </a:moveTo>
                  <a:cubicBezTo>
                    <a:pt x="255323" y="19383"/>
                    <a:pt x="251189" y="26280"/>
                    <a:pt x="244385" y="27985"/>
                  </a:cubicBezTo>
                  <a:lnTo>
                    <a:pt x="177634" y="44673"/>
                  </a:lnTo>
                  <a:cubicBezTo>
                    <a:pt x="176993" y="51383"/>
                    <a:pt x="174583" y="57803"/>
                    <a:pt x="170649" y="63278"/>
                  </a:cubicBezTo>
                  <a:lnTo>
                    <a:pt x="193103" y="93225"/>
                  </a:lnTo>
                  <a:cubicBezTo>
                    <a:pt x="204565" y="90091"/>
                    <a:pt x="216833" y="92478"/>
                    <a:pt x="226283" y="99682"/>
                  </a:cubicBezTo>
                  <a:cubicBezTo>
                    <a:pt x="235733" y="106886"/>
                    <a:pt x="241285" y="118083"/>
                    <a:pt x="241299" y="129966"/>
                  </a:cubicBezTo>
                  <a:cubicBezTo>
                    <a:pt x="241300" y="146507"/>
                    <a:pt x="230626" y="161159"/>
                    <a:pt x="214881" y="166231"/>
                  </a:cubicBezTo>
                  <a:cubicBezTo>
                    <a:pt x="199136" y="171303"/>
                    <a:pt x="181917" y="165635"/>
                    <a:pt x="172262" y="152203"/>
                  </a:cubicBezTo>
                  <a:lnTo>
                    <a:pt x="126923" y="170339"/>
                  </a:lnTo>
                  <a:cubicBezTo>
                    <a:pt x="125626" y="190846"/>
                    <a:pt x="108301" y="206630"/>
                    <a:pt x="87762" y="206017"/>
                  </a:cubicBezTo>
                  <a:cubicBezTo>
                    <a:pt x="67223" y="205403"/>
                    <a:pt x="50871" y="188613"/>
                    <a:pt x="50800" y="168065"/>
                  </a:cubicBezTo>
                  <a:lnTo>
                    <a:pt x="50863" y="165830"/>
                  </a:lnTo>
                  <a:cubicBezTo>
                    <a:pt x="51810" y="149731"/>
                    <a:pt x="62790" y="135972"/>
                    <a:pt x="78278" y="131477"/>
                  </a:cubicBezTo>
                  <a:cubicBezTo>
                    <a:pt x="93765" y="126982"/>
                    <a:pt x="110406" y="132725"/>
                    <a:pt x="119824" y="145815"/>
                  </a:cubicBezTo>
                  <a:lnTo>
                    <a:pt x="165163" y="127680"/>
                  </a:lnTo>
                  <a:lnTo>
                    <a:pt x="165354" y="125521"/>
                  </a:lnTo>
                  <a:cubicBezTo>
                    <a:pt x="166116" y="118942"/>
                    <a:pt x="168567" y="112871"/>
                    <a:pt x="172237" y="107741"/>
                  </a:cubicBezTo>
                  <a:lnTo>
                    <a:pt x="149796" y="77807"/>
                  </a:lnTo>
                  <a:cubicBezTo>
                    <a:pt x="138334" y="80941"/>
                    <a:pt x="126066" y="78553"/>
                    <a:pt x="116616" y="71349"/>
                  </a:cubicBezTo>
                  <a:cubicBezTo>
                    <a:pt x="107167" y="64145"/>
                    <a:pt x="101614" y="52948"/>
                    <a:pt x="101600" y="41066"/>
                  </a:cubicBezTo>
                  <a:lnTo>
                    <a:pt x="101663" y="38831"/>
                  </a:lnTo>
                  <a:cubicBezTo>
                    <a:pt x="102621" y="22454"/>
                    <a:pt x="113953" y="8530"/>
                    <a:pt x="129793" y="4265"/>
                  </a:cubicBezTo>
                  <a:cubicBezTo>
                    <a:pt x="145633" y="0"/>
                    <a:pt x="162425" y="6353"/>
                    <a:pt x="171475" y="20035"/>
                  </a:cubicBezTo>
                  <a:lnTo>
                    <a:pt x="238213" y="3347"/>
                  </a:lnTo>
                  <a:cubicBezTo>
                    <a:pt x="245017" y="1643"/>
                    <a:pt x="251914" y="5776"/>
                    <a:pt x="253618" y="12580"/>
                  </a:cubicBezTo>
                </a:path>
              </a:pathLst>
            </a:custGeom>
            <a:solidFill>
              <a:schemeClr val="lt1"/>
            </a:solidFill>
            <a:ln>
              <a:noFill/>
            </a:ln>
          </p:spPr>
        </p:sp>
        <p:sp>
          <p:nvSpPr>
            <p:cNvPr id="7" name="TextBox 7"/>
            <p:cNvSpPr txBox="1"/>
            <p:nvPr/>
          </p:nvSpPr>
          <p:spPr>
            <a:xfrm>
              <a:off x="1515618" y="1898332"/>
              <a:ext cx="1166774" cy="322707"/>
            </a:xfrm>
            <a:prstGeom prst="rect">
              <a:avLst/>
            </a:prstGeom>
            <a:noFill/>
            <a:ln>
              <a:noFill/>
            </a:ln>
          </p:spPr>
          <p:txBody>
            <a:bodyPr wrap="none" lIns="0" tIns="0" rIns="0" bIns="0" anchor="t" anchorCtr="0">
              <a:spAutoFit/>
            </a:bodyPr>
            <a:lstStyle/>
            <a:p>
              <a:pPr algn="l"/>
              <a:r>
                <a:rPr lang="en-AU" sz="1650" dirty="0">
                  <a:solidFill>
                    <a:srgbClr val="FFFFFF"/>
                  </a:solidFill>
                  <a:latin typeface="+mn-lt"/>
                  <a:ea typeface="+mn-ea"/>
                  <a:cs typeface="+mn-cs"/>
                </a:rPr>
                <a:t>PHASE ONE</a:t>
              </a:r>
            </a:p>
          </p:txBody>
        </p:sp>
        <p:sp>
          <p:nvSpPr>
            <p:cNvPr id="8" name="TextBox 8"/>
            <p:cNvSpPr txBox="1"/>
            <p:nvPr/>
          </p:nvSpPr>
          <p:spPr>
            <a:xfrm>
              <a:off x="672084" y="2470785"/>
              <a:ext cx="2587866" cy="528066"/>
            </a:xfrm>
            <a:prstGeom prst="rect">
              <a:avLst/>
            </a:prstGeom>
            <a:noFill/>
            <a:ln>
              <a:noFill/>
            </a:ln>
          </p:spPr>
          <p:txBody>
            <a:bodyPr wrap="none" lIns="0" tIns="0" rIns="0" bIns="0" anchor="t" anchorCtr="0">
              <a:spAutoFit/>
            </a:bodyPr>
            <a:lstStyle/>
            <a:p>
              <a:pPr algn="l"/>
              <a:r>
                <a:rPr lang="en-AU" sz="2700" dirty="0">
                  <a:solidFill>
                    <a:schemeClr val="accent1"/>
                  </a:solidFill>
                  <a:latin typeface="+mj-lt"/>
                  <a:ea typeface="+mj-ea"/>
                  <a:cs typeface="+mj-cs"/>
                </a:rPr>
                <a:t>Requirements</a:t>
              </a:r>
            </a:p>
          </p:txBody>
        </p:sp>
        <p:sp>
          <p:nvSpPr>
            <p:cNvPr id="9" name="TextBox 9"/>
            <p:cNvSpPr txBox="1"/>
            <p:nvPr/>
          </p:nvSpPr>
          <p:spPr>
            <a:xfrm>
              <a:off x="666750" y="3089910"/>
              <a:ext cx="1017662" cy="819150"/>
            </a:xfrm>
            <a:prstGeom prst="rect">
              <a:avLst/>
            </a:prstGeom>
            <a:noFill/>
            <a:ln>
              <a:noFill/>
            </a:ln>
          </p:spPr>
          <p:txBody>
            <a:bodyPr wrap="none" lIns="0" tIns="0" rIns="0" bIns="0" anchor="t" anchorCtr="0">
              <a:spAutoFit/>
            </a:bodyPr>
            <a:lstStyle/>
            <a:p>
              <a:pPr algn="l"/>
              <a:r>
                <a:rPr lang="en-AU" sz="4200" b="1" dirty="0">
                  <a:solidFill>
                    <a:schemeClr val="accent1"/>
                  </a:solidFill>
                  <a:latin typeface="+mn-lt"/>
                  <a:ea typeface="+mn-ea"/>
                  <a:cs typeface="+mn-cs"/>
                </a:rPr>
                <a:t>172</a:t>
              </a:r>
            </a:p>
          </p:txBody>
        </p:sp>
        <p:sp>
          <p:nvSpPr>
            <p:cNvPr id="10" name="TextBox 10"/>
            <p:cNvSpPr txBox="1"/>
            <p:nvPr/>
          </p:nvSpPr>
          <p:spPr>
            <a:xfrm>
              <a:off x="677418" y="3803332"/>
              <a:ext cx="3139059" cy="1541907"/>
            </a:xfrm>
            <a:prstGeom prst="rect">
              <a:avLst/>
            </a:prstGeom>
            <a:noFill/>
            <a:ln>
              <a:noFill/>
            </a:ln>
          </p:spPr>
          <p:txBody>
            <a:bodyPr wrap="none" lIns="0" tIns="0" rIns="0" bIns="0" anchor="t" anchorCtr="0">
              <a:spAutoFit/>
            </a:bodyPr>
            <a:lstStyle/>
            <a:p>
              <a:pPr algn="l">
                <a:lnSpc>
                  <a:spcPts val="2400"/>
                </a:lnSpc>
              </a:pPr>
              <a:r>
                <a:rPr lang="en-AU" sz="1650" dirty="0">
                  <a:solidFill>
                    <a:schemeClr val="dk1"/>
                  </a:solidFill>
                  <a:latin typeface="+mn-lt"/>
                  <a:ea typeface="+mn-ea"/>
                  <a:cs typeface="+mn-cs"/>
                </a:rPr>
                <a:t>retained diaspora responses</a:t>
              </a:r>
              <a:br/>
              <a:r>
                <a:rPr lang="en-AU" sz="1650" dirty="0">
                  <a:solidFill>
                    <a:schemeClr val="dk1"/>
                  </a:solidFill>
                  <a:latin typeface="+mn-lt"/>
                  <a:ea typeface="+mn-ea"/>
                  <a:cs typeface="+mn-cs"/>
                </a:rPr>
                <a:t>of 206 returned</a:t>
              </a:r>
              <a:br/>
              <a:r>
                <a:rPr lang="en-AU" sz="1650" dirty="0">
                  <a:solidFill>
                    <a:schemeClr val="dk1"/>
                  </a:solidFill>
                  <a:latin typeface="+mn-lt"/>
                  <a:ea typeface="+mn-ea"/>
                  <a:cs typeface="+mn-cs"/>
                </a:rPr>
                <a:t>50 visitors and staff on site</a:t>
              </a:r>
              <a:br/>
              <a:r>
                <a:rPr lang="en-AU" sz="1650" dirty="0">
                  <a:solidFill>
                    <a:schemeClr val="dk1"/>
                  </a:solidFill>
                  <a:latin typeface="+mn-lt"/>
                  <a:ea typeface="+mn-ea"/>
                  <a:cs typeface="+mn-cs"/>
                </a:rPr>
                <a:t>27 written questionnaires</a:t>
              </a:r>
              <a:br/>
              <a:r>
                <a:rPr lang="en-AU" sz="1650" dirty="0">
                  <a:solidFill>
                    <a:schemeClr val="dk1"/>
                  </a:solidFill>
                  <a:latin typeface="+mn-lt"/>
                  <a:ea typeface="+mn-ea"/>
                  <a:cs typeface="+mn-cs"/>
                </a:rPr>
                <a:t>40 demonstration participants</a:t>
              </a:r>
            </a:p>
          </p:txBody>
        </p:sp>
      </p:grpSp>
      <p:grpSp>
        <p:nvGrpSpPr>
          <p:cNvPr id="18" name="Group 18"/>
          <p:cNvGrpSpPr/>
          <p:nvPr/>
        </p:nvGrpSpPr>
        <p:grpSpPr>
          <a:xfrm>
            <a:off x="4371975" y="1714500"/>
            <a:ext cx="3419475" cy="3630739"/>
            <a:chOff x="4371975" y="1714500"/>
            <a:chExt cx="3419475" cy="3630739"/>
          </a:xfrm>
        </p:grpSpPr>
        <p:sp>
          <p:nvSpPr>
            <p:cNvPr id="12" name="Freeform 12"/>
            <p:cNvSpPr/>
            <p:nvPr/>
          </p:nvSpPr>
          <p:spPr>
            <a:xfrm>
              <a:off x="4391025" y="1714500"/>
              <a:ext cx="3400425" cy="533400"/>
            </a:xfrm>
            <a:prstGeom prst="chevron">
              <a:avLst/>
            </a:prstGeom>
            <a:solidFill>
              <a:schemeClr val="accent2"/>
            </a:solidFill>
            <a:ln>
              <a:noFill/>
            </a:ln>
          </p:spPr>
        </p:sp>
        <p:sp>
          <p:nvSpPr>
            <p:cNvPr id="13" name="Freeform 13"/>
            <p:cNvSpPr/>
            <p:nvPr/>
          </p:nvSpPr>
          <p:spPr>
            <a:xfrm>
              <a:off x="4835525" y="1866900"/>
              <a:ext cx="253999" cy="241894"/>
            </a:xfrm>
            <a:custGeom>
              <a:avLst/>
              <a:gdLst/>
              <a:ahLst/>
              <a:cxnLst/>
              <a:rect l="l" t="t" r="r" b="b"/>
              <a:pathLst>
                <a:path w="253999" h="241894">
                  <a:moveTo>
                    <a:pt x="203199" y="0"/>
                  </a:moveTo>
                  <a:cubicBezTo>
                    <a:pt x="231255" y="0"/>
                    <a:pt x="253999" y="22744"/>
                    <a:pt x="253999" y="50800"/>
                  </a:cubicBezTo>
                  <a:lnTo>
                    <a:pt x="253999" y="152400"/>
                  </a:lnTo>
                  <a:cubicBezTo>
                    <a:pt x="253999" y="180456"/>
                    <a:pt x="231255" y="203199"/>
                    <a:pt x="203199" y="203199"/>
                  </a:cubicBezTo>
                  <a:lnTo>
                    <a:pt x="143205" y="203199"/>
                  </a:lnTo>
                  <a:lnTo>
                    <a:pt x="82728" y="239483"/>
                  </a:lnTo>
                  <a:cubicBezTo>
                    <a:pt x="79027" y="241704"/>
                    <a:pt x="74451" y="241894"/>
                    <a:pt x="70580" y="239986"/>
                  </a:cubicBezTo>
                  <a:cubicBezTo>
                    <a:pt x="66708" y="238078"/>
                    <a:pt x="64070" y="234335"/>
                    <a:pt x="63576" y="230047"/>
                  </a:cubicBezTo>
                  <a:lnTo>
                    <a:pt x="63500" y="228599"/>
                  </a:lnTo>
                  <a:lnTo>
                    <a:pt x="63500" y="203199"/>
                  </a:lnTo>
                  <a:lnTo>
                    <a:pt x="50800" y="203199"/>
                  </a:lnTo>
                  <a:cubicBezTo>
                    <a:pt x="23731" y="203200"/>
                    <a:pt x="1417" y="181974"/>
                    <a:pt x="63" y="154940"/>
                  </a:cubicBezTo>
                  <a:lnTo>
                    <a:pt x="0" y="152400"/>
                  </a:lnTo>
                  <a:lnTo>
                    <a:pt x="0" y="50800"/>
                  </a:lnTo>
                  <a:cubicBezTo>
                    <a:pt x="0" y="22744"/>
                    <a:pt x="22744" y="0"/>
                    <a:pt x="50800" y="0"/>
                  </a:cubicBezTo>
                  <a:close/>
                  <a:moveTo>
                    <a:pt x="152400" y="114300"/>
                  </a:moveTo>
                  <a:lnTo>
                    <a:pt x="76200" y="114300"/>
                  </a:lnTo>
                  <a:cubicBezTo>
                    <a:pt x="69186" y="114300"/>
                    <a:pt x="63500" y="119986"/>
                    <a:pt x="63500" y="127000"/>
                  </a:cubicBezTo>
                  <a:cubicBezTo>
                    <a:pt x="63500" y="134014"/>
                    <a:pt x="69186" y="139700"/>
                    <a:pt x="76200" y="139700"/>
                  </a:cubicBezTo>
                  <a:lnTo>
                    <a:pt x="152400" y="139700"/>
                  </a:lnTo>
                  <a:cubicBezTo>
                    <a:pt x="159414" y="139700"/>
                    <a:pt x="165100" y="134014"/>
                    <a:pt x="165100" y="127000"/>
                  </a:cubicBezTo>
                  <a:cubicBezTo>
                    <a:pt x="165100" y="119986"/>
                    <a:pt x="159414" y="114300"/>
                    <a:pt x="152400" y="114300"/>
                  </a:cubicBezTo>
                  <a:moveTo>
                    <a:pt x="177800" y="63500"/>
                  </a:moveTo>
                  <a:lnTo>
                    <a:pt x="76200" y="63500"/>
                  </a:lnTo>
                  <a:cubicBezTo>
                    <a:pt x="69186" y="63500"/>
                    <a:pt x="63500" y="69186"/>
                    <a:pt x="63500" y="76200"/>
                  </a:cubicBezTo>
                  <a:cubicBezTo>
                    <a:pt x="63500" y="83214"/>
                    <a:pt x="69186" y="88900"/>
                    <a:pt x="76200" y="88900"/>
                  </a:cubicBezTo>
                  <a:lnTo>
                    <a:pt x="177800" y="88900"/>
                  </a:lnTo>
                  <a:cubicBezTo>
                    <a:pt x="184814" y="88900"/>
                    <a:pt x="190500" y="83214"/>
                    <a:pt x="190500" y="76200"/>
                  </a:cubicBezTo>
                  <a:cubicBezTo>
                    <a:pt x="190500" y="69186"/>
                    <a:pt x="184814" y="63500"/>
                    <a:pt x="177800" y="63500"/>
                  </a:cubicBezTo>
                </a:path>
              </a:pathLst>
            </a:custGeom>
            <a:solidFill>
              <a:schemeClr val="lt1"/>
            </a:solidFill>
            <a:ln>
              <a:noFill/>
            </a:ln>
          </p:spPr>
        </p:sp>
        <p:sp>
          <p:nvSpPr>
            <p:cNvPr id="14" name="TextBox 14"/>
            <p:cNvSpPr txBox="1"/>
            <p:nvPr/>
          </p:nvSpPr>
          <p:spPr>
            <a:xfrm>
              <a:off x="5220843" y="1898332"/>
              <a:ext cx="1213714" cy="322707"/>
            </a:xfrm>
            <a:prstGeom prst="rect">
              <a:avLst/>
            </a:prstGeom>
            <a:noFill/>
            <a:ln>
              <a:noFill/>
            </a:ln>
          </p:spPr>
          <p:txBody>
            <a:bodyPr wrap="none" lIns="0" tIns="0" rIns="0" bIns="0" anchor="t" anchorCtr="0">
              <a:spAutoFit/>
            </a:bodyPr>
            <a:lstStyle/>
            <a:p>
              <a:pPr algn="l"/>
              <a:r>
                <a:rPr lang="en-AU" sz="1650" dirty="0">
                  <a:solidFill>
                    <a:srgbClr val="FFFFFF"/>
                  </a:solidFill>
                  <a:latin typeface="+mn-lt"/>
                  <a:ea typeface="+mn-ea"/>
                  <a:cs typeface="+mn-cs"/>
                </a:rPr>
                <a:t>PHASE TWO</a:t>
              </a:r>
            </a:p>
          </p:txBody>
        </p:sp>
        <p:sp>
          <p:nvSpPr>
            <p:cNvPr id="15" name="TextBox 15"/>
            <p:cNvSpPr txBox="1"/>
            <p:nvPr/>
          </p:nvSpPr>
          <p:spPr>
            <a:xfrm>
              <a:off x="4377309" y="2470785"/>
              <a:ext cx="1988820" cy="528066"/>
            </a:xfrm>
            <a:prstGeom prst="rect">
              <a:avLst/>
            </a:prstGeom>
            <a:noFill/>
            <a:ln>
              <a:noFill/>
            </a:ln>
          </p:spPr>
          <p:txBody>
            <a:bodyPr wrap="none" lIns="0" tIns="0" rIns="0" bIns="0" anchor="t" anchorCtr="0">
              <a:spAutoFit/>
            </a:bodyPr>
            <a:lstStyle/>
            <a:p>
              <a:pPr algn="l"/>
              <a:r>
                <a:rPr lang="en-AU" sz="2700" dirty="0">
                  <a:solidFill>
                    <a:schemeClr val="accent1"/>
                  </a:solidFill>
                  <a:latin typeface="+mj-lt"/>
                  <a:ea typeface="+mj-ea"/>
                  <a:cs typeface="+mj-cs"/>
                </a:rPr>
                <a:t>Reflection</a:t>
              </a:r>
            </a:p>
          </p:txBody>
        </p:sp>
        <p:sp>
          <p:nvSpPr>
            <p:cNvPr id="16" name="TextBox 16"/>
            <p:cNvSpPr txBox="1"/>
            <p:nvPr/>
          </p:nvSpPr>
          <p:spPr>
            <a:xfrm>
              <a:off x="4371975" y="3089910"/>
              <a:ext cx="691142" cy="819150"/>
            </a:xfrm>
            <a:prstGeom prst="rect">
              <a:avLst/>
            </a:prstGeom>
            <a:noFill/>
            <a:ln>
              <a:noFill/>
            </a:ln>
          </p:spPr>
          <p:txBody>
            <a:bodyPr wrap="none" lIns="0" tIns="0" rIns="0" bIns="0" anchor="t" anchorCtr="0">
              <a:spAutoFit/>
            </a:bodyPr>
            <a:lstStyle/>
            <a:p>
              <a:pPr algn="l"/>
              <a:r>
                <a:rPr lang="en-AU" sz="4200" b="1" dirty="0">
                  <a:solidFill>
                    <a:schemeClr val="accent2"/>
                  </a:solidFill>
                  <a:latin typeface="+mn-lt"/>
                  <a:ea typeface="+mn-ea"/>
                  <a:cs typeface="+mn-cs"/>
                </a:rPr>
                <a:t>12</a:t>
              </a:r>
            </a:p>
          </p:txBody>
        </p:sp>
        <p:sp>
          <p:nvSpPr>
            <p:cNvPr id="17" name="TextBox 17"/>
            <p:cNvSpPr txBox="1"/>
            <p:nvPr/>
          </p:nvSpPr>
          <p:spPr>
            <a:xfrm>
              <a:off x="4382643" y="3803332"/>
              <a:ext cx="2960942" cy="1541907"/>
            </a:xfrm>
            <a:prstGeom prst="rect">
              <a:avLst/>
            </a:prstGeom>
            <a:noFill/>
            <a:ln>
              <a:noFill/>
            </a:ln>
          </p:spPr>
          <p:txBody>
            <a:bodyPr wrap="none" lIns="0" tIns="0" rIns="0" bIns="0" anchor="t" anchorCtr="0">
              <a:spAutoFit/>
            </a:bodyPr>
            <a:lstStyle/>
            <a:p>
              <a:pPr algn="l">
                <a:lnSpc>
                  <a:spcPts val="2400"/>
                </a:lnSpc>
              </a:pPr>
              <a:r>
                <a:rPr lang="en-AU" sz="1650" dirty="0">
                  <a:solidFill>
                    <a:schemeClr val="dk1"/>
                  </a:solidFill>
                  <a:latin typeface="+mn-lt"/>
                  <a:ea typeface="+mn-ea"/>
                  <a:cs typeface="+mn-cs"/>
                </a:rPr>
                <a:t>Brisbane participants in two</a:t>
              </a:r>
              <a:br/>
              <a:r>
                <a:rPr lang="en-AU" sz="1650" dirty="0">
                  <a:solidFill>
                    <a:schemeClr val="dk1"/>
                  </a:solidFill>
                  <a:latin typeface="+mn-lt"/>
                  <a:ea typeface="+mn-ea"/>
                  <a:cs typeface="+mn-cs"/>
                </a:rPr>
                <a:t>groups of six, 20 June 2026</a:t>
              </a:r>
              <a:br/>
              <a:r>
                <a:rPr lang="en-AU" sz="1650" dirty="0">
                  <a:solidFill>
                    <a:schemeClr val="dk1"/>
                  </a:solidFill>
                  <a:latin typeface="+mn-lt"/>
                  <a:ea typeface="+mn-ea"/>
                  <a:cs typeface="+mn-cs"/>
                </a:rPr>
                <a:t>recruited beyond student</a:t>
              </a:r>
              <a:br/>
              <a:r>
                <a:rPr lang="en-AU" sz="1650" dirty="0">
                  <a:solidFill>
                    <a:schemeClr val="dk1"/>
                  </a:solidFill>
                  <a:latin typeface="+mn-lt"/>
                  <a:ea typeface="+mn-ea"/>
                  <a:cs typeface="+mn-cs"/>
                </a:rPr>
                <a:t>networks — social media, the</a:t>
              </a:r>
              <a:br/>
              <a:r>
                <a:rPr lang="en-AU" sz="1650" dirty="0">
                  <a:solidFill>
                    <a:schemeClr val="dk1"/>
                  </a:solidFill>
                  <a:latin typeface="+mn-lt"/>
                  <a:ea typeface="+mn-ea"/>
                  <a:cs typeface="+mn-cs"/>
                </a:rPr>
                <a:t>CSSA, a table tennis club</a:t>
              </a:r>
            </a:p>
          </p:txBody>
        </p:sp>
      </p:grpSp>
      <p:grpSp>
        <p:nvGrpSpPr>
          <p:cNvPr id="25" name="Group 25"/>
          <p:cNvGrpSpPr/>
          <p:nvPr/>
        </p:nvGrpSpPr>
        <p:grpSpPr>
          <a:xfrm>
            <a:off x="8077200" y="1714500"/>
            <a:ext cx="3419475" cy="3630739"/>
            <a:chOff x="8077200" y="1714500"/>
            <a:chExt cx="3419475" cy="3630739"/>
          </a:xfrm>
        </p:grpSpPr>
        <p:sp>
          <p:nvSpPr>
            <p:cNvPr id="19" name="Freeform 19"/>
            <p:cNvSpPr/>
            <p:nvPr/>
          </p:nvSpPr>
          <p:spPr>
            <a:xfrm>
              <a:off x="8096250" y="1714500"/>
              <a:ext cx="3400425" cy="533400"/>
            </a:xfrm>
            <a:prstGeom prst="chevron">
              <a:avLst/>
            </a:prstGeom>
            <a:solidFill>
              <a:schemeClr val="accent3"/>
            </a:solidFill>
            <a:ln>
              <a:noFill/>
            </a:ln>
          </p:spPr>
        </p:sp>
        <p:sp>
          <p:nvSpPr>
            <p:cNvPr id="20" name="Freeform 20"/>
            <p:cNvSpPr/>
            <p:nvPr/>
          </p:nvSpPr>
          <p:spPr>
            <a:xfrm>
              <a:off x="8540748" y="1848511"/>
              <a:ext cx="267422" cy="268465"/>
            </a:xfrm>
            <a:custGeom>
              <a:avLst/>
              <a:gdLst/>
              <a:ahLst/>
              <a:cxnLst/>
              <a:rect l="l" t="t" r="r" b="b"/>
              <a:pathLst>
                <a:path w="267422" h="268465">
                  <a:moveTo>
                    <a:pt x="190501" y="22707"/>
                  </a:moveTo>
                  <a:cubicBezTo>
                    <a:pt x="243876" y="53523"/>
                    <a:pt x="267422" y="118214"/>
                    <a:pt x="246342" y="176129"/>
                  </a:cubicBezTo>
                  <a:cubicBezTo>
                    <a:pt x="225261" y="234045"/>
                    <a:pt x="165642" y="268465"/>
                    <a:pt x="104946" y="257762"/>
                  </a:cubicBezTo>
                  <a:cubicBezTo>
                    <a:pt x="44250" y="247058"/>
                    <a:pt x="0" y="194321"/>
                    <a:pt x="2" y="132688"/>
                  </a:cubicBezTo>
                  <a:lnTo>
                    <a:pt x="65" y="128574"/>
                  </a:lnTo>
                  <a:cubicBezTo>
                    <a:pt x="1512" y="83958"/>
                    <a:pt x="26276" y="43379"/>
                    <a:pt x="65291" y="21689"/>
                  </a:cubicBezTo>
                  <a:cubicBezTo>
                    <a:pt x="104306" y="0"/>
                    <a:pt x="151844" y="386"/>
                    <a:pt x="190501" y="22707"/>
                  </a:cubicBezTo>
                  <a:close/>
                  <a:moveTo>
                    <a:pt x="127001" y="208888"/>
                  </a:moveTo>
                  <a:cubicBezTo>
                    <a:pt x="119987" y="208888"/>
                    <a:pt x="114301" y="214574"/>
                    <a:pt x="114301" y="221588"/>
                  </a:cubicBezTo>
                  <a:cubicBezTo>
                    <a:pt x="114301" y="228602"/>
                    <a:pt x="119987" y="234288"/>
                    <a:pt x="127001" y="234288"/>
                  </a:cubicBezTo>
                  <a:cubicBezTo>
                    <a:pt x="134015" y="234288"/>
                    <a:pt x="139701" y="228602"/>
                    <a:pt x="139701" y="221588"/>
                  </a:cubicBezTo>
                  <a:cubicBezTo>
                    <a:pt x="139701" y="214574"/>
                    <a:pt x="134015" y="208888"/>
                    <a:pt x="127001" y="208888"/>
                  </a:cubicBezTo>
                  <a:moveTo>
                    <a:pt x="173788" y="69836"/>
                  </a:moveTo>
                  <a:lnTo>
                    <a:pt x="97588" y="95236"/>
                  </a:lnTo>
                  <a:cubicBezTo>
                    <a:pt x="93792" y="96500"/>
                    <a:pt x="90813" y="99479"/>
                    <a:pt x="89549" y="103275"/>
                  </a:cubicBezTo>
                  <a:lnTo>
                    <a:pt x="64060" y="179805"/>
                  </a:lnTo>
                  <a:lnTo>
                    <a:pt x="63768" y="180898"/>
                  </a:lnTo>
                  <a:lnTo>
                    <a:pt x="63552" y="182333"/>
                  </a:lnTo>
                  <a:lnTo>
                    <a:pt x="63501" y="183196"/>
                  </a:lnTo>
                  <a:lnTo>
                    <a:pt x="63501" y="183755"/>
                  </a:lnTo>
                  <a:lnTo>
                    <a:pt x="63616" y="185165"/>
                  </a:lnTo>
                  <a:lnTo>
                    <a:pt x="63768" y="186054"/>
                  </a:lnTo>
                  <a:lnTo>
                    <a:pt x="64276" y="187883"/>
                  </a:lnTo>
                  <a:lnTo>
                    <a:pt x="64848" y="189153"/>
                  </a:lnTo>
                  <a:lnTo>
                    <a:pt x="65533" y="190359"/>
                  </a:lnTo>
                  <a:lnTo>
                    <a:pt x="66346" y="191502"/>
                  </a:lnTo>
                  <a:lnTo>
                    <a:pt x="67222" y="192455"/>
                  </a:lnTo>
                  <a:lnTo>
                    <a:pt x="68289" y="193394"/>
                  </a:lnTo>
                  <a:lnTo>
                    <a:pt x="69534" y="194283"/>
                  </a:lnTo>
                  <a:lnTo>
                    <a:pt x="70804" y="194969"/>
                  </a:lnTo>
                  <a:lnTo>
                    <a:pt x="71794" y="195388"/>
                  </a:lnTo>
                  <a:lnTo>
                    <a:pt x="73128" y="195807"/>
                  </a:lnTo>
                  <a:lnTo>
                    <a:pt x="74512" y="196061"/>
                  </a:lnTo>
                  <a:lnTo>
                    <a:pt x="75058" y="196125"/>
                  </a:lnTo>
                  <a:lnTo>
                    <a:pt x="75922" y="196176"/>
                  </a:lnTo>
                  <a:lnTo>
                    <a:pt x="76481" y="196176"/>
                  </a:lnTo>
                  <a:lnTo>
                    <a:pt x="77890" y="196061"/>
                  </a:lnTo>
                  <a:lnTo>
                    <a:pt x="78779" y="195909"/>
                  </a:lnTo>
                  <a:lnTo>
                    <a:pt x="79033" y="195833"/>
                  </a:lnTo>
                  <a:lnTo>
                    <a:pt x="79275" y="195807"/>
                  </a:lnTo>
                  <a:lnTo>
                    <a:pt x="80215" y="195528"/>
                  </a:lnTo>
                  <a:lnTo>
                    <a:pt x="156414" y="170128"/>
                  </a:lnTo>
                  <a:cubicBezTo>
                    <a:pt x="160211" y="168864"/>
                    <a:pt x="163190" y="165885"/>
                    <a:pt x="164453" y="162089"/>
                  </a:cubicBezTo>
                  <a:lnTo>
                    <a:pt x="189853" y="85889"/>
                  </a:lnTo>
                  <a:cubicBezTo>
                    <a:pt x="191375" y="81325"/>
                    <a:pt x="190188" y="76293"/>
                    <a:pt x="186786" y="72891"/>
                  </a:cubicBezTo>
                  <a:cubicBezTo>
                    <a:pt x="183384" y="69489"/>
                    <a:pt x="178352" y="68302"/>
                    <a:pt x="173788" y="69824"/>
                  </a:cubicBezTo>
                  <a:close/>
                  <a:moveTo>
                    <a:pt x="157722" y="101955"/>
                  </a:moveTo>
                  <a:lnTo>
                    <a:pt x="142356" y="148043"/>
                  </a:lnTo>
                  <a:lnTo>
                    <a:pt x="96267" y="163410"/>
                  </a:lnTo>
                  <a:lnTo>
                    <a:pt x="111634" y="117322"/>
                  </a:lnTo>
                  <a:lnTo>
                    <a:pt x="157722" y="101955"/>
                  </a:lnTo>
                  <a:close/>
                  <a:moveTo>
                    <a:pt x="38101" y="119989"/>
                  </a:moveTo>
                  <a:cubicBezTo>
                    <a:pt x="31087" y="119989"/>
                    <a:pt x="25402" y="125674"/>
                    <a:pt x="25402" y="132688"/>
                  </a:cubicBezTo>
                  <a:cubicBezTo>
                    <a:pt x="25402" y="139702"/>
                    <a:pt x="31087" y="145388"/>
                    <a:pt x="38101" y="145388"/>
                  </a:cubicBezTo>
                  <a:cubicBezTo>
                    <a:pt x="45115" y="145388"/>
                    <a:pt x="50801" y="139702"/>
                    <a:pt x="50801" y="132688"/>
                  </a:cubicBezTo>
                  <a:cubicBezTo>
                    <a:pt x="50801" y="125674"/>
                    <a:pt x="45115" y="119989"/>
                    <a:pt x="38101" y="119989"/>
                  </a:cubicBezTo>
                  <a:moveTo>
                    <a:pt x="215901" y="119989"/>
                  </a:moveTo>
                  <a:cubicBezTo>
                    <a:pt x="208887" y="119989"/>
                    <a:pt x="203201" y="125674"/>
                    <a:pt x="203201" y="132688"/>
                  </a:cubicBezTo>
                  <a:cubicBezTo>
                    <a:pt x="203201" y="139702"/>
                    <a:pt x="208887" y="145388"/>
                    <a:pt x="215901" y="145388"/>
                  </a:cubicBezTo>
                  <a:cubicBezTo>
                    <a:pt x="222915" y="145388"/>
                    <a:pt x="228601" y="139702"/>
                    <a:pt x="228601" y="132688"/>
                  </a:cubicBezTo>
                  <a:cubicBezTo>
                    <a:pt x="228601" y="125674"/>
                    <a:pt x="222915" y="119989"/>
                    <a:pt x="215901" y="119989"/>
                  </a:cubicBezTo>
                  <a:moveTo>
                    <a:pt x="127001" y="31089"/>
                  </a:moveTo>
                  <a:cubicBezTo>
                    <a:pt x="119987" y="31089"/>
                    <a:pt x="114301" y="36775"/>
                    <a:pt x="114301" y="43789"/>
                  </a:cubicBezTo>
                  <a:cubicBezTo>
                    <a:pt x="114301" y="50803"/>
                    <a:pt x="119987" y="56489"/>
                    <a:pt x="127001" y="56489"/>
                  </a:cubicBezTo>
                  <a:cubicBezTo>
                    <a:pt x="134015" y="56489"/>
                    <a:pt x="139701" y="50803"/>
                    <a:pt x="139701" y="43789"/>
                  </a:cubicBezTo>
                  <a:cubicBezTo>
                    <a:pt x="139701" y="36775"/>
                    <a:pt x="134015" y="31089"/>
                    <a:pt x="127001" y="31089"/>
                  </a:cubicBezTo>
                </a:path>
              </a:pathLst>
            </a:custGeom>
            <a:solidFill>
              <a:schemeClr val="lt1"/>
            </a:solidFill>
            <a:ln>
              <a:noFill/>
            </a:ln>
          </p:spPr>
        </p:sp>
        <p:sp>
          <p:nvSpPr>
            <p:cNvPr id="21" name="TextBox 21"/>
            <p:cNvSpPr txBox="1"/>
            <p:nvPr/>
          </p:nvSpPr>
          <p:spPr>
            <a:xfrm>
              <a:off x="8926068" y="1898332"/>
              <a:ext cx="1378001" cy="322707"/>
            </a:xfrm>
            <a:prstGeom prst="rect">
              <a:avLst/>
            </a:prstGeom>
            <a:noFill/>
            <a:ln>
              <a:noFill/>
            </a:ln>
          </p:spPr>
          <p:txBody>
            <a:bodyPr wrap="none" lIns="0" tIns="0" rIns="0" bIns="0" anchor="t" anchorCtr="0">
              <a:spAutoFit/>
            </a:bodyPr>
            <a:lstStyle/>
            <a:p>
              <a:pPr algn="l"/>
              <a:r>
                <a:rPr lang="en-AU" sz="1650" dirty="0">
                  <a:solidFill>
                    <a:srgbClr val="FFFFFF"/>
                  </a:solidFill>
                  <a:latin typeface="+mn-lt"/>
                  <a:ea typeface="+mn-ea"/>
                  <a:cs typeface="+mn-cs"/>
                </a:rPr>
                <a:t>PHASE THREE</a:t>
              </a:r>
            </a:p>
          </p:txBody>
        </p:sp>
        <p:sp>
          <p:nvSpPr>
            <p:cNvPr id="22" name="TextBox 22"/>
            <p:cNvSpPr txBox="1"/>
            <p:nvPr/>
          </p:nvSpPr>
          <p:spPr>
            <a:xfrm>
              <a:off x="8082534" y="2470785"/>
              <a:ext cx="2552797" cy="528066"/>
            </a:xfrm>
            <a:prstGeom prst="rect">
              <a:avLst/>
            </a:prstGeom>
            <a:noFill/>
            <a:ln>
              <a:noFill/>
            </a:ln>
          </p:spPr>
          <p:txBody>
            <a:bodyPr wrap="none" lIns="0" tIns="0" rIns="0" bIns="0" anchor="t" anchorCtr="0">
              <a:spAutoFit/>
            </a:bodyPr>
            <a:lstStyle/>
            <a:p>
              <a:pPr algn="l"/>
              <a:r>
                <a:rPr lang="en-AU" sz="2700" dirty="0">
                  <a:solidFill>
                    <a:schemeClr val="accent1"/>
                  </a:solidFill>
                  <a:latin typeface="+mj-lt"/>
                  <a:ea typeface="+mj-ea"/>
                  <a:cs typeface="+mj-cs"/>
                </a:rPr>
                <a:t>Measurement</a:t>
              </a:r>
            </a:p>
          </p:txBody>
        </p:sp>
        <p:sp>
          <p:nvSpPr>
            <p:cNvPr id="23" name="TextBox 23"/>
            <p:cNvSpPr txBox="1"/>
            <p:nvPr/>
          </p:nvSpPr>
          <p:spPr>
            <a:xfrm>
              <a:off x="8077200" y="3089910"/>
              <a:ext cx="691142" cy="819150"/>
            </a:xfrm>
            <a:prstGeom prst="rect">
              <a:avLst/>
            </a:prstGeom>
            <a:noFill/>
            <a:ln>
              <a:noFill/>
            </a:ln>
          </p:spPr>
          <p:txBody>
            <a:bodyPr wrap="none" lIns="0" tIns="0" rIns="0" bIns="0" anchor="t" anchorCtr="0">
              <a:spAutoFit/>
            </a:bodyPr>
            <a:lstStyle/>
            <a:p>
              <a:pPr algn="l"/>
              <a:r>
                <a:rPr lang="en-AU" sz="4200" b="1" dirty="0">
                  <a:solidFill>
                    <a:schemeClr val="accent3"/>
                  </a:solidFill>
                  <a:latin typeface="+mn-lt"/>
                  <a:ea typeface="+mn-ea"/>
                  <a:cs typeface="+mn-cs"/>
                </a:rPr>
                <a:t>26</a:t>
              </a:r>
            </a:p>
          </p:txBody>
        </p:sp>
        <p:sp>
          <p:nvSpPr>
            <p:cNvPr id="24" name="TextBox 24"/>
            <p:cNvSpPr txBox="1"/>
            <p:nvPr/>
          </p:nvSpPr>
          <p:spPr>
            <a:xfrm>
              <a:off x="8087868" y="3803332"/>
              <a:ext cx="3139059" cy="1541907"/>
            </a:xfrm>
            <a:prstGeom prst="rect">
              <a:avLst/>
            </a:prstGeom>
            <a:noFill/>
            <a:ln>
              <a:noFill/>
            </a:ln>
          </p:spPr>
          <p:txBody>
            <a:bodyPr wrap="none" lIns="0" tIns="0" rIns="0" bIns="0" anchor="t" anchorCtr="0">
              <a:spAutoFit/>
            </a:bodyPr>
            <a:lstStyle/>
            <a:p>
              <a:pPr algn="l">
                <a:lnSpc>
                  <a:spcPts val="2400"/>
                </a:lnSpc>
              </a:pPr>
              <a:r>
                <a:rPr lang="en-AU" sz="1650" dirty="0">
                  <a:solidFill>
                    <a:schemeClr val="dk1"/>
                  </a:solidFill>
                  <a:latin typeface="+mn-lt"/>
                  <a:ea typeface="+mn-ea"/>
                  <a:cs typeface="+mn-cs"/>
                </a:rPr>
                <a:t>item experience measure on</a:t>
              </a:r>
              <a:br/>
              <a:r>
                <a:rPr lang="en-AU" sz="1650" dirty="0">
                  <a:solidFill>
                    <a:schemeClr val="dk1"/>
                  </a:solidFill>
                  <a:latin typeface="+mn-lt"/>
                  <a:ea typeface="+mn-ea"/>
                  <a:cs typeface="+mn-cs"/>
                </a:rPr>
                <a:t>interface, immersion, culture</a:t>
              </a:r>
              <a:br/>
              <a:r>
                <a:rPr lang="en-AU" sz="1650" dirty="0">
                  <a:solidFill>
                    <a:schemeClr val="dk1"/>
                  </a:solidFill>
                  <a:latin typeface="+mn-lt"/>
                  <a:ea typeface="+mn-ea"/>
                  <a:cs typeface="+mn-cs"/>
                </a:rPr>
                <a:t>recognition, social presence</a:t>
              </a:r>
              <a:br/>
              <a:r>
                <a:rPr lang="en-AU" sz="1650" dirty="0">
                  <a:solidFill>
                    <a:schemeClr val="dk1"/>
                  </a:solidFill>
                  <a:latin typeface="+mn-lt"/>
                  <a:ea typeface="+mn-ea"/>
                  <a:cs typeface="+mn-cs"/>
                </a:rPr>
                <a:t>plus pre- and post-state</a:t>
              </a:r>
              <a:br/>
              <a:r>
                <a:rPr lang="en-AU" sz="1650" dirty="0">
                  <a:solidFill>
                    <a:schemeClr val="dk1"/>
                  </a:solidFill>
                  <a:latin typeface="+mn-lt"/>
                  <a:ea typeface="+mn-ea"/>
                  <a:cs typeface="+mn-cs"/>
                </a:rPr>
                <a:t>questionnaires, same sessions</a:t>
              </a:r>
            </a:p>
          </p:txBody>
        </p:sp>
      </p:grpSp>
      <p:grpSp>
        <p:nvGrpSpPr>
          <p:cNvPr id="27" name="Group 27"/>
          <p:cNvGrpSpPr/>
          <p:nvPr/>
        </p:nvGrpSpPr>
        <p:grpSpPr>
          <a:xfrm>
            <a:off x="677418" y="5670232"/>
            <a:ext cx="9799546" cy="322707"/>
            <a:chOff x="677418" y="5670232"/>
            <a:chExt cx="9799546" cy="322707"/>
          </a:xfrm>
        </p:grpSpPr>
        <p:sp>
          <p:nvSpPr>
            <p:cNvPr id="26" name="TextBox 26"/>
            <p:cNvSpPr txBox="1"/>
            <p:nvPr/>
          </p:nvSpPr>
          <p:spPr>
            <a:xfrm>
              <a:off x="677418" y="5670232"/>
              <a:ext cx="9799546" cy="322707"/>
            </a:xfrm>
            <a:prstGeom prst="rect">
              <a:avLst/>
            </a:prstGeom>
            <a:noFill/>
            <a:ln>
              <a:noFill/>
            </a:ln>
          </p:spPr>
          <p:txBody>
            <a:bodyPr wrap="none" lIns="0" tIns="0" rIns="0" bIns="0" anchor="t" anchorCtr="0">
              <a:spAutoFit/>
            </a:bodyPr>
            <a:lstStyle/>
            <a:p>
              <a:pPr algn="l"/>
              <a:r>
                <a:rPr lang="en-AU" sz="1650" dirty="0">
                  <a:solidFill>
                    <a:schemeClr val="accent5"/>
                  </a:solidFill>
                  <a:latin typeface="+mn-lt"/>
                  <a:ea typeface="+mn-ea"/>
                  <a:cs typeface="+mn-cs"/>
                </a:rPr>
                <a:t>All data collection approved by the QUT Human Research Ethics Committee — LR 2025-8766.</a:t>
              </a:r>
            </a:p>
          </p:txBody>
        </p:sp>
      </p:grpSp>
      <p:grpSp>
        <p:nvGrpSpPr>
          <p:cNvPr id="30" name="Group 30"/>
          <p:cNvGrpSpPr/>
          <p:nvPr/>
        </p:nvGrpSpPr>
        <p:grpSpPr>
          <a:xfrm>
            <a:off x="679704" y="6080760"/>
            <a:ext cx="10832592" cy="234696"/>
            <a:chOff x="679704" y="6080760"/>
            <a:chExt cx="10832592" cy="234696"/>
          </a:xfrm>
        </p:grpSpPr>
        <p:sp>
          <p:nvSpPr>
            <p:cNvPr id="28" name="TextBox 28"/>
            <p:cNvSpPr txBox="1"/>
            <p:nvPr/>
          </p:nvSpPr>
          <p:spPr>
            <a:xfrm>
              <a:off x="679704" y="6080760"/>
              <a:ext cx="3599609" cy="234696"/>
            </a:xfrm>
            <a:prstGeom prst="rect">
              <a:avLst/>
            </a:prstGeom>
            <a:noFill/>
            <a:ln>
              <a:noFill/>
            </a:ln>
          </p:spPr>
          <p:txBody>
            <a:bodyPr wrap="none" lIns="0" tIns="0" rIns="0" bIns="0" anchor="t" anchorCtr="0">
              <a:spAutoFit/>
            </a:bodyPr>
            <a:lstStyle/>
            <a:p>
              <a:pPr algn="l"/>
              <a:r>
                <a:rPr lang="en-AU" sz="1200" dirty="0">
                  <a:solidFill>
                    <a:schemeClr val="accent5"/>
                  </a:solidFill>
                  <a:latin typeface="+mn-lt"/>
                  <a:ea typeface="+mn-ea"/>
                  <a:cs typeface="+mn-cs"/>
                </a:rPr>
                <a:t>Root-Seeking · Xun Gen — Expanded 2026, Linz</a:t>
              </a:r>
            </a:p>
          </p:txBody>
        </p:sp>
        <p:sp>
          <p:nvSpPr>
            <p:cNvPr id="29" name="TextBox 29"/>
            <p:cNvSpPr txBox="1"/>
            <p:nvPr/>
          </p:nvSpPr>
          <p:spPr>
            <a:xfrm>
              <a:off x="11411255" y="6080760"/>
              <a:ext cx="101041" cy="234696"/>
            </a:xfrm>
            <a:prstGeom prst="rect">
              <a:avLst/>
            </a:prstGeom>
            <a:noFill/>
            <a:ln>
              <a:noFill/>
            </a:ln>
          </p:spPr>
          <p:txBody>
            <a:bodyPr wrap="none" lIns="0" tIns="0" rIns="0" bIns="0" anchor="t" anchorCtr="0">
              <a:spAutoFit/>
            </a:bodyPr>
            <a:lstStyle/>
            <a:p>
              <a:pPr algn="r"/>
              <a:r>
                <a:rPr lang="en-AU" sz="1200" dirty="0">
                  <a:solidFill>
                    <a:schemeClr val="accent5"/>
                  </a:solidFill>
                  <a:latin typeface="+mn-lt"/>
                  <a:ea typeface="+mn-ea"/>
                  <a:cs typeface="+mn-cs"/>
                </a:rPr>
                <a:t>6</a:t>
              </a:r>
            </a:p>
          </p:txBody>
        </p:sp>
      </p:gr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667512" y="678180"/>
            <a:ext cx="10215511" cy="704088"/>
            <a:chOff x="667512" y="678180"/>
            <a:chExt cx="10215511" cy="704088"/>
          </a:xfrm>
        </p:grpSpPr>
        <p:sp>
          <p:nvSpPr>
            <p:cNvPr id="2" name="TextBox 2"/>
            <p:cNvSpPr txBox="1"/>
            <p:nvPr/>
          </p:nvSpPr>
          <p:spPr>
            <a:xfrm>
              <a:off x="667512" y="678180"/>
              <a:ext cx="10215511" cy="704088"/>
            </a:xfrm>
            <a:prstGeom prst="rect">
              <a:avLst/>
            </a:prstGeom>
            <a:noFill/>
            <a:ln>
              <a:noFill/>
            </a:ln>
          </p:spPr>
          <p:txBody>
            <a:bodyPr wrap="none" lIns="0" tIns="0" rIns="0" bIns="0" anchor="t" anchorCtr="0">
              <a:spAutoFit/>
            </a:bodyPr>
            <a:lstStyle/>
            <a:p>
              <a:pPr algn="l"/>
              <a:r>
                <a:rPr lang="en-AU" sz="3600" dirty="0">
                  <a:solidFill>
                    <a:schemeClr val="accent1"/>
                  </a:solidFill>
                  <a:latin typeface="+mj-lt"/>
                  <a:ea typeface="+mj-ea"/>
                  <a:cs typeface="+mj-cs"/>
                </a:rPr>
                <a:t>Design requirements came from the data</a:t>
              </a:r>
            </a:p>
          </p:txBody>
        </p:sp>
        <p:sp>
          <p:nvSpPr>
            <p:cNvPr id="3" name="Rectangle 3"/>
            <p:cNvSpPr/>
            <p:nvPr/>
          </p:nvSpPr>
          <p:spPr>
            <a:xfrm>
              <a:off x="685800" y="1295400"/>
              <a:ext cx="2095500" cy="38100"/>
            </a:xfrm>
            <a:prstGeom prst="rect">
              <a:avLst/>
            </a:prstGeom>
            <a:solidFill>
              <a:schemeClr val="accent1"/>
            </a:solidFill>
            <a:ln>
              <a:noFill/>
            </a:ln>
          </p:spPr>
        </p:sp>
      </p:grpSp>
      <p:grpSp>
        <p:nvGrpSpPr>
          <p:cNvPr id="37" name="Group 37"/>
          <p:cNvGrpSpPr/>
          <p:nvPr/>
        </p:nvGrpSpPr>
        <p:grpSpPr>
          <a:xfrm>
            <a:off x="679704" y="2000250"/>
            <a:ext cx="6580099" cy="3629406"/>
            <a:chOff x="679704" y="2000250"/>
            <a:chExt cx="6580099" cy="3629406"/>
          </a:xfrm>
        </p:grpSpPr>
        <p:grpSp>
          <p:nvGrpSpPr>
            <p:cNvPr id="35" name="Group 35"/>
            <p:cNvGrpSpPr/>
            <p:nvPr/>
          </p:nvGrpSpPr>
          <p:grpSpPr>
            <a:xfrm>
              <a:off x="699253" y="2000250"/>
              <a:ext cx="6560550" cy="3248406"/>
              <a:chOff x="699253" y="2000250"/>
              <a:chExt cx="6560550" cy="3248406"/>
            </a:xfrm>
          </p:grpSpPr>
          <p:sp>
            <p:nvSpPr>
              <p:cNvPr id="5" name="Line 5"/>
              <p:cNvSpPr/>
              <p:nvPr/>
            </p:nvSpPr>
            <p:spPr>
              <a:xfrm>
                <a:off x="4114800" y="2000250"/>
                <a:ext cx="9525" cy="2905125"/>
              </a:xfrm>
              <a:custGeom>
                <a:avLst/>
                <a:gdLst/>
                <a:ahLst/>
                <a:cxnLst/>
                <a:rect l="l" t="t" r="r" b="b"/>
                <a:pathLst>
                  <a:path w="9525" h="2905125">
                    <a:moveTo>
                      <a:pt x="0" y="0"/>
                    </a:moveTo>
                    <a:lnTo>
                      <a:pt x="0" y="2905125"/>
                    </a:lnTo>
                  </a:path>
                </a:pathLst>
              </a:custGeom>
              <a:noFill/>
              <a:ln w="19050">
                <a:solidFill>
                  <a:schemeClr val="accent6"/>
                </a:solidFill>
              </a:ln>
            </p:spPr>
          </p:sp>
          <p:sp>
            <p:nvSpPr>
              <p:cNvPr id="6" name="Line 6"/>
              <p:cNvSpPr/>
              <p:nvPr/>
            </p:nvSpPr>
            <p:spPr>
              <a:xfrm>
                <a:off x="4686300" y="2000250"/>
                <a:ext cx="9525" cy="2905125"/>
              </a:xfrm>
              <a:custGeom>
                <a:avLst/>
                <a:gdLst/>
                <a:ahLst/>
                <a:cxnLst/>
                <a:rect l="l" t="t" r="r" b="b"/>
                <a:pathLst>
                  <a:path w="9525" h="2905125">
                    <a:moveTo>
                      <a:pt x="0" y="0"/>
                    </a:moveTo>
                    <a:lnTo>
                      <a:pt x="0" y="2905125"/>
                    </a:lnTo>
                  </a:path>
                </a:pathLst>
              </a:custGeom>
              <a:noFill/>
              <a:ln w="9525">
                <a:solidFill>
                  <a:srgbClr val="E8EDF2"/>
                </a:solidFill>
              </a:ln>
            </p:spPr>
          </p:sp>
          <p:sp>
            <p:nvSpPr>
              <p:cNvPr id="7" name="Line 7"/>
              <p:cNvSpPr/>
              <p:nvPr/>
            </p:nvSpPr>
            <p:spPr>
              <a:xfrm>
                <a:off x="5257800" y="2000250"/>
                <a:ext cx="9525" cy="2905125"/>
              </a:xfrm>
              <a:custGeom>
                <a:avLst/>
                <a:gdLst/>
                <a:ahLst/>
                <a:cxnLst/>
                <a:rect l="l" t="t" r="r" b="b"/>
                <a:pathLst>
                  <a:path w="9525" h="2905125">
                    <a:moveTo>
                      <a:pt x="0" y="0"/>
                    </a:moveTo>
                    <a:lnTo>
                      <a:pt x="0" y="2905125"/>
                    </a:lnTo>
                  </a:path>
                </a:pathLst>
              </a:custGeom>
              <a:noFill/>
              <a:ln w="9525">
                <a:solidFill>
                  <a:srgbClr val="E8EDF2"/>
                </a:solidFill>
              </a:ln>
            </p:spPr>
          </p:sp>
          <p:sp>
            <p:nvSpPr>
              <p:cNvPr id="8" name="Line 8"/>
              <p:cNvSpPr/>
              <p:nvPr/>
            </p:nvSpPr>
            <p:spPr>
              <a:xfrm>
                <a:off x="5829300" y="2000250"/>
                <a:ext cx="9525" cy="2905125"/>
              </a:xfrm>
              <a:custGeom>
                <a:avLst/>
                <a:gdLst/>
                <a:ahLst/>
                <a:cxnLst/>
                <a:rect l="l" t="t" r="r" b="b"/>
                <a:pathLst>
                  <a:path w="9525" h="2905125">
                    <a:moveTo>
                      <a:pt x="0" y="0"/>
                    </a:moveTo>
                    <a:lnTo>
                      <a:pt x="0" y="2905125"/>
                    </a:lnTo>
                  </a:path>
                </a:pathLst>
              </a:custGeom>
              <a:noFill/>
              <a:ln w="9525">
                <a:solidFill>
                  <a:srgbClr val="E8EDF2"/>
                </a:solidFill>
              </a:ln>
            </p:spPr>
          </p:sp>
          <p:sp>
            <p:nvSpPr>
              <p:cNvPr id="9" name="Line 9"/>
              <p:cNvSpPr/>
              <p:nvPr/>
            </p:nvSpPr>
            <p:spPr>
              <a:xfrm>
                <a:off x="6400800" y="2000250"/>
                <a:ext cx="9525" cy="2905125"/>
              </a:xfrm>
              <a:custGeom>
                <a:avLst/>
                <a:gdLst/>
                <a:ahLst/>
                <a:cxnLst/>
                <a:rect l="l" t="t" r="r" b="b"/>
                <a:pathLst>
                  <a:path w="9525" h="2905125">
                    <a:moveTo>
                      <a:pt x="0" y="0"/>
                    </a:moveTo>
                    <a:lnTo>
                      <a:pt x="0" y="2905125"/>
                    </a:lnTo>
                  </a:path>
                </a:pathLst>
              </a:custGeom>
              <a:noFill/>
              <a:ln w="9525">
                <a:solidFill>
                  <a:srgbClr val="E8EDF2"/>
                </a:solidFill>
              </a:ln>
            </p:spPr>
          </p:sp>
          <p:sp>
            <p:nvSpPr>
              <p:cNvPr id="10" name="Line 10"/>
              <p:cNvSpPr/>
              <p:nvPr/>
            </p:nvSpPr>
            <p:spPr>
              <a:xfrm>
                <a:off x="6972300" y="2000250"/>
                <a:ext cx="9525" cy="2905125"/>
              </a:xfrm>
              <a:custGeom>
                <a:avLst/>
                <a:gdLst/>
                <a:ahLst/>
                <a:cxnLst/>
                <a:rect l="l" t="t" r="r" b="b"/>
                <a:pathLst>
                  <a:path w="9525" h="2905125">
                    <a:moveTo>
                      <a:pt x="0" y="0"/>
                    </a:moveTo>
                    <a:lnTo>
                      <a:pt x="0" y="2905125"/>
                    </a:lnTo>
                  </a:path>
                </a:pathLst>
              </a:custGeom>
              <a:noFill/>
              <a:ln w="9525">
                <a:solidFill>
                  <a:srgbClr val="E8EDF2"/>
                </a:solidFill>
              </a:ln>
            </p:spPr>
          </p:sp>
          <p:sp>
            <p:nvSpPr>
              <p:cNvPr id="11" name="Rectangle 11"/>
              <p:cNvSpPr/>
              <p:nvPr/>
            </p:nvSpPr>
            <p:spPr>
              <a:xfrm>
                <a:off x="4114800" y="2095500"/>
                <a:ext cx="2554605" cy="285750"/>
              </a:xfrm>
              <a:prstGeom prst="rect">
                <a:avLst/>
              </a:prstGeom>
              <a:solidFill>
                <a:schemeClr val="accent1"/>
              </a:solidFill>
              <a:ln>
                <a:noFill/>
              </a:ln>
            </p:spPr>
          </p:sp>
          <p:sp>
            <p:nvSpPr>
              <p:cNvPr id="12" name="Rectangle 12"/>
              <p:cNvSpPr/>
              <p:nvPr/>
            </p:nvSpPr>
            <p:spPr>
              <a:xfrm>
                <a:off x="4114800" y="2571750"/>
                <a:ext cx="2474595" cy="285750"/>
              </a:xfrm>
              <a:prstGeom prst="rect">
                <a:avLst/>
              </a:prstGeom>
              <a:solidFill>
                <a:schemeClr val="accent1"/>
              </a:solidFill>
              <a:ln>
                <a:noFill/>
              </a:ln>
            </p:spPr>
          </p:sp>
          <p:sp>
            <p:nvSpPr>
              <p:cNvPr id="13" name="Rectangle 13"/>
              <p:cNvSpPr/>
              <p:nvPr/>
            </p:nvSpPr>
            <p:spPr>
              <a:xfrm>
                <a:off x="4114800" y="3048000"/>
                <a:ext cx="2474595" cy="285750"/>
              </a:xfrm>
              <a:prstGeom prst="rect">
                <a:avLst/>
              </a:prstGeom>
              <a:solidFill>
                <a:schemeClr val="accent1"/>
              </a:solidFill>
              <a:ln>
                <a:noFill/>
              </a:ln>
            </p:spPr>
          </p:sp>
          <p:sp>
            <p:nvSpPr>
              <p:cNvPr id="14" name="Rectangle 14"/>
              <p:cNvSpPr/>
              <p:nvPr/>
            </p:nvSpPr>
            <p:spPr>
              <a:xfrm>
                <a:off x="4114800" y="3524250"/>
                <a:ext cx="2326005" cy="285750"/>
              </a:xfrm>
              <a:prstGeom prst="rect">
                <a:avLst/>
              </a:prstGeom>
              <a:solidFill>
                <a:schemeClr val="accent1"/>
              </a:solidFill>
              <a:ln>
                <a:noFill/>
              </a:ln>
            </p:spPr>
          </p:sp>
          <p:sp>
            <p:nvSpPr>
              <p:cNvPr id="15" name="Rectangle 15"/>
              <p:cNvSpPr/>
              <p:nvPr/>
            </p:nvSpPr>
            <p:spPr>
              <a:xfrm>
                <a:off x="4114800" y="4000500"/>
                <a:ext cx="2171700" cy="285750"/>
              </a:xfrm>
              <a:prstGeom prst="rect">
                <a:avLst/>
              </a:prstGeom>
              <a:solidFill>
                <a:schemeClr val="accent2"/>
              </a:solidFill>
              <a:ln>
                <a:noFill/>
              </a:ln>
            </p:spPr>
          </p:sp>
          <p:sp>
            <p:nvSpPr>
              <p:cNvPr id="16" name="Rectangle 16"/>
              <p:cNvSpPr/>
              <p:nvPr/>
            </p:nvSpPr>
            <p:spPr>
              <a:xfrm>
                <a:off x="4114800" y="4476750"/>
                <a:ext cx="2017395" cy="285750"/>
              </a:xfrm>
              <a:prstGeom prst="rect">
                <a:avLst/>
              </a:prstGeom>
              <a:solidFill>
                <a:schemeClr val="accent2"/>
              </a:solidFill>
              <a:ln>
                <a:noFill/>
              </a:ln>
            </p:spPr>
          </p:sp>
          <p:sp>
            <p:nvSpPr>
              <p:cNvPr id="17" name="TextBox 17"/>
              <p:cNvSpPr txBox="1"/>
              <p:nvPr/>
            </p:nvSpPr>
            <p:spPr>
              <a:xfrm>
                <a:off x="825584" y="2117408"/>
                <a:ext cx="3107098" cy="322707"/>
              </a:xfrm>
              <a:prstGeom prst="rect">
                <a:avLst/>
              </a:prstGeom>
              <a:noFill/>
              <a:ln>
                <a:noFill/>
              </a:ln>
            </p:spPr>
            <p:txBody>
              <a:bodyPr wrap="none" lIns="0" tIns="0" rIns="0" bIns="0" anchor="t" anchorCtr="0">
                <a:spAutoFit/>
              </a:bodyPr>
              <a:lstStyle/>
              <a:p>
                <a:pPr algn="r"/>
                <a:r>
                  <a:rPr lang="en-AU" sz="1650" dirty="0">
                    <a:solidFill>
                      <a:schemeClr val="dk1"/>
                    </a:solidFill>
                    <a:latin typeface="+mn-lt"/>
                    <a:ea typeface="+mn-ea"/>
                    <a:cs typeface="+mn-cs"/>
                  </a:rPr>
                  <a:t>Important in Chinese culture</a:t>
                </a:r>
              </a:p>
            </p:txBody>
          </p:sp>
          <p:sp>
            <p:nvSpPr>
              <p:cNvPr id="18" name="TextBox 18"/>
              <p:cNvSpPr txBox="1"/>
              <p:nvPr/>
            </p:nvSpPr>
            <p:spPr>
              <a:xfrm>
                <a:off x="1121414" y="2593658"/>
                <a:ext cx="2811268" cy="322707"/>
              </a:xfrm>
              <a:prstGeom prst="rect">
                <a:avLst/>
              </a:prstGeom>
              <a:noFill/>
              <a:ln>
                <a:noFill/>
              </a:ln>
            </p:spPr>
            <p:txBody>
              <a:bodyPr wrap="none" lIns="0" tIns="0" rIns="0" bIns="0" anchor="t" anchorCtr="0">
                <a:spAutoFit/>
              </a:bodyPr>
              <a:lstStyle/>
              <a:p>
                <a:pPr algn="r"/>
                <a:r>
                  <a:rPr lang="en-AU" sz="1650" dirty="0">
                    <a:solidFill>
                      <a:schemeClr val="dk1"/>
                    </a:solidFill>
                    <a:latin typeface="+mn-lt"/>
                    <a:ea typeface="+mn-ea"/>
                    <a:cs typeface="+mn-cs"/>
                  </a:rPr>
                  <a:t>Willing to visit one abroad</a:t>
                </a:r>
              </a:p>
            </p:txBody>
          </p:sp>
          <p:sp>
            <p:nvSpPr>
              <p:cNvPr id="19" name="TextBox 19"/>
              <p:cNvSpPr txBox="1"/>
              <p:nvPr/>
            </p:nvSpPr>
            <p:spPr>
              <a:xfrm>
                <a:off x="1121700" y="3069908"/>
                <a:ext cx="2810982" cy="322707"/>
              </a:xfrm>
              <a:prstGeom prst="rect">
                <a:avLst/>
              </a:prstGeom>
              <a:noFill/>
              <a:ln>
                <a:noFill/>
              </a:ln>
            </p:spPr>
            <p:txBody>
              <a:bodyPr wrap="none" lIns="0" tIns="0" rIns="0" bIns="0" anchor="t" anchorCtr="0">
                <a:spAutoFit/>
              </a:bodyPr>
              <a:lstStyle/>
              <a:p>
                <a:pPr algn="r"/>
                <a:r>
                  <a:rPr lang="en-AU" sz="1650" dirty="0">
                    <a:solidFill>
                      <a:schemeClr val="dk1"/>
                    </a:solidFill>
                    <a:latin typeface="+mn-lt"/>
                    <a:ea typeface="+mn-ea"/>
                    <a:cs typeface="+mn-cs"/>
                  </a:rPr>
                  <a:t>Visiting relieves pressure</a:t>
                </a:r>
              </a:p>
            </p:txBody>
          </p:sp>
          <p:sp>
            <p:nvSpPr>
              <p:cNvPr id="20" name="TextBox 20"/>
              <p:cNvSpPr txBox="1"/>
              <p:nvPr/>
            </p:nvSpPr>
            <p:spPr>
              <a:xfrm>
                <a:off x="699253" y="3546158"/>
                <a:ext cx="3233429" cy="322707"/>
              </a:xfrm>
              <a:prstGeom prst="rect">
                <a:avLst/>
              </a:prstGeom>
              <a:noFill/>
              <a:ln>
                <a:noFill/>
              </a:ln>
            </p:spPr>
            <p:txBody>
              <a:bodyPr wrap="none" lIns="0" tIns="0" rIns="0" bIns="0" anchor="t" anchorCtr="0">
                <a:spAutoFit/>
              </a:bodyPr>
              <a:lstStyle/>
              <a:p>
                <a:pPr algn="r"/>
                <a:r>
                  <a:rPr lang="en-AU" sz="1650" dirty="0">
                    <a:solidFill>
                      <a:schemeClr val="dk1"/>
                    </a:solidFill>
                    <a:latin typeface="+mn-lt"/>
                    <a:ea typeface="+mn-ea"/>
                    <a:cs typeface="+mn-cs"/>
                  </a:rPr>
                  <a:t>Gardens have social functions</a:t>
                </a:r>
              </a:p>
            </p:txBody>
          </p:sp>
          <p:sp>
            <p:nvSpPr>
              <p:cNvPr id="21" name="TextBox 21"/>
              <p:cNvSpPr txBox="1"/>
              <p:nvPr/>
            </p:nvSpPr>
            <p:spPr>
              <a:xfrm>
                <a:off x="1010376" y="4022408"/>
                <a:ext cx="2922306" cy="322707"/>
              </a:xfrm>
              <a:prstGeom prst="rect">
                <a:avLst/>
              </a:prstGeom>
              <a:noFill/>
              <a:ln>
                <a:noFill/>
              </a:ln>
            </p:spPr>
            <p:txBody>
              <a:bodyPr wrap="none" lIns="0" tIns="0" rIns="0" bIns="0" anchor="t" anchorCtr="0">
                <a:spAutoFit/>
              </a:bodyPr>
              <a:lstStyle/>
              <a:p>
                <a:pPr algn="r"/>
                <a:r>
                  <a:rPr lang="en-AU" sz="1650" dirty="0">
                    <a:solidFill>
                      <a:schemeClr val="dk1"/>
                    </a:solidFill>
                    <a:latin typeface="+mn-lt"/>
                    <a:ea typeface="+mn-ea"/>
                    <a:cs typeface="+mn-cs"/>
                  </a:rPr>
                  <a:t>I feel emotionally attached</a:t>
                </a:r>
              </a:p>
            </p:txBody>
          </p:sp>
          <p:sp>
            <p:nvSpPr>
              <p:cNvPr id="22" name="TextBox 22"/>
              <p:cNvSpPr txBox="1"/>
              <p:nvPr/>
            </p:nvSpPr>
            <p:spPr>
              <a:xfrm>
                <a:off x="1177361" y="4498658"/>
                <a:ext cx="2755321" cy="322707"/>
              </a:xfrm>
              <a:prstGeom prst="rect">
                <a:avLst/>
              </a:prstGeom>
              <a:noFill/>
              <a:ln>
                <a:noFill/>
              </a:ln>
            </p:spPr>
            <p:txBody>
              <a:bodyPr wrap="none" lIns="0" tIns="0" rIns="0" bIns="0" anchor="t" anchorCtr="0">
                <a:spAutoFit/>
              </a:bodyPr>
              <a:lstStyle/>
              <a:p>
                <a:pPr algn="r"/>
                <a:r>
                  <a:rPr lang="en-AU" sz="1650" dirty="0">
                    <a:solidFill>
                      <a:schemeClr val="dk1"/>
                    </a:solidFill>
                    <a:latin typeface="+mn-lt"/>
                    <a:ea typeface="+mn-ea"/>
                    <a:cs typeface="+mn-cs"/>
                  </a:rPr>
                  <a:t>Holds special significance</a:t>
                </a:r>
              </a:p>
            </p:txBody>
          </p:sp>
          <p:sp>
            <p:nvSpPr>
              <p:cNvPr id="23" name="TextBox 23"/>
              <p:cNvSpPr txBox="1"/>
              <p:nvPr/>
            </p:nvSpPr>
            <p:spPr>
              <a:xfrm>
                <a:off x="6754368" y="2117408"/>
                <a:ext cx="505435" cy="322707"/>
              </a:xfrm>
              <a:prstGeom prst="rect">
                <a:avLst/>
              </a:prstGeom>
              <a:noFill/>
              <a:ln>
                <a:noFill/>
              </a:ln>
            </p:spPr>
            <p:txBody>
              <a:bodyPr wrap="none" lIns="0" tIns="0" rIns="0" bIns="0" anchor="t" anchorCtr="0">
                <a:spAutoFit/>
              </a:bodyPr>
              <a:lstStyle/>
              <a:p>
                <a:pPr algn="l"/>
                <a:r>
                  <a:rPr lang="en-AU" sz="1650" dirty="0">
                    <a:solidFill>
                      <a:schemeClr val="dk1"/>
                    </a:solidFill>
                    <a:latin typeface="+mn-lt"/>
                    <a:ea typeface="+mn-ea"/>
                    <a:cs typeface="+mn-cs"/>
                  </a:rPr>
                  <a:t>4.47</a:t>
                </a:r>
              </a:p>
            </p:txBody>
          </p:sp>
          <p:sp>
            <p:nvSpPr>
              <p:cNvPr id="24" name="TextBox 24"/>
              <p:cNvSpPr txBox="1"/>
              <p:nvPr/>
            </p:nvSpPr>
            <p:spPr>
              <a:xfrm>
                <a:off x="6678168" y="2593658"/>
                <a:ext cx="505435" cy="322707"/>
              </a:xfrm>
              <a:prstGeom prst="rect">
                <a:avLst/>
              </a:prstGeom>
              <a:noFill/>
              <a:ln>
                <a:noFill/>
              </a:ln>
            </p:spPr>
            <p:txBody>
              <a:bodyPr wrap="none" lIns="0" tIns="0" rIns="0" bIns="0" anchor="t" anchorCtr="0">
                <a:spAutoFit/>
              </a:bodyPr>
              <a:lstStyle/>
              <a:p>
                <a:pPr algn="l"/>
                <a:r>
                  <a:rPr lang="en-AU" sz="1650" dirty="0">
                    <a:solidFill>
                      <a:schemeClr val="dk1"/>
                    </a:solidFill>
                    <a:latin typeface="+mn-lt"/>
                    <a:ea typeface="+mn-ea"/>
                    <a:cs typeface="+mn-cs"/>
                  </a:rPr>
                  <a:t>4.33</a:t>
                </a:r>
              </a:p>
            </p:txBody>
          </p:sp>
          <p:sp>
            <p:nvSpPr>
              <p:cNvPr id="25" name="TextBox 25"/>
              <p:cNvSpPr txBox="1"/>
              <p:nvPr/>
            </p:nvSpPr>
            <p:spPr>
              <a:xfrm>
                <a:off x="6678168" y="3069908"/>
                <a:ext cx="505435" cy="322707"/>
              </a:xfrm>
              <a:prstGeom prst="rect">
                <a:avLst/>
              </a:prstGeom>
              <a:noFill/>
              <a:ln>
                <a:noFill/>
              </a:ln>
            </p:spPr>
            <p:txBody>
              <a:bodyPr wrap="none" lIns="0" tIns="0" rIns="0" bIns="0" anchor="t" anchorCtr="0">
                <a:spAutoFit/>
              </a:bodyPr>
              <a:lstStyle/>
              <a:p>
                <a:pPr algn="l"/>
                <a:r>
                  <a:rPr lang="en-AU" sz="1650" dirty="0">
                    <a:solidFill>
                      <a:schemeClr val="dk1"/>
                    </a:solidFill>
                    <a:latin typeface="+mn-lt"/>
                    <a:ea typeface="+mn-ea"/>
                    <a:cs typeface="+mn-cs"/>
                  </a:rPr>
                  <a:t>4.33</a:t>
                </a:r>
              </a:p>
            </p:txBody>
          </p:sp>
          <p:sp>
            <p:nvSpPr>
              <p:cNvPr id="26" name="TextBox 26"/>
              <p:cNvSpPr txBox="1"/>
              <p:nvPr/>
            </p:nvSpPr>
            <p:spPr>
              <a:xfrm>
                <a:off x="6525768" y="3546158"/>
                <a:ext cx="505435" cy="322707"/>
              </a:xfrm>
              <a:prstGeom prst="rect">
                <a:avLst/>
              </a:prstGeom>
              <a:noFill/>
              <a:ln>
                <a:noFill/>
              </a:ln>
            </p:spPr>
            <p:txBody>
              <a:bodyPr wrap="none" lIns="0" tIns="0" rIns="0" bIns="0" anchor="t" anchorCtr="0">
                <a:spAutoFit/>
              </a:bodyPr>
              <a:lstStyle/>
              <a:p>
                <a:pPr algn="l"/>
                <a:r>
                  <a:rPr lang="en-AU" sz="1650" dirty="0">
                    <a:solidFill>
                      <a:schemeClr val="dk1"/>
                    </a:solidFill>
                    <a:latin typeface="+mn-lt"/>
                    <a:ea typeface="+mn-ea"/>
                    <a:cs typeface="+mn-cs"/>
                  </a:rPr>
                  <a:t>4.07</a:t>
                </a:r>
              </a:p>
            </p:txBody>
          </p:sp>
          <p:sp>
            <p:nvSpPr>
              <p:cNvPr id="27" name="TextBox 27"/>
              <p:cNvSpPr txBox="1"/>
              <p:nvPr/>
            </p:nvSpPr>
            <p:spPr>
              <a:xfrm>
                <a:off x="6373368" y="4022408"/>
                <a:ext cx="505435" cy="322707"/>
              </a:xfrm>
              <a:prstGeom prst="rect">
                <a:avLst/>
              </a:prstGeom>
              <a:noFill/>
              <a:ln>
                <a:noFill/>
              </a:ln>
            </p:spPr>
            <p:txBody>
              <a:bodyPr wrap="none" lIns="0" tIns="0" rIns="0" bIns="0" anchor="t" anchorCtr="0">
                <a:spAutoFit/>
              </a:bodyPr>
              <a:lstStyle/>
              <a:p>
                <a:pPr algn="l"/>
                <a:r>
                  <a:rPr lang="en-AU" sz="1650" dirty="0">
                    <a:solidFill>
                      <a:schemeClr val="dk1"/>
                    </a:solidFill>
                    <a:latin typeface="+mn-lt"/>
                    <a:ea typeface="+mn-ea"/>
                    <a:cs typeface="+mn-cs"/>
                  </a:rPr>
                  <a:t>3.80</a:t>
                </a:r>
              </a:p>
            </p:txBody>
          </p:sp>
          <p:sp>
            <p:nvSpPr>
              <p:cNvPr id="28" name="TextBox 28"/>
              <p:cNvSpPr txBox="1"/>
              <p:nvPr/>
            </p:nvSpPr>
            <p:spPr>
              <a:xfrm>
                <a:off x="6220968" y="4498658"/>
                <a:ext cx="505435" cy="322707"/>
              </a:xfrm>
              <a:prstGeom prst="rect">
                <a:avLst/>
              </a:prstGeom>
              <a:noFill/>
              <a:ln>
                <a:noFill/>
              </a:ln>
            </p:spPr>
            <p:txBody>
              <a:bodyPr wrap="none" lIns="0" tIns="0" rIns="0" bIns="0" anchor="t" anchorCtr="0">
                <a:spAutoFit/>
              </a:bodyPr>
              <a:lstStyle/>
              <a:p>
                <a:pPr algn="l"/>
                <a:r>
                  <a:rPr lang="en-AU" sz="1650" dirty="0">
                    <a:solidFill>
                      <a:schemeClr val="dk1"/>
                    </a:solidFill>
                    <a:latin typeface="+mn-lt"/>
                    <a:ea typeface="+mn-ea"/>
                    <a:cs typeface="+mn-cs"/>
                  </a:rPr>
                  <a:t>3.53</a:t>
                </a:r>
              </a:p>
            </p:txBody>
          </p:sp>
          <p:sp>
            <p:nvSpPr>
              <p:cNvPr id="29" name="TextBox 29"/>
              <p:cNvSpPr txBox="1"/>
              <p:nvPr/>
            </p:nvSpPr>
            <p:spPr>
              <a:xfrm>
                <a:off x="4064279" y="5013960"/>
                <a:ext cx="101041" cy="234696"/>
              </a:xfrm>
              <a:prstGeom prst="rect">
                <a:avLst/>
              </a:prstGeom>
              <a:noFill/>
              <a:ln>
                <a:noFill/>
              </a:ln>
            </p:spPr>
            <p:txBody>
              <a:bodyPr wrap="none" lIns="0" tIns="0" rIns="0" bIns="0" anchor="t" anchorCtr="0">
                <a:spAutoFit/>
              </a:bodyPr>
              <a:lstStyle/>
              <a:p>
                <a:pPr algn="ctr"/>
                <a:r>
                  <a:rPr lang="en-AU" sz="1200" dirty="0">
                    <a:solidFill>
                      <a:schemeClr val="accent5"/>
                    </a:solidFill>
                    <a:latin typeface="+mn-lt"/>
                    <a:ea typeface="+mn-ea"/>
                    <a:cs typeface="+mn-cs"/>
                  </a:rPr>
                  <a:t>0</a:t>
                </a:r>
              </a:p>
            </p:txBody>
          </p:sp>
          <p:sp>
            <p:nvSpPr>
              <p:cNvPr id="30" name="TextBox 30"/>
              <p:cNvSpPr txBox="1"/>
              <p:nvPr/>
            </p:nvSpPr>
            <p:spPr>
              <a:xfrm>
                <a:off x="4635779" y="5013960"/>
                <a:ext cx="101041" cy="234696"/>
              </a:xfrm>
              <a:prstGeom prst="rect">
                <a:avLst/>
              </a:prstGeom>
              <a:noFill/>
              <a:ln>
                <a:noFill/>
              </a:ln>
            </p:spPr>
            <p:txBody>
              <a:bodyPr wrap="none" lIns="0" tIns="0" rIns="0" bIns="0" anchor="t" anchorCtr="0">
                <a:spAutoFit/>
              </a:bodyPr>
              <a:lstStyle/>
              <a:p>
                <a:pPr algn="ctr"/>
                <a:r>
                  <a:rPr lang="en-AU" sz="1200" dirty="0">
                    <a:solidFill>
                      <a:schemeClr val="accent5"/>
                    </a:solidFill>
                    <a:latin typeface="+mn-lt"/>
                    <a:ea typeface="+mn-ea"/>
                    <a:cs typeface="+mn-cs"/>
                  </a:rPr>
                  <a:t>1</a:t>
                </a:r>
              </a:p>
            </p:txBody>
          </p:sp>
          <p:sp>
            <p:nvSpPr>
              <p:cNvPr id="31" name="TextBox 31"/>
              <p:cNvSpPr txBox="1"/>
              <p:nvPr/>
            </p:nvSpPr>
            <p:spPr>
              <a:xfrm>
                <a:off x="5207279" y="5013960"/>
                <a:ext cx="101041" cy="234696"/>
              </a:xfrm>
              <a:prstGeom prst="rect">
                <a:avLst/>
              </a:prstGeom>
              <a:noFill/>
              <a:ln>
                <a:noFill/>
              </a:ln>
            </p:spPr>
            <p:txBody>
              <a:bodyPr wrap="none" lIns="0" tIns="0" rIns="0" bIns="0" anchor="t" anchorCtr="0">
                <a:spAutoFit/>
              </a:bodyPr>
              <a:lstStyle/>
              <a:p>
                <a:pPr algn="ctr"/>
                <a:r>
                  <a:rPr lang="en-AU" sz="1200" dirty="0">
                    <a:solidFill>
                      <a:schemeClr val="accent5"/>
                    </a:solidFill>
                    <a:latin typeface="+mn-lt"/>
                    <a:ea typeface="+mn-ea"/>
                    <a:cs typeface="+mn-cs"/>
                  </a:rPr>
                  <a:t>2</a:t>
                </a:r>
              </a:p>
            </p:txBody>
          </p:sp>
          <p:sp>
            <p:nvSpPr>
              <p:cNvPr id="32" name="TextBox 32"/>
              <p:cNvSpPr txBox="1"/>
              <p:nvPr/>
            </p:nvSpPr>
            <p:spPr>
              <a:xfrm>
                <a:off x="5778779" y="5013960"/>
                <a:ext cx="101041" cy="234696"/>
              </a:xfrm>
              <a:prstGeom prst="rect">
                <a:avLst/>
              </a:prstGeom>
              <a:noFill/>
              <a:ln>
                <a:noFill/>
              </a:ln>
            </p:spPr>
            <p:txBody>
              <a:bodyPr wrap="none" lIns="0" tIns="0" rIns="0" bIns="0" anchor="t" anchorCtr="0">
                <a:spAutoFit/>
              </a:bodyPr>
              <a:lstStyle/>
              <a:p>
                <a:pPr algn="ctr"/>
                <a:r>
                  <a:rPr lang="en-AU" sz="1200" dirty="0">
                    <a:solidFill>
                      <a:schemeClr val="accent5"/>
                    </a:solidFill>
                    <a:latin typeface="+mn-lt"/>
                    <a:ea typeface="+mn-ea"/>
                    <a:cs typeface="+mn-cs"/>
                  </a:rPr>
                  <a:t>3</a:t>
                </a:r>
              </a:p>
            </p:txBody>
          </p:sp>
          <p:sp>
            <p:nvSpPr>
              <p:cNvPr id="33" name="TextBox 33"/>
              <p:cNvSpPr txBox="1"/>
              <p:nvPr/>
            </p:nvSpPr>
            <p:spPr>
              <a:xfrm>
                <a:off x="6350279" y="5013960"/>
                <a:ext cx="101041" cy="234696"/>
              </a:xfrm>
              <a:prstGeom prst="rect">
                <a:avLst/>
              </a:prstGeom>
              <a:noFill/>
              <a:ln>
                <a:noFill/>
              </a:ln>
            </p:spPr>
            <p:txBody>
              <a:bodyPr wrap="none" lIns="0" tIns="0" rIns="0" bIns="0" anchor="t" anchorCtr="0">
                <a:spAutoFit/>
              </a:bodyPr>
              <a:lstStyle/>
              <a:p>
                <a:pPr algn="ctr"/>
                <a:r>
                  <a:rPr lang="en-AU" sz="1200" dirty="0">
                    <a:solidFill>
                      <a:schemeClr val="accent5"/>
                    </a:solidFill>
                    <a:latin typeface="+mn-lt"/>
                    <a:ea typeface="+mn-ea"/>
                    <a:cs typeface="+mn-cs"/>
                  </a:rPr>
                  <a:t>4</a:t>
                </a:r>
              </a:p>
            </p:txBody>
          </p:sp>
          <p:sp>
            <p:nvSpPr>
              <p:cNvPr id="34" name="TextBox 34"/>
              <p:cNvSpPr txBox="1"/>
              <p:nvPr/>
            </p:nvSpPr>
            <p:spPr>
              <a:xfrm>
                <a:off x="6921779" y="5013960"/>
                <a:ext cx="101041" cy="234696"/>
              </a:xfrm>
              <a:prstGeom prst="rect">
                <a:avLst/>
              </a:prstGeom>
              <a:noFill/>
              <a:ln>
                <a:noFill/>
              </a:ln>
            </p:spPr>
            <p:txBody>
              <a:bodyPr wrap="none" lIns="0" tIns="0" rIns="0" bIns="0" anchor="t" anchorCtr="0">
                <a:spAutoFit/>
              </a:bodyPr>
              <a:lstStyle/>
              <a:p>
                <a:pPr algn="ctr"/>
                <a:r>
                  <a:rPr lang="en-AU" sz="1200" dirty="0">
                    <a:solidFill>
                      <a:schemeClr val="accent5"/>
                    </a:solidFill>
                    <a:latin typeface="+mn-lt"/>
                    <a:ea typeface="+mn-ea"/>
                    <a:cs typeface="+mn-cs"/>
                  </a:rPr>
                  <a:t>5</a:t>
                </a:r>
              </a:p>
            </p:txBody>
          </p:sp>
        </p:grpSp>
        <p:sp>
          <p:nvSpPr>
            <p:cNvPr id="36" name="TextBox 36"/>
            <p:cNvSpPr txBox="1"/>
            <p:nvPr/>
          </p:nvSpPr>
          <p:spPr>
            <a:xfrm>
              <a:off x="679704" y="5394960"/>
              <a:ext cx="5505218" cy="234696"/>
            </a:xfrm>
            <a:prstGeom prst="rect">
              <a:avLst/>
            </a:prstGeom>
            <a:noFill/>
            <a:ln>
              <a:noFill/>
            </a:ln>
          </p:spPr>
          <p:txBody>
            <a:bodyPr wrap="none" lIns="0" tIns="0" rIns="0" bIns="0" anchor="t" anchorCtr="0">
              <a:spAutoFit/>
            </a:bodyPr>
            <a:lstStyle/>
            <a:p>
              <a:pPr algn="l"/>
              <a:r>
                <a:rPr lang="en-AU" sz="1200" dirty="0">
                  <a:solidFill>
                    <a:schemeClr val="accent5"/>
                  </a:solidFill>
                  <a:latin typeface="+mn-lt"/>
                  <a:ea typeface="+mn-ea"/>
                  <a:cs typeface="+mn-cs"/>
                </a:rPr>
                <a:t>On-site visitor questionnaire, Jichang Garden (N=15); 5-point scale.</a:t>
              </a:r>
            </a:p>
          </p:txBody>
        </p:sp>
      </p:grpSp>
      <p:grpSp>
        <p:nvGrpSpPr>
          <p:cNvPr id="45" name="Group 45"/>
          <p:cNvGrpSpPr/>
          <p:nvPr/>
        </p:nvGrpSpPr>
        <p:grpSpPr>
          <a:xfrm>
            <a:off x="7639050" y="1784032"/>
            <a:ext cx="3547872" cy="4094607"/>
            <a:chOff x="7639050" y="1784032"/>
            <a:chExt cx="3547872" cy="4094607"/>
          </a:xfrm>
        </p:grpSpPr>
        <p:sp>
          <p:nvSpPr>
            <p:cNvPr id="38" name="TextBox 38"/>
            <p:cNvSpPr txBox="1"/>
            <p:nvPr/>
          </p:nvSpPr>
          <p:spPr>
            <a:xfrm>
              <a:off x="7649718" y="1784032"/>
              <a:ext cx="3466888" cy="322707"/>
            </a:xfrm>
            <a:prstGeom prst="rect">
              <a:avLst/>
            </a:prstGeom>
            <a:noFill/>
            <a:ln>
              <a:noFill/>
            </a:ln>
          </p:spPr>
          <p:txBody>
            <a:bodyPr wrap="none" lIns="0" tIns="0" rIns="0" bIns="0" anchor="t" anchorCtr="0">
              <a:spAutoFit/>
            </a:bodyPr>
            <a:lstStyle/>
            <a:p>
              <a:pPr algn="l"/>
              <a:r>
                <a:rPr lang="en-AU" sz="1650" dirty="0">
                  <a:solidFill>
                    <a:schemeClr val="accent5"/>
                  </a:solidFill>
                  <a:latin typeface="+mn-lt"/>
                  <a:ea typeface="+mn-ea"/>
                  <a:cs typeface="+mn-cs"/>
                </a:rPr>
                <a:t>What the online survey required</a:t>
              </a:r>
            </a:p>
          </p:txBody>
        </p:sp>
        <p:sp>
          <p:nvSpPr>
            <p:cNvPr id="39" name="TextBox 39"/>
            <p:cNvSpPr txBox="1"/>
            <p:nvPr/>
          </p:nvSpPr>
          <p:spPr>
            <a:xfrm>
              <a:off x="7639050" y="2137410"/>
              <a:ext cx="1344183" cy="819150"/>
            </a:xfrm>
            <a:prstGeom prst="rect">
              <a:avLst/>
            </a:prstGeom>
            <a:noFill/>
            <a:ln>
              <a:noFill/>
            </a:ln>
          </p:spPr>
          <p:txBody>
            <a:bodyPr wrap="none" lIns="0" tIns="0" rIns="0" bIns="0" anchor="t" anchorCtr="0">
              <a:spAutoFit/>
            </a:bodyPr>
            <a:lstStyle/>
            <a:p>
              <a:pPr algn="l"/>
              <a:r>
                <a:rPr lang="en-AU" sz="4200" b="1" dirty="0">
                  <a:solidFill>
                    <a:schemeClr val="accent1"/>
                  </a:solidFill>
                  <a:latin typeface="+mn-lt"/>
                  <a:ea typeface="+mn-ea"/>
                  <a:cs typeface="+mn-cs"/>
                </a:rPr>
                <a:t>4.32</a:t>
              </a:r>
            </a:p>
          </p:txBody>
        </p:sp>
        <p:sp>
          <p:nvSpPr>
            <p:cNvPr id="40" name="TextBox 40"/>
            <p:cNvSpPr txBox="1"/>
            <p:nvPr/>
          </p:nvSpPr>
          <p:spPr>
            <a:xfrm>
              <a:off x="7649718" y="2736532"/>
              <a:ext cx="3327654" cy="627507"/>
            </a:xfrm>
            <a:prstGeom prst="rect">
              <a:avLst/>
            </a:prstGeom>
            <a:noFill/>
            <a:ln>
              <a:noFill/>
            </a:ln>
          </p:spPr>
          <p:txBody>
            <a:bodyPr wrap="none" lIns="0" tIns="0" rIns="0" bIns="0" anchor="t" anchorCtr="0">
              <a:spAutoFit/>
            </a:bodyPr>
            <a:lstStyle/>
            <a:p>
              <a:pPr algn="l">
                <a:lnSpc>
                  <a:spcPts val="2400"/>
                </a:lnSpc>
              </a:pPr>
              <a:r>
                <a:rPr lang="en-AU" sz="1650" dirty="0">
                  <a:solidFill>
                    <a:schemeClr val="dk1"/>
                  </a:solidFill>
                  <a:latin typeface="+mn-lt"/>
                  <a:ea typeface="+mn-ea"/>
                  <a:cs typeface="+mn-cs"/>
                </a:rPr>
                <a:t>seasonal change and the passage</a:t>
              </a:r>
              <a:br/>
              <a:r>
                <a:rPr lang="en-AU" sz="1650" dirty="0">
                  <a:solidFill>
                    <a:schemeClr val="dk1"/>
                  </a:solidFill>
                  <a:latin typeface="+mn-lt"/>
                  <a:ea typeface="+mn-ea"/>
                  <a:cs typeface="+mn-cs"/>
                </a:rPr>
                <a:t>of time; highest of 5 (SD 0.68)</a:t>
              </a:r>
            </a:p>
          </p:txBody>
        </p:sp>
        <p:sp>
          <p:nvSpPr>
            <p:cNvPr id="41" name="TextBox 41"/>
            <p:cNvSpPr txBox="1"/>
            <p:nvPr/>
          </p:nvSpPr>
          <p:spPr>
            <a:xfrm>
              <a:off x="7639050" y="3394710"/>
              <a:ext cx="1344183" cy="819150"/>
            </a:xfrm>
            <a:prstGeom prst="rect">
              <a:avLst/>
            </a:prstGeom>
            <a:noFill/>
            <a:ln>
              <a:noFill/>
            </a:ln>
          </p:spPr>
          <p:txBody>
            <a:bodyPr wrap="none" lIns="0" tIns="0" rIns="0" bIns="0" anchor="t" anchorCtr="0">
              <a:spAutoFit/>
            </a:bodyPr>
            <a:lstStyle/>
            <a:p>
              <a:pPr algn="l"/>
              <a:r>
                <a:rPr lang="en-AU" sz="4200" b="1" dirty="0">
                  <a:solidFill>
                    <a:schemeClr val="accent1"/>
                  </a:solidFill>
                  <a:latin typeface="+mn-lt"/>
                  <a:ea typeface="+mn-ea"/>
                  <a:cs typeface="+mn-cs"/>
                </a:rPr>
                <a:t>4.25</a:t>
              </a:r>
            </a:p>
          </p:txBody>
        </p:sp>
        <p:sp>
          <p:nvSpPr>
            <p:cNvPr id="42" name="TextBox 42"/>
            <p:cNvSpPr txBox="1"/>
            <p:nvPr/>
          </p:nvSpPr>
          <p:spPr>
            <a:xfrm>
              <a:off x="7649718" y="3993832"/>
              <a:ext cx="3097149" cy="627507"/>
            </a:xfrm>
            <a:prstGeom prst="rect">
              <a:avLst/>
            </a:prstGeom>
            <a:noFill/>
            <a:ln>
              <a:noFill/>
            </a:ln>
          </p:spPr>
          <p:txBody>
            <a:bodyPr wrap="none" lIns="0" tIns="0" rIns="0" bIns="0" anchor="t" anchorCtr="0">
              <a:spAutoFit/>
            </a:bodyPr>
            <a:lstStyle/>
            <a:p>
              <a:pPr algn="l">
                <a:lnSpc>
                  <a:spcPts val="2400"/>
                </a:lnSpc>
              </a:pPr>
              <a:r>
                <a:rPr lang="en-AU" sz="1650" dirty="0">
                  <a:solidFill>
                    <a:schemeClr val="dk1"/>
                  </a:solidFill>
                  <a:latin typeface="+mn-lt"/>
                  <a:ea typeface="+mn-ea"/>
                  <a:cs typeface="+mn-cs"/>
                </a:rPr>
                <a:t>centrality of cultural symbols</a:t>
              </a:r>
              <a:br/>
              <a:r>
                <a:rPr lang="en-AU" sz="1650" dirty="0">
                  <a:solidFill>
                    <a:schemeClr val="dk1"/>
                  </a:solidFill>
                  <a:latin typeface="+mn-lt"/>
                  <a:ea typeface="+mn-ea"/>
                  <a:cs typeface="+mn-cs"/>
                </a:rPr>
                <a:t>(SD 0.75)</a:t>
              </a:r>
            </a:p>
          </p:txBody>
        </p:sp>
        <p:sp>
          <p:nvSpPr>
            <p:cNvPr id="43" name="TextBox 43"/>
            <p:cNvSpPr txBox="1"/>
            <p:nvPr/>
          </p:nvSpPr>
          <p:spPr>
            <a:xfrm>
              <a:off x="7639050" y="4652010"/>
              <a:ext cx="2323746" cy="819150"/>
            </a:xfrm>
            <a:prstGeom prst="rect">
              <a:avLst/>
            </a:prstGeom>
            <a:noFill/>
            <a:ln>
              <a:noFill/>
            </a:ln>
          </p:spPr>
          <p:txBody>
            <a:bodyPr wrap="none" lIns="0" tIns="0" rIns="0" bIns="0" anchor="t" anchorCtr="0">
              <a:spAutoFit/>
            </a:bodyPr>
            <a:lstStyle/>
            <a:p>
              <a:pPr algn="l"/>
              <a:r>
                <a:rPr lang="en-AU" sz="4200" b="1" dirty="0">
                  <a:solidFill>
                    <a:schemeClr val="accent2"/>
                  </a:solidFill>
                  <a:latin typeface="+mn-lt"/>
                  <a:ea typeface="+mn-ea"/>
                  <a:cs typeface="+mn-cs"/>
                </a:rPr>
                <a:t>130/172</a:t>
              </a:r>
            </a:p>
          </p:txBody>
        </p:sp>
        <p:sp>
          <p:nvSpPr>
            <p:cNvPr id="44" name="TextBox 44"/>
            <p:cNvSpPr txBox="1"/>
            <p:nvPr/>
          </p:nvSpPr>
          <p:spPr>
            <a:xfrm>
              <a:off x="7649718" y="5251132"/>
              <a:ext cx="3537204" cy="627507"/>
            </a:xfrm>
            <a:prstGeom prst="rect">
              <a:avLst/>
            </a:prstGeom>
            <a:noFill/>
            <a:ln>
              <a:noFill/>
            </a:ln>
          </p:spPr>
          <p:txBody>
            <a:bodyPr wrap="none" lIns="0" tIns="0" rIns="0" bIns="0" anchor="t" anchorCtr="0">
              <a:spAutoFit/>
            </a:bodyPr>
            <a:lstStyle/>
            <a:p>
              <a:pPr algn="l">
                <a:lnSpc>
                  <a:spcPts val="2400"/>
                </a:lnSpc>
              </a:pPr>
              <a:r>
                <a:rPr lang="en-AU" sz="1650" dirty="0">
                  <a:solidFill>
                    <a:schemeClr val="dk1"/>
                  </a:solidFill>
                  <a:latin typeface="+mn-lt"/>
                  <a:ea typeface="+mn-ea"/>
                  <a:cs typeface="+mn-cs"/>
                </a:rPr>
                <a:t>named overly complex operation as</a:t>
              </a:r>
              <a:br/>
              <a:r>
                <a:rPr lang="en-AU" sz="1650" dirty="0">
                  <a:solidFill>
                    <a:schemeClr val="dk1"/>
                  </a:solidFill>
                  <a:latin typeface="+mn-lt"/>
                  <a:ea typeface="+mn-ea"/>
                  <a:cs typeface="+mn-cs"/>
                </a:rPr>
                <a:t>the interaction style to avoid</a:t>
              </a:r>
            </a:p>
          </p:txBody>
        </p:sp>
      </p:grpSp>
      <p:grpSp>
        <p:nvGrpSpPr>
          <p:cNvPr id="48" name="Group 48"/>
          <p:cNvGrpSpPr/>
          <p:nvPr/>
        </p:nvGrpSpPr>
        <p:grpSpPr>
          <a:xfrm>
            <a:off x="679704" y="6080760"/>
            <a:ext cx="10832592" cy="234696"/>
            <a:chOff x="679704" y="6080760"/>
            <a:chExt cx="10832592" cy="234696"/>
          </a:xfrm>
        </p:grpSpPr>
        <p:sp>
          <p:nvSpPr>
            <p:cNvPr id="46" name="TextBox 46"/>
            <p:cNvSpPr txBox="1"/>
            <p:nvPr/>
          </p:nvSpPr>
          <p:spPr>
            <a:xfrm>
              <a:off x="679704" y="6080760"/>
              <a:ext cx="3599609" cy="234696"/>
            </a:xfrm>
            <a:prstGeom prst="rect">
              <a:avLst/>
            </a:prstGeom>
            <a:noFill/>
            <a:ln>
              <a:noFill/>
            </a:ln>
          </p:spPr>
          <p:txBody>
            <a:bodyPr wrap="none" lIns="0" tIns="0" rIns="0" bIns="0" anchor="t" anchorCtr="0">
              <a:spAutoFit/>
            </a:bodyPr>
            <a:lstStyle/>
            <a:p>
              <a:pPr algn="l"/>
              <a:r>
                <a:rPr lang="en-AU" sz="1200" dirty="0">
                  <a:solidFill>
                    <a:schemeClr val="accent5"/>
                  </a:solidFill>
                  <a:latin typeface="+mn-lt"/>
                  <a:ea typeface="+mn-ea"/>
                  <a:cs typeface="+mn-cs"/>
                </a:rPr>
                <a:t>Root-Seeking · Xun Gen — Expanded 2026, Linz</a:t>
              </a:r>
            </a:p>
          </p:txBody>
        </p:sp>
        <p:sp>
          <p:nvSpPr>
            <p:cNvPr id="47" name="TextBox 47"/>
            <p:cNvSpPr txBox="1"/>
            <p:nvPr/>
          </p:nvSpPr>
          <p:spPr>
            <a:xfrm>
              <a:off x="11411255" y="6080760"/>
              <a:ext cx="101041" cy="234696"/>
            </a:xfrm>
            <a:prstGeom prst="rect">
              <a:avLst/>
            </a:prstGeom>
            <a:noFill/>
            <a:ln>
              <a:noFill/>
            </a:ln>
          </p:spPr>
          <p:txBody>
            <a:bodyPr wrap="none" lIns="0" tIns="0" rIns="0" bIns="0" anchor="t" anchorCtr="0">
              <a:spAutoFit/>
            </a:bodyPr>
            <a:lstStyle/>
            <a:p>
              <a:pPr algn="r"/>
              <a:r>
                <a:rPr lang="en-AU" sz="1200" dirty="0">
                  <a:solidFill>
                    <a:schemeClr val="accent5"/>
                  </a:solidFill>
                  <a:latin typeface="+mn-lt"/>
                  <a:ea typeface="+mn-ea"/>
                  <a:cs typeface="+mn-cs"/>
                </a:rPr>
                <a:t>7</a:t>
              </a:r>
            </a:p>
          </p:txBody>
        </p:sp>
      </p:gr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667512" y="678180"/>
            <a:ext cx="10496989" cy="1221677"/>
            <a:chOff x="667512" y="678180"/>
            <a:chExt cx="10496989" cy="1221677"/>
          </a:xfrm>
        </p:grpSpPr>
        <p:sp>
          <p:nvSpPr>
            <p:cNvPr id="2" name="TextBox 2"/>
            <p:cNvSpPr txBox="1"/>
            <p:nvPr/>
          </p:nvSpPr>
          <p:spPr>
            <a:xfrm>
              <a:off x="667512" y="678180"/>
              <a:ext cx="10496989" cy="704088"/>
            </a:xfrm>
            <a:prstGeom prst="rect">
              <a:avLst/>
            </a:prstGeom>
            <a:noFill/>
            <a:ln>
              <a:noFill/>
            </a:ln>
          </p:spPr>
          <p:txBody>
            <a:bodyPr wrap="none" lIns="0" tIns="0" rIns="0" bIns="0" anchor="t" anchorCtr="0">
              <a:spAutoFit/>
            </a:bodyPr>
            <a:lstStyle/>
            <a:p>
              <a:pPr algn="l"/>
              <a:r>
                <a:rPr lang="en-AU" sz="3600" dirty="0">
                  <a:solidFill>
                    <a:schemeClr val="accent1"/>
                  </a:solidFill>
                  <a:latin typeface="+mj-lt"/>
                  <a:ea typeface="+mj-ea"/>
                  <a:cs typeface="+mj-cs"/>
                </a:rPr>
                <a:t>Two platforms, one designed environment</a:t>
              </a:r>
            </a:p>
          </p:txBody>
        </p:sp>
        <p:sp>
          <p:nvSpPr>
            <p:cNvPr id="3" name="Rectangle 3"/>
            <p:cNvSpPr/>
            <p:nvPr/>
          </p:nvSpPr>
          <p:spPr>
            <a:xfrm>
              <a:off x="685800" y="1295400"/>
              <a:ext cx="2095500" cy="38100"/>
            </a:xfrm>
            <a:prstGeom prst="rect">
              <a:avLst/>
            </a:prstGeom>
            <a:solidFill>
              <a:schemeClr val="accent1"/>
            </a:solidFill>
            <a:ln>
              <a:noFill/>
            </a:ln>
          </p:spPr>
        </p:sp>
        <p:sp>
          <p:nvSpPr>
            <p:cNvPr id="4" name="TextBox 4"/>
            <p:cNvSpPr txBox="1"/>
            <p:nvPr/>
          </p:nvSpPr>
          <p:spPr>
            <a:xfrm>
              <a:off x="672846" y="1401128"/>
              <a:ext cx="8968430" cy="498729"/>
            </a:xfrm>
            <a:prstGeom prst="rect">
              <a:avLst/>
            </a:prstGeom>
            <a:noFill/>
            <a:ln>
              <a:noFill/>
            </a:ln>
          </p:spPr>
          <p:txBody>
            <a:bodyPr wrap="none" lIns="0" tIns="0" rIns="0" bIns="0" anchor="t" anchorCtr="0">
              <a:spAutoFit/>
            </a:bodyPr>
            <a:lstStyle/>
            <a:p>
              <a:pPr algn="l"/>
              <a:r>
                <a:rPr lang="en-AU" sz="2550" dirty="0">
                  <a:solidFill>
                    <a:schemeClr val="dk1"/>
                  </a:solidFill>
                  <a:latin typeface="+mn-lt"/>
                  <a:ea typeface="+mn-ea"/>
                  <a:cs typeface="+mn-cs"/>
                </a:rPr>
                <a:t>Minecraft is the methodological engine of Phase Two.</a:t>
              </a:r>
            </a:p>
          </p:txBody>
        </p:sp>
      </p:grpSp>
      <p:grpSp>
        <p:nvGrpSpPr>
          <p:cNvPr id="9" name="Group 9"/>
          <p:cNvGrpSpPr/>
          <p:nvPr/>
        </p:nvGrpSpPr>
        <p:grpSpPr>
          <a:xfrm>
            <a:off x="672084" y="2019300"/>
            <a:ext cx="6300216" cy="3878389"/>
            <a:chOff x="672084" y="2019300"/>
            <a:chExt cx="6300216" cy="3878389"/>
          </a:xfrm>
        </p:grpSpPr>
        <p:pic>
          <p:nvPicPr>
            <p:cNvPr id="6" name="Image 6"/>
            <p:cNvPicPr>
              <a:picLocks noChangeAspect="1"/>
            </p:cNvPicPr>
            <p:nvPr/>
          </p:nvPicPr>
          <p:blipFill>
            <a:blip r:embed="rId2"/>
            <a:srcRect l="0" t="10746" r="0" b="10747"/>
            <a:stretch>
              <a:fillRect/>
            </a:stretch>
          </p:blipFill>
          <p:spPr>
            <a:xfrm>
              <a:off x="685800" y="2019300"/>
              <a:ext cx="6286500" cy="2762250"/>
            </a:xfrm>
            <a:prstGeom prst="rect">
              <a:avLst/>
            </a:prstGeom>
          </p:spPr>
        </p:pic>
        <p:sp>
          <p:nvSpPr>
            <p:cNvPr id="7" name="TextBox 7"/>
            <p:cNvSpPr txBox="1"/>
            <p:nvPr/>
          </p:nvSpPr>
          <p:spPr>
            <a:xfrm>
              <a:off x="672084" y="4852035"/>
              <a:ext cx="3060138" cy="528066"/>
            </a:xfrm>
            <a:prstGeom prst="rect">
              <a:avLst/>
            </a:prstGeom>
            <a:noFill/>
            <a:ln>
              <a:noFill/>
            </a:ln>
          </p:spPr>
          <p:txBody>
            <a:bodyPr wrap="none" lIns="0" tIns="0" rIns="0" bIns="0" anchor="t" anchorCtr="0">
              <a:spAutoFit/>
            </a:bodyPr>
            <a:lstStyle/>
            <a:p>
              <a:pPr algn="l"/>
              <a:r>
                <a:rPr lang="en-AU" sz="2700" dirty="0">
                  <a:solidFill>
                    <a:schemeClr val="accent1"/>
                  </a:solidFill>
                  <a:latin typeface="+mj-lt"/>
                  <a:ea typeface="+mj-ea"/>
                  <a:cs typeface="+mj-cs"/>
                </a:rPr>
                <a:t>High-fidelity VR</a:t>
              </a:r>
            </a:p>
          </p:txBody>
        </p:sp>
        <p:sp>
          <p:nvSpPr>
            <p:cNvPr id="8" name="TextBox 8"/>
            <p:cNvSpPr txBox="1"/>
            <p:nvPr/>
          </p:nvSpPr>
          <p:spPr>
            <a:xfrm>
              <a:off x="677418" y="5308282"/>
              <a:ext cx="4071557" cy="589407"/>
            </a:xfrm>
            <a:prstGeom prst="rect">
              <a:avLst/>
            </a:prstGeom>
            <a:noFill/>
            <a:ln>
              <a:noFill/>
            </a:ln>
          </p:spPr>
          <p:txBody>
            <a:bodyPr wrap="none" lIns="0" tIns="0" rIns="0" bIns="0" anchor="t" anchorCtr="0">
              <a:spAutoFit/>
            </a:bodyPr>
            <a:lstStyle/>
            <a:p>
              <a:pPr algn="l">
                <a:lnSpc>
                  <a:spcPts val="2100"/>
                </a:lnSpc>
              </a:pPr>
              <a:r>
                <a:rPr lang="en-AU" sz="1650" dirty="0">
                  <a:solidFill>
                    <a:schemeClr val="dk1"/>
                  </a:solidFill>
                  <a:latin typeface="+mn-lt"/>
                  <a:ea typeface="+mn-ea"/>
                  <a:cs typeface="+mn-cs"/>
                </a:rPr>
                <a:t>Unity 2022.3 → VRChat on Meta Quest 3</a:t>
              </a:r>
              <a:br/>
              <a:r>
                <a:rPr lang="en-AU" sz="1650" dirty="0">
                  <a:solidFill>
                    <a:schemeClr val="dk1"/>
                  </a:solidFill>
                  <a:latin typeface="+mn-lt"/>
                  <a:ea typeface="+mn-ea"/>
                  <a:cs typeface="+mn-cs"/>
                </a:rPr>
                <a:t>90fps, 3 × 3 m volume, desktop fallback</a:t>
              </a:r>
            </a:p>
          </p:txBody>
        </p:sp>
      </p:grpSp>
      <p:grpSp>
        <p:nvGrpSpPr>
          <p:cNvPr id="13" name="Group 13"/>
          <p:cNvGrpSpPr/>
          <p:nvPr/>
        </p:nvGrpSpPr>
        <p:grpSpPr>
          <a:xfrm>
            <a:off x="7263384" y="2381250"/>
            <a:ext cx="4242816" cy="3516439"/>
            <a:chOff x="7263384" y="2381250"/>
            <a:chExt cx="4242816" cy="3516439"/>
          </a:xfrm>
        </p:grpSpPr>
        <p:pic>
          <p:nvPicPr>
            <p:cNvPr id="10" name="Image 10"/>
            <p:cNvPicPr>
              <a:picLocks noChangeAspect="1"/>
            </p:cNvPicPr>
            <p:nvPr/>
          </p:nvPicPr>
          <p:blipFill>
            <a:blip r:embed="rId3"/>
            <a:stretch>
              <a:fillRect/>
            </a:stretch>
          </p:blipFill>
          <p:spPr>
            <a:xfrm>
              <a:off x="7277100" y="2381250"/>
              <a:ext cx="4229100" cy="2028825"/>
            </a:xfrm>
            <a:prstGeom prst="rect">
              <a:avLst/>
            </a:prstGeom>
          </p:spPr>
        </p:pic>
        <p:sp>
          <p:nvSpPr>
            <p:cNvPr id="11" name="TextBox 11"/>
            <p:cNvSpPr txBox="1"/>
            <p:nvPr/>
          </p:nvSpPr>
          <p:spPr>
            <a:xfrm>
              <a:off x="7263384" y="4852035"/>
              <a:ext cx="3862426" cy="528066"/>
            </a:xfrm>
            <a:prstGeom prst="rect">
              <a:avLst/>
            </a:prstGeom>
            <a:noFill/>
            <a:ln>
              <a:noFill/>
            </a:ln>
          </p:spPr>
          <p:txBody>
            <a:bodyPr wrap="none" lIns="0" tIns="0" rIns="0" bIns="0" anchor="t" anchorCtr="0">
              <a:spAutoFit/>
            </a:bodyPr>
            <a:lstStyle/>
            <a:p>
              <a:pPr algn="l"/>
              <a:r>
                <a:rPr lang="en-AU" sz="2700" dirty="0">
                  <a:solidFill>
                    <a:schemeClr val="accent1"/>
                  </a:solidFill>
                  <a:latin typeface="+mj-lt"/>
                  <a:ea typeface="+mj-ea"/>
                  <a:cs typeface="+mj-cs"/>
                </a:rPr>
                <a:t>Minecraft + MinePal</a:t>
              </a:r>
            </a:p>
          </p:txBody>
        </p:sp>
        <p:sp>
          <p:nvSpPr>
            <p:cNvPr id="12" name="TextBox 12"/>
            <p:cNvSpPr txBox="1"/>
            <p:nvPr/>
          </p:nvSpPr>
          <p:spPr>
            <a:xfrm>
              <a:off x="7268718" y="5308282"/>
              <a:ext cx="3851529" cy="589407"/>
            </a:xfrm>
            <a:prstGeom prst="rect">
              <a:avLst/>
            </a:prstGeom>
            <a:noFill/>
            <a:ln>
              <a:noFill/>
            </a:ln>
          </p:spPr>
          <p:txBody>
            <a:bodyPr wrap="none" lIns="0" tIns="0" rIns="0" bIns="0" anchor="t" anchorCtr="0">
              <a:spAutoFit/>
            </a:bodyPr>
            <a:lstStyle/>
            <a:p>
              <a:pPr algn="l">
                <a:lnSpc>
                  <a:spcPts val="2100"/>
                </a:lnSpc>
              </a:pPr>
              <a:r>
                <a:rPr lang="en-AU" sz="1650" dirty="0">
                  <a:solidFill>
                    <a:schemeClr val="dk1"/>
                  </a:solidFill>
                  <a:latin typeface="+mn-lt"/>
                  <a:ea typeface="+mn-ea"/>
                  <a:cs typeface="+mn-cs"/>
                </a:rPr>
                <a:t>Java Edition, custom server, AI guide</a:t>
              </a:r>
              <a:br/>
              <a:r>
                <a:rPr lang="en-AU" sz="1650" dirty="0">
                  <a:solidFill>
                    <a:schemeClr val="dk1"/>
                  </a:solidFill>
                  <a:latin typeface="+mn-lt"/>
                  <a:ea typeface="+mn-ea"/>
                  <a:cs typeface="+mn-cs"/>
                </a:rPr>
                <a:t>configured by a character brief</a:t>
              </a:r>
            </a:p>
          </p:txBody>
        </p:sp>
      </p:grpSp>
      <p:grpSp>
        <p:nvGrpSpPr>
          <p:cNvPr id="16" name="Group 16"/>
          <p:cNvGrpSpPr/>
          <p:nvPr/>
        </p:nvGrpSpPr>
        <p:grpSpPr>
          <a:xfrm>
            <a:off x="679704" y="6080760"/>
            <a:ext cx="10832592" cy="234696"/>
            <a:chOff x="679704" y="6080760"/>
            <a:chExt cx="10832592" cy="234696"/>
          </a:xfrm>
        </p:grpSpPr>
        <p:sp>
          <p:nvSpPr>
            <p:cNvPr id="14" name="TextBox 14"/>
            <p:cNvSpPr txBox="1"/>
            <p:nvPr/>
          </p:nvSpPr>
          <p:spPr>
            <a:xfrm>
              <a:off x="679704" y="6080760"/>
              <a:ext cx="3599609" cy="234696"/>
            </a:xfrm>
            <a:prstGeom prst="rect">
              <a:avLst/>
            </a:prstGeom>
            <a:noFill/>
            <a:ln>
              <a:noFill/>
            </a:ln>
          </p:spPr>
          <p:txBody>
            <a:bodyPr wrap="none" lIns="0" tIns="0" rIns="0" bIns="0" anchor="t" anchorCtr="0">
              <a:spAutoFit/>
            </a:bodyPr>
            <a:lstStyle/>
            <a:p>
              <a:pPr algn="l"/>
              <a:r>
                <a:rPr lang="en-AU" sz="1200" dirty="0">
                  <a:solidFill>
                    <a:schemeClr val="accent5"/>
                  </a:solidFill>
                  <a:latin typeface="+mn-lt"/>
                  <a:ea typeface="+mn-ea"/>
                  <a:cs typeface="+mn-cs"/>
                </a:rPr>
                <a:t>Root-Seeking · Xun Gen — Expanded 2026, Linz</a:t>
              </a:r>
            </a:p>
          </p:txBody>
        </p:sp>
        <p:sp>
          <p:nvSpPr>
            <p:cNvPr id="15" name="TextBox 15"/>
            <p:cNvSpPr txBox="1"/>
            <p:nvPr/>
          </p:nvSpPr>
          <p:spPr>
            <a:xfrm>
              <a:off x="11411255" y="6080760"/>
              <a:ext cx="101041" cy="234696"/>
            </a:xfrm>
            <a:prstGeom prst="rect">
              <a:avLst/>
            </a:prstGeom>
            <a:noFill/>
            <a:ln>
              <a:noFill/>
            </a:ln>
          </p:spPr>
          <p:txBody>
            <a:bodyPr wrap="none" lIns="0" tIns="0" rIns="0" bIns="0" anchor="t" anchorCtr="0">
              <a:spAutoFit/>
            </a:bodyPr>
            <a:lstStyle/>
            <a:p>
              <a:pPr algn="r"/>
              <a:r>
                <a:rPr lang="en-AU" sz="1200" dirty="0">
                  <a:solidFill>
                    <a:schemeClr val="accent5"/>
                  </a:solidFill>
                  <a:latin typeface="+mn-lt"/>
                  <a:ea typeface="+mn-ea"/>
                  <a:cs typeface="+mn-cs"/>
                </a:rPr>
                <a:t>8</a:t>
              </a:r>
            </a:p>
          </p:txBody>
        </p:sp>
      </p:gr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667512" y="678180"/>
            <a:ext cx="3914335" cy="704088"/>
            <a:chOff x="667512" y="678180"/>
            <a:chExt cx="3914335" cy="704088"/>
          </a:xfrm>
        </p:grpSpPr>
        <p:sp>
          <p:nvSpPr>
            <p:cNvPr id="2" name="TextBox 2"/>
            <p:cNvSpPr txBox="1"/>
            <p:nvPr/>
          </p:nvSpPr>
          <p:spPr>
            <a:xfrm>
              <a:off x="667512" y="678180"/>
              <a:ext cx="3914335" cy="704088"/>
            </a:xfrm>
            <a:prstGeom prst="rect">
              <a:avLst/>
            </a:prstGeom>
            <a:noFill/>
            <a:ln>
              <a:noFill/>
            </a:ln>
          </p:spPr>
          <p:txBody>
            <a:bodyPr wrap="none" lIns="0" tIns="0" rIns="0" bIns="0" anchor="t" anchorCtr="0">
              <a:spAutoFit/>
            </a:bodyPr>
            <a:lstStyle/>
            <a:p>
              <a:pPr algn="l"/>
              <a:r>
                <a:rPr lang="en-AU" sz="3600" dirty="0">
                  <a:solidFill>
                    <a:schemeClr val="accent1"/>
                  </a:solidFill>
                  <a:latin typeface="+mj-lt"/>
                  <a:ea typeface="+mj-ea"/>
                  <a:cs typeface="+mj-cs"/>
                </a:rPr>
                <a:t>Current status</a:t>
              </a:r>
            </a:p>
          </p:txBody>
        </p:sp>
        <p:sp>
          <p:nvSpPr>
            <p:cNvPr id="3" name="Rectangle 3"/>
            <p:cNvSpPr/>
            <p:nvPr/>
          </p:nvSpPr>
          <p:spPr>
            <a:xfrm>
              <a:off x="685800" y="1295400"/>
              <a:ext cx="2095500" cy="38100"/>
            </a:xfrm>
            <a:prstGeom prst="rect">
              <a:avLst/>
            </a:prstGeom>
            <a:solidFill>
              <a:schemeClr val="accent1"/>
            </a:solidFill>
            <a:ln>
              <a:noFill/>
            </a:ln>
          </p:spPr>
        </p:sp>
      </p:grpSp>
      <p:grpSp>
        <p:nvGrpSpPr>
          <p:cNvPr id="16" name="Group 16"/>
          <p:cNvGrpSpPr/>
          <p:nvPr/>
        </p:nvGrpSpPr>
        <p:grpSpPr>
          <a:xfrm>
            <a:off x="666750" y="1832610"/>
            <a:ext cx="6686550" cy="3626929"/>
            <a:chOff x="666750" y="1832610"/>
            <a:chExt cx="6686550" cy="3626929"/>
          </a:xfrm>
        </p:grpSpPr>
        <p:sp>
          <p:nvSpPr>
            <p:cNvPr id="5" name="TextBox 5"/>
            <p:cNvSpPr txBox="1"/>
            <p:nvPr/>
          </p:nvSpPr>
          <p:spPr>
            <a:xfrm>
              <a:off x="666750" y="1832610"/>
              <a:ext cx="691142" cy="819150"/>
            </a:xfrm>
            <a:prstGeom prst="rect">
              <a:avLst/>
            </a:prstGeom>
            <a:noFill/>
            <a:ln>
              <a:noFill/>
            </a:ln>
          </p:spPr>
          <p:txBody>
            <a:bodyPr wrap="none" lIns="0" tIns="0" rIns="0" bIns="0" anchor="t" anchorCtr="0">
              <a:spAutoFit/>
            </a:bodyPr>
            <a:lstStyle/>
            <a:p>
              <a:pPr algn="l"/>
              <a:r>
                <a:rPr lang="en-AU" sz="4200" b="1" dirty="0">
                  <a:solidFill>
                    <a:schemeClr val="accent1"/>
                  </a:solidFill>
                  <a:latin typeface="+mn-lt"/>
                  <a:ea typeface="+mn-ea"/>
                  <a:cs typeface="+mn-cs"/>
                </a:rPr>
                <a:t>90</a:t>
              </a:r>
            </a:p>
          </p:txBody>
        </p:sp>
        <p:sp>
          <p:nvSpPr>
            <p:cNvPr id="6" name="TextBox 6"/>
            <p:cNvSpPr txBox="1"/>
            <p:nvPr/>
          </p:nvSpPr>
          <p:spPr>
            <a:xfrm>
              <a:off x="2563368" y="1974532"/>
              <a:ext cx="4459224" cy="627507"/>
            </a:xfrm>
            <a:prstGeom prst="rect">
              <a:avLst/>
            </a:prstGeom>
            <a:noFill/>
            <a:ln>
              <a:noFill/>
            </a:ln>
          </p:spPr>
          <p:txBody>
            <a:bodyPr wrap="none" lIns="0" tIns="0" rIns="0" bIns="0" anchor="t" anchorCtr="0">
              <a:spAutoFit/>
            </a:bodyPr>
            <a:lstStyle/>
            <a:p>
              <a:pPr algn="l">
                <a:lnSpc>
                  <a:spcPts val="2400"/>
                </a:lnSpc>
              </a:pPr>
              <a:r>
                <a:rPr lang="en-AU" sz="1650" dirty="0">
                  <a:solidFill>
                    <a:schemeClr val="dk1"/>
                  </a:solidFill>
                  <a:latin typeface="+mn-lt"/>
                  <a:ea typeface="+mn-ea"/>
                  <a:cs typeface="+mn-cs"/>
                </a:rPr>
                <a:t>fps on Meta Quest 3; the VR environment is</a:t>
              </a:r>
              <a:br/>
              <a:r>
                <a:rPr lang="en-AU" sz="1650" dirty="0">
                  <a:solidFill>
                    <a:schemeClr val="dk1"/>
                  </a:solidFill>
                  <a:latin typeface="+mn-lt"/>
                  <a:ea typeface="+mn-ea"/>
                  <a:cs typeface="+mn-cs"/>
                </a:rPr>
                <a:t>fully operational and publicly exhibited</a:t>
              </a:r>
            </a:p>
          </p:txBody>
        </p:sp>
        <p:sp>
          <p:nvSpPr>
            <p:cNvPr id="7" name="Line 7"/>
            <p:cNvSpPr/>
            <p:nvPr/>
          </p:nvSpPr>
          <p:spPr>
            <a:xfrm>
              <a:off x="685800" y="2647950"/>
              <a:ext cx="6667500" cy="9525"/>
            </a:xfrm>
            <a:custGeom>
              <a:avLst/>
              <a:gdLst/>
              <a:ahLst/>
              <a:cxnLst/>
              <a:rect l="l" t="t" r="r" b="b"/>
              <a:pathLst>
                <a:path w="6667500" h="9525">
                  <a:moveTo>
                    <a:pt x="0" y="0"/>
                  </a:moveTo>
                  <a:lnTo>
                    <a:pt x="6667500" y="0"/>
                  </a:lnTo>
                </a:path>
              </a:pathLst>
            </a:custGeom>
            <a:noFill/>
            <a:ln w="9525">
              <a:solidFill>
                <a:schemeClr val="accent6"/>
              </a:solidFill>
            </a:ln>
          </p:spPr>
        </p:sp>
        <p:sp>
          <p:nvSpPr>
            <p:cNvPr id="8" name="TextBox 8"/>
            <p:cNvSpPr txBox="1"/>
            <p:nvPr/>
          </p:nvSpPr>
          <p:spPr>
            <a:xfrm>
              <a:off x="666750" y="2785110"/>
              <a:ext cx="1136397" cy="819150"/>
            </a:xfrm>
            <a:prstGeom prst="rect">
              <a:avLst/>
            </a:prstGeom>
            <a:noFill/>
            <a:ln>
              <a:noFill/>
            </a:ln>
          </p:spPr>
          <p:txBody>
            <a:bodyPr wrap="none" lIns="0" tIns="0" rIns="0" bIns="0" anchor="t" anchorCtr="0">
              <a:spAutoFit/>
            </a:bodyPr>
            <a:lstStyle/>
            <a:p>
              <a:pPr algn="l"/>
              <a:r>
                <a:rPr lang="en-AU" sz="4200" b="1" dirty="0">
                  <a:solidFill>
                    <a:schemeClr val="accent1"/>
                  </a:solidFill>
                  <a:latin typeface="+mn-lt"/>
                  <a:ea typeface="+mn-ea"/>
                  <a:cs typeface="+mn-cs"/>
                </a:rPr>
                <a:t>90%</a:t>
              </a:r>
            </a:p>
          </p:txBody>
        </p:sp>
        <p:sp>
          <p:nvSpPr>
            <p:cNvPr id="9" name="TextBox 9"/>
            <p:cNvSpPr txBox="1"/>
            <p:nvPr/>
          </p:nvSpPr>
          <p:spPr>
            <a:xfrm>
              <a:off x="2563368" y="2927032"/>
              <a:ext cx="4134422" cy="627507"/>
            </a:xfrm>
            <a:prstGeom prst="rect">
              <a:avLst/>
            </a:prstGeom>
            <a:noFill/>
            <a:ln>
              <a:noFill/>
            </a:ln>
          </p:spPr>
          <p:txBody>
            <a:bodyPr wrap="none" lIns="0" tIns="0" rIns="0" bIns="0" anchor="t" anchorCtr="0">
              <a:spAutoFit/>
            </a:bodyPr>
            <a:lstStyle/>
            <a:p>
              <a:pPr algn="l">
                <a:lnSpc>
                  <a:spcPts val="2400"/>
                </a:lnSpc>
              </a:pPr>
              <a:r>
                <a:rPr lang="en-AU" sz="1650" dirty="0">
                  <a:solidFill>
                    <a:schemeClr val="dk1"/>
                  </a:solidFill>
                  <a:latin typeface="+mn-lt"/>
                  <a:ea typeface="+mn-ea"/>
                  <a:cs typeface="+mn-cs"/>
                </a:rPr>
                <a:t>conversational accuracy for the MinePal</a:t>
              </a:r>
              <a:br/>
              <a:r>
                <a:rPr lang="en-AU" sz="1650" dirty="0">
                  <a:solidFill>
                    <a:schemeClr val="dk1"/>
                  </a:solidFill>
                  <a:latin typeface="+mn-lt"/>
                  <a:ea typeface="+mn-ea"/>
                  <a:cs typeface="+mn-cs"/>
                </a:rPr>
                <a:t>guide across roughly 20 test rounds</a:t>
              </a:r>
            </a:p>
          </p:txBody>
        </p:sp>
        <p:sp>
          <p:nvSpPr>
            <p:cNvPr id="10" name="Line 10"/>
            <p:cNvSpPr/>
            <p:nvPr/>
          </p:nvSpPr>
          <p:spPr>
            <a:xfrm>
              <a:off x="685800" y="3600450"/>
              <a:ext cx="6667500" cy="9525"/>
            </a:xfrm>
            <a:custGeom>
              <a:avLst/>
              <a:gdLst/>
              <a:ahLst/>
              <a:cxnLst/>
              <a:rect l="l" t="t" r="r" b="b"/>
              <a:pathLst>
                <a:path w="6667500" h="9525">
                  <a:moveTo>
                    <a:pt x="0" y="0"/>
                  </a:moveTo>
                  <a:lnTo>
                    <a:pt x="6667500" y="0"/>
                  </a:lnTo>
                </a:path>
              </a:pathLst>
            </a:custGeom>
            <a:noFill/>
            <a:ln w="9525">
              <a:solidFill>
                <a:schemeClr val="accent6"/>
              </a:solidFill>
            </a:ln>
          </p:spPr>
        </p:sp>
        <p:sp>
          <p:nvSpPr>
            <p:cNvPr id="11" name="TextBox 11"/>
            <p:cNvSpPr txBox="1"/>
            <p:nvPr/>
          </p:nvSpPr>
          <p:spPr>
            <a:xfrm>
              <a:off x="666750" y="3737610"/>
              <a:ext cx="1017662" cy="819150"/>
            </a:xfrm>
            <a:prstGeom prst="rect">
              <a:avLst/>
            </a:prstGeom>
            <a:noFill/>
            <a:ln>
              <a:noFill/>
            </a:ln>
          </p:spPr>
          <p:txBody>
            <a:bodyPr wrap="none" lIns="0" tIns="0" rIns="0" bIns="0" anchor="t" anchorCtr="0">
              <a:spAutoFit/>
            </a:bodyPr>
            <a:lstStyle/>
            <a:p>
              <a:pPr algn="l"/>
              <a:r>
                <a:rPr lang="en-AU" sz="4200" b="1" dirty="0">
                  <a:solidFill>
                    <a:schemeClr val="accent1"/>
                  </a:solidFill>
                  <a:latin typeface="+mn-lt"/>
                  <a:ea typeface="+mn-ea"/>
                  <a:cs typeface="+mn-cs"/>
                </a:rPr>
                <a:t>102</a:t>
              </a:r>
            </a:p>
          </p:txBody>
        </p:sp>
        <p:sp>
          <p:nvSpPr>
            <p:cNvPr id="12" name="TextBox 12"/>
            <p:cNvSpPr txBox="1"/>
            <p:nvPr/>
          </p:nvSpPr>
          <p:spPr>
            <a:xfrm>
              <a:off x="2563368" y="3879532"/>
              <a:ext cx="4260152" cy="627507"/>
            </a:xfrm>
            <a:prstGeom prst="rect">
              <a:avLst/>
            </a:prstGeom>
            <a:noFill/>
            <a:ln>
              <a:noFill/>
            </a:ln>
          </p:spPr>
          <p:txBody>
            <a:bodyPr wrap="none" lIns="0" tIns="0" rIns="0" bIns="0" anchor="t" anchorCtr="0">
              <a:spAutoFit/>
            </a:bodyPr>
            <a:lstStyle/>
            <a:p>
              <a:pPr algn="l">
                <a:lnSpc>
                  <a:spcPts val="2400"/>
                </a:lnSpc>
              </a:pPr>
              <a:r>
                <a:rPr lang="en-AU" sz="1650" dirty="0">
                  <a:solidFill>
                    <a:schemeClr val="dk1"/>
                  </a:solidFill>
                  <a:latin typeface="+mn-lt"/>
                  <a:ea typeface="+mn-ea"/>
                  <a:cs typeface="+mn-cs"/>
                </a:rPr>
                <a:t>scanned artifacts open on Sketchfab, via</a:t>
              </a:r>
              <a:br/>
              <a:r>
                <a:rPr lang="en-AU" sz="1650" dirty="0">
                  <a:solidFill>
                    <a:schemeClr val="dk1"/>
                  </a:solidFill>
                  <a:latin typeface="+mn-lt"/>
                  <a:ea typeface="+mn-ea"/>
                  <a:cs typeface="+mn-cs"/>
                </a:rPr>
                <a:t>LiDAR, Gaussian Splatting, aerial capture</a:t>
              </a:r>
            </a:p>
          </p:txBody>
        </p:sp>
        <p:sp>
          <p:nvSpPr>
            <p:cNvPr id="13" name="Line 13"/>
            <p:cNvSpPr/>
            <p:nvPr/>
          </p:nvSpPr>
          <p:spPr>
            <a:xfrm>
              <a:off x="685800" y="4552950"/>
              <a:ext cx="6667500" cy="9525"/>
            </a:xfrm>
            <a:custGeom>
              <a:avLst/>
              <a:gdLst/>
              <a:ahLst/>
              <a:cxnLst/>
              <a:rect l="l" t="t" r="r" b="b"/>
              <a:pathLst>
                <a:path w="6667500" h="9525">
                  <a:moveTo>
                    <a:pt x="0" y="0"/>
                  </a:moveTo>
                  <a:lnTo>
                    <a:pt x="6667500" y="0"/>
                  </a:lnTo>
                </a:path>
              </a:pathLst>
            </a:custGeom>
            <a:noFill/>
            <a:ln w="9525">
              <a:solidFill>
                <a:schemeClr val="accent6"/>
              </a:solidFill>
            </a:ln>
          </p:spPr>
        </p:sp>
        <p:sp>
          <p:nvSpPr>
            <p:cNvPr id="14" name="TextBox 14"/>
            <p:cNvSpPr txBox="1"/>
            <p:nvPr/>
          </p:nvSpPr>
          <p:spPr>
            <a:xfrm>
              <a:off x="677418" y="4870132"/>
              <a:ext cx="1433741" cy="322707"/>
            </a:xfrm>
            <a:prstGeom prst="rect">
              <a:avLst/>
            </a:prstGeom>
            <a:noFill/>
            <a:ln>
              <a:noFill/>
            </a:ln>
          </p:spPr>
          <p:txBody>
            <a:bodyPr wrap="none" lIns="0" tIns="0" rIns="0" bIns="0" anchor="t" anchorCtr="0">
              <a:spAutoFit/>
            </a:bodyPr>
            <a:lstStyle/>
            <a:p>
              <a:pPr algn="l"/>
              <a:r>
                <a:rPr lang="en-AU" sz="1650" b="1" dirty="0">
                  <a:solidFill>
                    <a:schemeClr val="accent2"/>
                  </a:solidFill>
                  <a:latin typeface="+mn-lt"/>
                  <a:ea typeface="+mn-ea"/>
                  <a:cs typeface="+mn-cs"/>
                </a:rPr>
                <a:t>IN PROGRESS</a:t>
              </a:r>
            </a:p>
          </p:txBody>
        </p:sp>
        <p:sp>
          <p:nvSpPr>
            <p:cNvPr id="15" name="TextBox 15"/>
            <p:cNvSpPr txBox="1"/>
            <p:nvPr/>
          </p:nvSpPr>
          <p:spPr>
            <a:xfrm>
              <a:off x="2563368" y="4832032"/>
              <a:ext cx="4249674" cy="627507"/>
            </a:xfrm>
            <a:prstGeom prst="rect">
              <a:avLst/>
            </a:prstGeom>
            <a:noFill/>
            <a:ln>
              <a:noFill/>
            </a:ln>
          </p:spPr>
          <p:txBody>
            <a:bodyPr wrap="none" lIns="0" tIns="0" rIns="0" bIns="0" anchor="t" anchorCtr="0">
              <a:spAutoFit/>
            </a:bodyPr>
            <a:lstStyle/>
            <a:p>
              <a:pPr algn="l">
                <a:lnSpc>
                  <a:spcPts val="2400"/>
                </a:lnSpc>
              </a:pPr>
              <a:r>
                <a:rPr lang="en-AU" sz="1650" dirty="0">
                  <a:solidFill>
                    <a:schemeClr val="dk1"/>
                  </a:solidFill>
                  <a:latin typeface="+mn-lt"/>
                  <a:ea typeface="+mn-ea"/>
                  <a:cs typeface="+mn-cs"/>
                </a:rPr>
                <a:t>Thematic analysis of the June 2026 focus</a:t>
              </a:r>
              <a:br/>
              <a:r>
                <a:rPr lang="en-AU" sz="1650" dirty="0">
                  <a:solidFill>
                    <a:schemeClr val="dk1"/>
                  </a:solidFill>
                  <a:latin typeface="+mn-lt"/>
                  <a:ea typeface="+mn-ea"/>
                  <a:cs typeface="+mn-cs"/>
                </a:rPr>
                <a:t>group data; an Unreal iteration underway</a:t>
              </a:r>
            </a:p>
          </p:txBody>
        </p:sp>
      </p:grpSp>
      <p:grpSp>
        <p:nvGrpSpPr>
          <p:cNvPr id="20" name="Group 20"/>
          <p:cNvGrpSpPr/>
          <p:nvPr/>
        </p:nvGrpSpPr>
        <p:grpSpPr>
          <a:xfrm>
            <a:off x="7649718" y="1676400"/>
            <a:ext cx="3856482" cy="3745039"/>
            <a:chOff x="7649718" y="1676400"/>
            <a:chExt cx="3856482" cy="3745039"/>
          </a:xfrm>
        </p:grpSpPr>
        <p:sp>
          <p:nvSpPr>
            <p:cNvPr id="17" name="Rectangle 17"/>
            <p:cNvSpPr/>
            <p:nvPr/>
          </p:nvSpPr>
          <p:spPr>
            <a:xfrm>
              <a:off x="7658100" y="1676400"/>
              <a:ext cx="3848100" cy="2571750"/>
            </a:xfrm>
            <a:prstGeom prst="rect">
              <a:avLst/>
            </a:prstGeom>
            <a:solidFill>
              <a:schemeClr val="lt2"/>
            </a:solidFill>
            <a:ln w="19050">
              <a:solidFill>
                <a:schemeClr val="accent3"/>
              </a:solidFill>
              <a:prstDash val="lgDash"/>
            </a:ln>
          </p:spPr>
        </p:sp>
        <p:sp>
          <p:nvSpPr>
            <p:cNvPr id="18" name="TextBox 18"/>
            <p:cNvSpPr txBox="1"/>
            <p:nvPr/>
          </p:nvSpPr>
          <p:spPr>
            <a:xfrm>
              <a:off x="8309465" y="2831782"/>
              <a:ext cx="2545371" cy="322707"/>
            </a:xfrm>
            <a:prstGeom prst="rect">
              <a:avLst/>
            </a:prstGeom>
            <a:noFill/>
            <a:ln>
              <a:noFill/>
            </a:ln>
          </p:spPr>
          <p:txBody>
            <a:bodyPr wrap="none" lIns="0" tIns="0" rIns="0" bIns="0" anchor="t" anchorCtr="0">
              <a:spAutoFit/>
            </a:bodyPr>
            <a:lstStyle/>
            <a:p>
              <a:pPr algn="ctr"/>
              <a:r>
                <a:rPr lang="en-AU" sz="1650" dirty="0">
                  <a:solidFill>
                    <a:schemeClr val="accent5"/>
                  </a:solidFill>
                  <a:latin typeface="+mn-lt"/>
                  <a:ea typeface="+mn-ea"/>
                  <a:cs typeface="+mn-cs"/>
                </a:rPr>
                <a:t>Photograph to be added</a:t>
              </a:r>
            </a:p>
          </p:txBody>
        </p:sp>
        <p:sp>
          <p:nvSpPr>
            <p:cNvPr id="19" name="TextBox 19"/>
            <p:cNvSpPr txBox="1"/>
            <p:nvPr/>
          </p:nvSpPr>
          <p:spPr>
            <a:xfrm>
              <a:off x="7649718" y="4489132"/>
              <a:ext cx="3432429" cy="932307"/>
            </a:xfrm>
            <a:prstGeom prst="rect">
              <a:avLst/>
            </a:prstGeom>
            <a:noFill/>
            <a:ln>
              <a:noFill/>
            </a:ln>
          </p:spPr>
          <p:txBody>
            <a:bodyPr wrap="none" lIns="0" tIns="0" rIns="0" bIns="0" anchor="t" anchorCtr="0">
              <a:spAutoFit/>
            </a:bodyPr>
            <a:lstStyle/>
            <a:p>
              <a:pPr algn="l">
                <a:lnSpc>
                  <a:spcPts val="2400"/>
                </a:lnSpc>
              </a:pPr>
              <a:r>
                <a:rPr lang="en-AU" sz="1650" dirty="0">
                  <a:solidFill>
                    <a:schemeClr val="accent5"/>
                  </a:solidFill>
                  <a:latin typeface="+mn-lt"/>
                  <a:ea typeface="+mn-ea"/>
                  <a:cs typeface="+mn-cs"/>
                </a:rPr>
                <a:t>Reserved — add your own photo of</a:t>
              </a:r>
              <a:br/>
              <a:r>
                <a:rPr lang="en-AU" sz="1650" dirty="0">
                  <a:solidFill>
                    <a:schemeClr val="accent5"/>
                  </a:solidFill>
                  <a:latin typeface="+mn-lt"/>
                  <a:ea typeface="+mn-ea"/>
                  <a:cs typeface="+mn-cs"/>
                </a:rPr>
                <a:t>the public exhibition, or of</a:t>
              </a:r>
              <a:br/>
              <a:r>
                <a:rPr lang="en-AU" sz="1650" dirty="0">
                  <a:solidFill>
                    <a:schemeClr val="accent5"/>
                  </a:solidFill>
                  <a:latin typeface="+mn-lt"/>
                  <a:ea typeface="+mn-ea"/>
                  <a:cs typeface="+mn-cs"/>
                </a:rPr>
                <a:t>a participant in the headset.</a:t>
              </a:r>
            </a:p>
          </p:txBody>
        </p:sp>
      </p:grpSp>
      <p:grpSp>
        <p:nvGrpSpPr>
          <p:cNvPr id="23" name="Group 23"/>
          <p:cNvGrpSpPr/>
          <p:nvPr/>
        </p:nvGrpSpPr>
        <p:grpSpPr>
          <a:xfrm>
            <a:off x="679704" y="6080760"/>
            <a:ext cx="10832592" cy="234696"/>
            <a:chOff x="679704" y="6080760"/>
            <a:chExt cx="10832592" cy="234696"/>
          </a:xfrm>
        </p:grpSpPr>
        <p:sp>
          <p:nvSpPr>
            <p:cNvPr id="21" name="TextBox 21"/>
            <p:cNvSpPr txBox="1"/>
            <p:nvPr/>
          </p:nvSpPr>
          <p:spPr>
            <a:xfrm>
              <a:off x="679704" y="6080760"/>
              <a:ext cx="3599609" cy="234696"/>
            </a:xfrm>
            <a:prstGeom prst="rect">
              <a:avLst/>
            </a:prstGeom>
            <a:noFill/>
            <a:ln>
              <a:noFill/>
            </a:ln>
          </p:spPr>
          <p:txBody>
            <a:bodyPr wrap="none" lIns="0" tIns="0" rIns="0" bIns="0" anchor="t" anchorCtr="0">
              <a:spAutoFit/>
            </a:bodyPr>
            <a:lstStyle/>
            <a:p>
              <a:pPr algn="l"/>
              <a:r>
                <a:rPr lang="en-AU" sz="1200" dirty="0">
                  <a:solidFill>
                    <a:schemeClr val="accent5"/>
                  </a:solidFill>
                  <a:latin typeface="+mn-lt"/>
                  <a:ea typeface="+mn-ea"/>
                  <a:cs typeface="+mn-cs"/>
                </a:rPr>
                <a:t>Root-Seeking · Xun Gen — Expanded 2026, Linz</a:t>
              </a:r>
            </a:p>
          </p:txBody>
        </p:sp>
        <p:sp>
          <p:nvSpPr>
            <p:cNvPr id="22" name="TextBox 22"/>
            <p:cNvSpPr txBox="1"/>
            <p:nvPr/>
          </p:nvSpPr>
          <p:spPr>
            <a:xfrm>
              <a:off x="11411255" y="6080760"/>
              <a:ext cx="101041" cy="234696"/>
            </a:xfrm>
            <a:prstGeom prst="rect">
              <a:avLst/>
            </a:prstGeom>
            <a:noFill/>
            <a:ln>
              <a:noFill/>
            </a:ln>
          </p:spPr>
          <p:txBody>
            <a:bodyPr wrap="none" lIns="0" tIns="0" rIns="0" bIns="0" anchor="t" anchorCtr="0">
              <a:spAutoFit/>
            </a:bodyPr>
            <a:lstStyle/>
            <a:p>
              <a:pPr algn="r"/>
              <a:r>
                <a:rPr lang="en-AU" sz="1200" dirty="0">
                  <a:solidFill>
                    <a:schemeClr val="accent5"/>
                  </a:solidFill>
                  <a:latin typeface="+mn-lt"/>
                  <a:ea typeface="+mn-ea"/>
                  <a:cs typeface="+mn-cs"/>
                </a:rPr>
                <a:t>9</a:t>
              </a:r>
            </a:p>
          </p:txBody>
        </p:sp>
      </p:gr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667512" y="678180"/>
            <a:ext cx="8496479" cy="704088"/>
            <a:chOff x="667512" y="678180"/>
            <a:chExt cx="8496479" cy="704088"/>
          </a:xfrm>
        </p:grpSpPr>
        <p:sp>
          <p:nvSpPr>
            <p:cNvPr id="2" name="TextBox 2"/>
            <p:cNvSpPr txBox="1"/>
            <p:nvPr/>
          </p:nvSpPr>
          <p:spPr>
            <a:xfrm>
              <a:off x="667512" y="678180"/>
              <a:ext cx="8496479" cy="704088"/>
            </a:xfrm>
            <a:prstGeom prst="rect">
              <a:avLst/>
            </a:prstGeom>
            <a:noFill/>
            <a:ln>
              <a:noFill/>
            </a:ln>
          </p:spPr>
          <p:txBody>
            <a:bodyPr wrap="none" lIns="0" tIns="0" rIns="0" bIns="0" anchor="t" anchorCtr="0">
              <a:spAutoFit/>
            </a:bodyPr>
            <a:lstStyle/>
            <a:p>
              <a:pPr algn="l"/>
              <a:r>
                <a:rPr lang="en-AU" sz="3600" dirty="0">
                  <a:solidFill>
                    <a:schemeClr val="accent1"/>
                  </a:solidFill>
                  <a:latin typeface="+mj-lt"/>
                  <a:ea typeface="+mj-ea"/>
                  <a:cs typeface="+mj-cs"/>
                </a:rPr>
                <a:t>Three contributions, three fields</a:t>
              </a:r>
            </a:p>
          </p:txBody>
        </p:sp>
        <p:sp>
          <p:nvSpPr>
            <p:cNvPr id="3" name="Rectangle 3"/>
            <p:cNvSpPr/>
            <p:nvPr/>
          </p:nvSpPr>
          <p:spPr>
            <a:xfrm>
              <a:off x="685800" y="1295400"/>
              <a:ext cx="2095500" cy="38100"/>
            </a:xfrm>
            <a:prstGeom prst="rect">
              <a:avLst/>
            </a:prstGeom>
            <a:solidFill>
              <a:schemeClr val="accent1"/>
            </a:solidFill>
            <a:ln>
              <a:noFill/>
            </a:ln>
          </p:spPr>
        </p:sp>
      </p:grpSp>
      <p:grpSp>
        <p:nvGrpSpPr>
          <p:cNvPr id="9" name="Group 9"/>
          <p:cNvGrpSpPr/>
          <p:nvPr/>
        </p:nvGrpSpPr>
        <p:grpSpPr>
          <a:xfrm>
            <a:off x="672084" y="1752600"/>
            <a:ext cx="3131820" cy="2963989"/>
            <a:chOff x="672084" y="1752600"/>
            <a:chExt cx="3131820" cy="2963989"/>
          </a:xfrm>
        </p:grpSpPr>
        <p:sp>
          <p:nvSpPr>
            <p:cNvPr id="5" name="Rectangle 5"/>
            <p:cNvSpPr/>
            <p:nvPr/>
          </p:nvSpPr>
          <p:spPr>
            <a:xfrm>
              <a:off x="685800" y="1752600"/>
              <a:ext cx="571500" cy="38100"/>
            </a:xfrm>
            <a:prstGeom prst="rect">
              <a:avLst/>
            </a:prstGeom>
            <a:solidFill>
              <a:schemeClr val="accent1"/>
            </a:solidFill>
            <a:ln>
              <a:noFill/>
            </a:ln>
          </p:spPr>
        </p:sp>
        <p:sp>
          <p:nvSpPr>
            <p:cNvPr id="6" name="TextBox 6"/>
            <p:cNvSpPr txBox="1"/>
            <p:nvPr/>
          </p:nvSpPr>
          <p:spPr>
            <a:xfrm>
              <a:off x="672084" y="1918335"/>
              <a:ext cx="1340053" cy="528066"/>
            </a:xfrm>
            <a:prstGeom prst="rect">
              <a:avLst/>
            </a:prstGeom>
            <a:noFill/>
            <a:ln>
              <a:noFill/>
            </a:ln>
          </p:spPr>
          <p:txBody>
            <a:bodyPr wrap="none" lIns="0" tIns="0" rIns="0" bIns="0" anchor="t" anchorCtr="0">
              <a:spAutoFit/>
            </a:bodyPr>
            <a:lstStyle/>
            <a:p>
              <a:pPr algn="l"/>
              <a:r>
                <a:rPr lang="en-AU" sz="2700" dirty="0">
                  <a:solidFill>
                    <a:schemeClr val="accent1"/>
                  </a:solidFill>
                  <a:latin typeface="+mj-lt"/>
                  <a:ea typeface="+mj-ea"/>
                  <a:cs typeface="+mj-cs"/>
                </a:rPr>
                <a:t>Theory</a:t>
              </a:r>
            </a:p>
          </p:txBody>
        </p:sp>
        <p:sp>
          <p:nvSpPr>
            <p:cNvPr id="7" name="TextBox 7"/>
            <p:cNvSpPr txBox="1"/>
            <p:nvPr/>
          </p:nvSpPr>
          <p:spPr>
            <a:xfrm>
              <a:off x="677418" y="2412682"/>
              <a:ext cx="3126486" cy="322707"/>
            </a:xfrm>
            <a:prstGeom prst="rect">
              <a:avLst/>
            </a:prstGeom>
            <a:noFill/>
            <a:ln>
              <a:noFill/>
            </a:ln>
          </p:spPr>
          <p:txBody>
            <a:bodyPr wrap="none" lIns="0" tIns="0" rIns="0" bIns="0" anchor="t" anchorCtr="0">
              <a:spAutoFit/>
            </a:bodyPr>
            <a:lstStyle/>
            <a:p>
              <a:pPr algn="l"/>
              <a:r>
                <a:rPr lang="en-AU" sz="1650" dirty="0">
                  <a:solidFill>
                    <a:schemeClr val="accent5"/>
                  </a:solidFill>
                  <a:latin typeface="+mn-lt"/>
                  <a:ea typeface="+mn-ea"/>
                  <a:cs typeface="+mn-cs"/>
                </a:rPr>
                <a:t>diaspora and memory studies</a:t>
              </a:r>
            </a:p>
          </p:txBody>
        </p:sp>
        <p:sp>
          <p:nvSpPr>
            <p:cNvPr id="8" name="TextBox 8"/>
            <p:cNvSpPr txBox="1"/>
            <p:nvPr/>
          </p:nvSpPr>
          <p:spPr>
            <a:xfrm>
              <a:off x="677418" y="2869882"/>
              <a:ext cx="2992374" cy="1846707"/>
            </a:xfrm>
            <a:prstGeom prst="rect">
              <a:avLst/>
            </a:prstGeom>
            <a:noFill/>
            <a:ln>
              <a:noFill/>
            </a:ln>
          </p:spPr>
          <p:txBody>
            <a:bodyPr wrap="none" lIns="0" tIns="0" rIns="0" bIns="0" anchor="t" anchorCtr="0">
              <a:spAutoFit/>
            </a:bodyPr>
            <a:lstStyle/>
            <a:p>
              <a:pPr algn="l">
                <a:lnSpc>
                  <a:spcPts val="2400"/>
                </a:lnSpc>
              </a:pPr>
              <a:r>
                <a:rPr lang="en-AU" sz="1650" dirty="0">
                  <a:solidFill>
                    <a:schemeClr val="dk1"/>
                  </a:solidFill>
                  <a:latin typeface="+mn-lt"/>
                  <a:ea typeface="+mn-ea"/>
                  <a:cs typeface="+mn-cs"/>
                </a:rPr>
                <a:t>A model of diasporic root-</a:t>
              </a:r>
              <a:br/>
              <a:r>
                <a:rPr lang="en-AU" sz="1650" dirty="0">
                  <a:solidFill>
                    <a:schemeClr val="dk1"/>
                  </a:solidFill>
                  <a:latin typeface="+mn-lt"/>
                  <a:ea typeface="+mn-ea"/>
                  <a:cs typeface="+mn-cs"/>
                </a:rPr>
                <a:t>seeking as sensory and</a:t>
              </a:r>
              <a:br/>
              <a:r>
                <a:rPr lang="en-AU" sz="1650" dirty="0">
                  <a:solidFill>
                    <a:schemeClr val="dk1"/>
                  </a:solidFill>
                  <a:latin typeface="+mn-lt"/>
                  <a:ea typeface="+mn-ea"/>
                  <a:cs typeface="+mn-cs"/>
                </a:rPr>
                <a:t>embodied memory activation,</a:t>
              </a:r>
              <a:br/>
              <a:r>
                <a:rPr lang="en-AU" sz="1650" dirty="0">
                  <a:solidFill>
                    <a:schemeClr val="dk1"/>
                  </a:solidFill>
                  <a:latin typeface="+mn-lt"/>
                  <a:ea typeface="+mn-ea"/>
                  <a:cs typeface="+mn-cs"/>
                </a:rPr>
                <a:t>bringing Fei's Xiangtu into</a:t>
              </a:r>
              <a:br/>
              <a:r>
                <a:rPr lang="en-AU" sz="1650" dirty="0">
                  <a:solidFill>
                    <a:schemeClr val="dk1"/>
                  </a:solidFill>
                  <a:latin typeface="+mn-lt"/>
                  <a:ea typeface="+mn-ea"/>
                  <a:cs typeface="+mn-cs"/>
                </a:rPr>
                <a:t>dialogue with Brah's homing</a:t>
              </a:r>
              <a:br/>
              <a:r>
                <a:rPr lang="en-AU" sz="1650" dirty="0">
                  <a:solidFill>
                    <a:schemeClr val="dk1"/>
                  </a:solidFill>
                  <a:latin typeface="+mn-lt"/>
                  <a:ea typeface="+mn-ea"/>
                  <a:cs typeface="+mn-cs"/>
                </a:rPr>
                <a:t>desire.</a:t>
              </a:r>
            </a:p>
          </p:txBody>
        </p:sp>
      </p:grpSp>
      <p:grpSp>
        <p:nvGrpSpPr>
          <p:cNvPr id="14" name="Group 14"/>
          <p:cNvGrpSpPr/>
          <p:nvPr/>
        </p:nvGrpSpPr>
        <p:grpSpPr>
          <a:xfrm>
            <a:off x="4377309" y="1752600"/>
            <a:ext cx="2788158" cy="2963989"/>
            <a:chOff x="4377309" y="1752600"/>
            <a:chExt cx="2788158" cy="2963989"/>
          </a:xfrm>
        </p:grpSpPr>
        <p:sp>
          <p:nvSpPr>
            <p:cNvPr id="10" name="Rectangle 10"/>
            <p:cNvSpPr/>
            <p:nvPr/>
          </p:nvSpPr>
          <p:spPr>
            <a:xfrm>
              <a:off x="4391025" y="1752600"/>
              <a:ext cx="571500" cy="38100"/>
            </a:xfrm>
            <a:prstGeom prst="rect">
              <a:avLst/>
            </a:prstGeom>
            <a:solidFill>
              <a:schemeClr val="accent2"/>
            </a:solidFill>
            <a:ln>
              <a:noFill/>
            </a:ln>
          </p:spPr>
        </p:sp>
        <p:sp>
          <p:nvSpPr>
            <p:cNvPr id="11" name="TextBox 11"/>
            <p:cNvSpPr txBox="1"/>
            <p:nvPr/>
          </p:nvSpPr>
          <p:spPr>
            <a:xfrm>
              <a:off x="4377309" y="1918335"/>
              <a:ext cx="1663922" cy="528066"/>
            </a:xfrm>
            <a:prstGeom prst="rect">
              <a:avLst/>
            </a:prstGeom>
            <a:noFill/>
            <a:ln>
              <a:noFill/>
            </a:ln>
          </p:spPr>
          <p:txBody>
            <a:bodyPr wrap="none" lIns="0" tIns="0" rIns="0" bIns="0" anchor="t" anchorCtr="0">
              <a:spAutoFit/>
            </a:bodyPr>
            <a:lstStyle/>
            <a:p>
              <a:pPr algn="l"/>
              <a:r>
                <a:rPr lang="en-AU" sz="2700" dirty="0">
                  <a:solidFill>
                    <a:schemeClr val="accent1"/>
                  </a:solidFill>
                  <a:latin typeface="+mj-lt"/>
                  <a:ea typeface="+mj-ea"/>
                  <a:cs typeface="+mj-cs"/>
                </a:rPr>
                <a:t>Evidence</a:t>
              </a:r>
            </a:p>
          </p:txBody>
        </p:sp>
        <p:sp>
          <p:nvSpPr>
            <p:cNvPr id="12" name="TextBox 12"/>
            <p:cNvSpPr txBox="1"/>
            <p:nvPr/>
          </p:nvSpPr>
          <p:spPr>
            <a:xfrm>
              <a:off x="4382643" y="2412682"/>
              <a:ext cx="2524658" cy="322707"/>
            </a:xfrm>
            <a:prstGeom prst="rect">
              <a:avLst/>
            </a:prstGeom>
            <a:noFill/>
            <a:ln>
              <a:noFill/>
            </a:ln>
          </p:spPr>
          <p:txBody>
            <a:bodyPr wrap="none" lIns="0" tIns="0" rIns="0" bIns="0" anchor="t" anchorCtr="0">
              <a:spAutoFit/>
            </a:bodyPr>
            <a:lstStyle/>
            <a:p>
              <a:pPr algn="l"/>
              <a:r>
                <a:rPr lang="en-AU" sz="1650" dirty="0">
                  <a:solidFill>
                    <a:schemeClr val="accent5"/>
                  </a:solidFill>
                  <a:latin typeface="+mn-lt"/>
                  <a:ea typeface="+mn-ea"/>
                  <a:cs typeface="+mn-cs"/>
                </a:rPr>
                <a:t>digital heritage and HCI</a:t>
              </a:r>
            </a:p>
          </p:txBody>
        </p:sp>
        <p:sp>
          <p:nvSpPr>
            <p:cNvPr id="13" name="TextBox 13"/>
            <p:cNvSpPr txBox="1"/>
            <p:nvPr/>
          </p:nvSpPr>
          <p:spPr>
            <a:xfrm>
              <a:off x="4382643" y="2869882"/>
              <a:ext cx="2782824" cy="1846707"/>
            </a:xfrm>
            <a:prstGeom prst="rect">
              <a:avLst/>
            </a:prstGeom>
            <a:noFill/>
            <a:ln>
              <a:noFill/>
            </a:ln>
          </p:spPr>
          <p:txBody>
            <a:bodyPr wrap="none" lIns="0" tIns="0" rIns="0" bIns="0" anchor="t" anchorCtr="0">
              <a:spAutoFit/>
            </a:bodyPr>
            <a:lstStyle/>
            <a:p>
              <a:pPr algn="l">
                <a:lnSpc>
                  <a:spcPts val="2400"/>
                </a:lnSpc>
              </a:pPr>
              <a:r>
                <a:rPr lang="en-AU" sz="1650" dirty="0">
                  <a:solidFill>
                    <a:schemeClr val="dk1"/>
                  </a:solidFill>
                  <a:latin typeface="+mn-lt"/>
                  <a:ea typeface="+mn-ea"/>
                  <a:cs typeface="+mn-cs"/>
                </a:rPr>
                <a:t>To our knowledge the first</a:t>
              </a:r>
              <a:br/>
              <a:r>
                <a:rPr lang="en-AU" sz="1650" dirty="0">
                  <a:solidFill>
                    <a:schemeClr val="dk1"/>
                  </a:solidFill>
                  <a:latin typeface="+mn-lt"/>
                  <a:ea typeface="+mn-ea"/>
                  <a:cs typeface="+mn-cs"/>
                </a:rPr>
                <a:t>peer-reviewed, empirically</a:t>
              </a:r>
              <a:br/>
              <a:r>
                <a:rPr lang="en-AU" sz="1650" dirty="0">
                  <a:solidFill>
                    <a:schemeClr val="dk1"/>
                  </a:solidFill>
                  <a:latin typeface="+mn-lt"/>
                  <a:ea typeface="+mn-ea"/>
                  <a:cs typeface="+mn-cs"/>
                </a:rPr>
                <a:t>evaluated social VR</a:t>
              </a:r>
              <a:br/>
              <a:r>
                <a:rPr lang="en-AU" sz="1650" dirty="0">
                  <a:solidFill>
                    <a:schemeClr val="dk1"/>
                  </a:solidFill>
                  <a:latin typeface="+mn-lt"/>
                  <a:ea typeface="+mn-ea"/>
                  <a:cs typeface="+mn-cs"/>
                </a:rPr>
                <a:t>environment tailored to</a:t>
              </a:r>
              <a:br/>
              <a:r>
                <a:rPr lang="en-AU" sz="1650" dirty="0">
                  <a:solidFill>
                    <a:schemeClr val="dk1"/>
                  </a:solidFill>
                  <a:latin typeface="+mn-lt"/>
                  <a:ea typeface="+mn-ea"/>
                  <a:cs typeface="+mn-cs"/>
                </a:rPr>
                <a:t>Chinese diaspora cultural</a:t>
              </a:r>
              <a:br/>
              <a:r>
                <a:rPr lang="en-AU" sz="1650" dirty="0">
                  <a:solidFill>
                    <a:schemeClr val="dk1"/>
                  </a:solidFill>
                  <a:latin typeface="+mn-lt"/>
                  <a:ea typeface="+mn-ea"/>
                  <a:cs typeface="+mn-cs"/>
                </a:rPr>
                <a:t>needs.</a:t>
              </a:r>
            </a:p>
          </p:txBody>
        </p:sp>
      </p:grpSp>
      <p:grpSp>
        <p:nvGrpSpPr>
          <p:cNvPr id="19" name="Group 19"/>
          <p:cNvGrpSpPr/>
          <p:nvPr/>
        </p:nvGrpSpPr>
        <p:grpSpPr>
          <a:xfrm>
            <a:off x="8082534" y="1752600"/>
            <a:ext cx="2876379" cy="2354389"/>
            <a:chOff x="8082534" y="1752600"/>
            <a:chExt cx="2876379" cy="2354389"/>
          </a:xfrm>
        </p:grpSpPr>
        <p:sp>
          <p:nvSpPr>
            <p:cNvPr id="15" name="Rectangle 15"/>
            <p:cNvSpPr/>
            <p:nvPr/>
          </p:nvSpPr>
          <p:spPr>
            <a:xfrm>
              <a:off x="8096250" y="1752600"/>
              <a:ext cx="571500" cy="38100"/>
            </a:xfrm>
            <a:prstGeom prst="rect">
              <a:avLst/>
            </a:prstGeom>
            <a:solidFill>
              <a:schemeClr val="accent3"/>
            </a:solidFill>
            <a:ln>
              <a:noFill/>
            </a:ln>
          </p:spPr>
        </p:sp>
        <p:sp>
          <p:nvSpPr>
            <p:cNvPr id="16" name="TextBox 16"/>
            <p:cNvSpPr txBox="1"/>
            <p:nvPr/>
          </p:nvSpPr>
          <p:spPr>
            <a:xfrm>
              <a:off x="8082534" y="1918335"/>
              <a:ext cx="1419606" cy="528066"/>
            </a:xfrm>
            <a:prstGeom prst="rect">
              <a:avLst/>
            </a:prstGeom>
            <a:noFill/>
            <a:ln>
              <a:noFill/>
            </a:ln>
          </p:spPr>
          <p:txBody>
            <a:bodyPr wrap="none" lIns="0" tIns="0" rIns="0" bIns="0" anchor="t" anchorCtr="0">
              <a:spAutoFit/>
            </a:bodyPr>
            <a:lstStyle/>
            <a:p>
              <a:pPr algn="l"/>
              <a:r>
                <a:rPr lang="en-AU" sz="2700" dirty="0">
                  <a:solidFill>
                    <a:schemeClr val="accent1"/>
                  </a:solidFill>
                  <a:latin typeface="+mj-lt"/>
                  <a:ea typeface="+mj-ea"/>
                  <a:cs typeface="+mj-cs"/>
                </a:rPr>
                <a:t>Method</a:t>
              </a:r>
            </a:p>
          </p:txBody>
        </p:sp>
        <p:sp>
          <p:nvSpPr>
            <p:cNvPr id="17" name="TextBox 17"/>
            <p:cNvSpPr txBox="1"/>
            <p:nvPr/>
          </p:nvSpPr>
          <p:spPr>
            <a:xfrm>
              <a:off x="8087868" y="2412682"/>
              <a:ext cx="2871045" cy="322707"/>
            </a:xfrm>
            <a:prstGeom prst="rect">
              <a:avLst/>
            </a:prstGeom>
            <a:noFill/>
            <a:ln>
              <a:noFill/>
            </a:ln>
          </p:spPr>
          <p:txBody>
            <a:bodyPr wrap="none" lIns="0" tIns="0" rIns="0" bIns="0" anchor="t" anchorCtr="0">
              <a:spAutoFit/>
            </a:bodyPr>
            <a:lstStyle/>
            <a:p>
              <a:pPr algn="l"/>
              <a:r>
                <a:rPr lang="en-AU" sz="1650" dirty="0">
                  <a:solidFill>
                    <a:schemeClr val="accent5"/>
                  </a:solidFill>
                  <a:latin typeface="+mn-lt"/>
                  <a:ea typeface="+mn-ea"/>
                  <a:cs typeface="+mn-cs"/>
                </a:rPr>
                <a:t>community-centred design</a:t>
              </a:r>
            </a:p>
          </p:txBody>
        </p:sp>
        <p:sp>
          <p:nvSpPr>
            <p:cNvPr id="18" name="TextBox 18"/>
            <p:cNvSpPr txBox="1"/>
            <p:nvPr/>
          </p:nvSpPr>
          <p:spPr>
            <a:xfrm>
              <a:off x="8087868" y="2869882"/>
              <a:ext cx="2803779" cy="1237107"/>
            </a:xfrm>
            <a:prstGeom prst="rect">
              <a:avLst/>
            </a:prstGeom>
            <a:noFill/>
            <a:ln>
              <a:noFill/>
            </a:ln>
          </p:spPr>
          <p:txBody>
            <a:bodyPr wrap="none" lIns="0" tIns="0" rIns="0" bIns="0" anchor="t" anchorCtr="0">
              <a:spAutoFit/>
            </a:bodyPr>
            <a:lstStyle/>
            <a:p>
              <a:pPr algn="l">
                <a:lnSpc>
                  <a:spcPts val="2400"/>
                </a:lnSpc>
              </a:pPr>
              <a:r>
                <a:rPr lang="en-AU" sz="1650" dirty="0">
                  <a:solidFill>
                    <a:schemeClr val="dk1"/>
                  </a:solidFill>
                  <a:latin typeface="+mn-lt"/>
                  <a:ea typeface="+mn-ea"/>
                  <a:cs typeface="+mn-cs"/>
                </a:rPr>
                <a:t>A validated co-design model</a:t>
              </a:r>
              <a:br/>
              <a:r>
                <a:rPr lang="en-AU" sz="1650" dirty="0">
                  <a:solidFill>
                    <a:schemeClr val="dk1"/>
                  </a:solidFill>
                  <a:latin typeface="+mn-lt"/>
                  <a:ea typeface="+mn-ea"/>
                  <a:cs typeface="+mn-cs"/>
                </a:rPr>
                <a:t>for culturally specific XR,</a:t>
              </a:r>
              <a:br/>
              <a:r>
                <a:rPr lang="en-AU" sz="1650" dirty="0">
                  <a:solidFill>
                    <a:schemeClr val="dk1"/>
                  </a:solidFill>
                  <a:latin typeface="+mn-lt"/>
                  <a:ea typeface="+mn-ea"/>
                  <a:cs typeface="+mn-cs"/>
                </a:rPr>
                <a:t>replicable with other</a:t>
              </a:r>
              <a:br/>
              <a:r>
                <a:rPr lang="en-AU" sz="1650" dirty="0">
                  <a:solidFill>
                    <a:schemeClr val="dk1"/>
                  </a:solidFill>
                  <a:latin typeface="+mn-lt"/>
                  <a:ea typeface="+mn-ea"/>
                  <a:cs typeface="+mn-cs"/>
                </a:rPr>
                <a:t>displaced communities.</a:t>
              </a:r>
            </a:p>
          </p:txBody>
        </p:sp>
      </p:grpSp>
      <p:grpSp>
        <p:nvGrpSpPr>
          <p:cNvPr id="22" name="Group 22"/>
          <p:cNvGrpSpPr/>
          <p:nvPr/>
        </p:nvGrpSpPr>
        <p:grpSpPr>
          <a:xfrm>
            <a:off x="672846" y="5010150"/>
            <a:ext cx="10833354" cy="985457"/>
            <a:chOff x="672846" y="5010150"/>
            <a:chExt cx="10833354" cy="985457"/>
          </a:xfrm>
        </p:grpSpPr>
        <p:sp>
          <p:nvSpPr>
            <p:cNvPr id="20" name="Line 20"/>
            <p:cNvSpPr/>
            <p:nvPr/>
          </p:nvSpPr>
          <p:spPr>
            <a:xfrm>
              <a:off x="685800" y="5010150"/>
              <a:ext cx="10820400" cy="9525"/>
            </a:xfrm>
            <a:custGeom>
              <a:avLst/>
              <a:gdLst/>
              <a:ahLst/>
              <a:cxnLst/>
              <a:rect l="l" t="t" r="r" b="b"/>
              <a:pathLst>
                <a:path w="10820400" h="9525">
                  <a:moveTo>
                    <a:pt x="0" y="0"/>
                  </a:moveTo>
                  <a:lnTo>
                    <a:pt x="10820400" y="0"/>
                  </a:lnTo>
                </a:path>
              </a:pathLst>
            </a:custGeom>
            <a:noFill/>
            <a:ln w="19050">
              <a:solidFill>
                <a:schemeClr val="accent1"/>
              </a:solidFill>
            </a:ln>
          </p:spPr>
        </p:sp>
        <p:sp>
          <p:nvSpPr>
            <p:cNvPr id="21" name="TextBox 21"/>
            <p:cNvSpPr txBox="1"/>
            <p:nvPr/>
          </p:nvSpPr>
          <p:spPr>
            <a:xfrm>
              <a:off x="672846" y="5115878"/>
              <a:ext cx="9401366" cy="879729"/>
            </a:xfrm>
            <a:prstGeom prst="rect">
              <a:avLst/>
            </a:prstGeom>
            <a:noFill/>
            <a:ln>
              <a:noFill/>
            </a:ln>
          </p:spPr>
          <p:txBody>
            <a:bodyPr wrap="none" lIns="0" tIns="0" rIns="0" bIns="0" anchor="t" anchorCtr="0">
              <a:spAutoFit/>
            </a:bodyPr>
            <a:lstStyle/>
            <a:p>
              <a:pPr algn="l">
                <a:lnSpc>
                  <a:spcPts val="3000"/>
                </a:lnSpc>
              </a:pPr>
              <a:r>
                <a:rPr lang="en-AU" sz="2550" dirty="0">
                  <a:solidFill>
                    <a:schemeClr val="dk1"/>
                  </a:solidFill>
                  <a:latin typeface="+mn-lt"/>
                  <a:ea typeface="+mn-ea"/>
                  <a:cs typeface="+mn-cs"/>
                </a:rPr>
                <a:t>The empirical findings are situated in this case; the theory</a:t>
              </a:r>
              <a:br/>
              <a:r>
                <a:rPr lang="en-AU" sz="2550" dirty="0">
                  <a:solidFill>
                    <a:schemeClr val="dk1"/>
                  </a:solidFill>
                  <a:latin typeface="+mn-lt"/>
                  <a:ea typeface="+mn-ea"/>
                  <a:cs typeface="+mn-cs"/>
                </a:rPr>
                <a:t>and the methodology are designed to travel.</a:t>
              </a:r>
            </a:p>
          </p:txBody>
        </p:sp>
      </p:grpSp>
      <p:grpSp>
        <p:nvGrpSpPr>
          <p:cNvPr id="25" name="Group 25"/>
          <p:cNvGrpSpPr/>
          <p:nvPr/>
        </p:nvGrpSpPr>
        <p:grpSpPr>
          <a:xfrm>
            <a:off x="679704" y="6080760"/>
            <a:ext cx="10832592" cy="234696"/>
            <a:chOff x="679704" y="6080760"/>
            <a:chExt cx="10832592" cy="234696"/>
          </a:xfrm>
        </p:grpSpPr>
        <p:sp>
          <p:nvSpPr>
            <p:cNvPr id="23" name="TextBox 23"/>
            <p:cNvSpPr txBox="1"/>
            <p:nvPr/>
          </p:nvSpPr>
          <p:spPr>
            <a:xfrm>
              <a:off x="679704" y="6080760"/>
              <a:ext cx="3599609" cy="234696"/>
            </a:xfrm>
            <a:prstGeom prst="rect">
              <a:avLst/>
            </a:prstGeom>
            <a:noFill/>
            <a:ln>
              <a:noFill/>
            </a:ln>
          </p:spPr>
          <p:txBody>
            <a:bodyPr wrap="none" lIns="0" tIns="0" rIns="0" bIns="0" anchor="t" anchorCtr="0">
              <a:spAutoFit/>
            </a:bodyPr>
            <a:lstStyle/>
            <a:p>
              <a:pPr algn="l"/>
              <a:r>
                <a:rPr lang="en-AU" sz="1200" dirty="0">
                  <a:solidFill>
                    <a:schemeClr val="accent5"/>
                  </a:solidFill>
                  <a:latin typeface="+mn-lt"/>
                  <a:ea typeface="+mn-ea"/>
                  <a:cs typeface="+mn-cs"/>
                </a:rPr>
                <a:t>Root-Seeking · Xun Gen — Expanded 2026, Linz</a:t>
              </a:r>
            </a:p>
          </p:txBody>
        </p:sp>
        <p:sp>
          <p:nvSpPr>
            <p:cNvPr id="24" name="TextBox 24"/>
            <p:cNvSpPr txBox="1"/>
            <p:nvPr/>
          </p:nvSpPr>
          <p:spPr>
            <a:xfrm>
              <a:off x="11322406" y="6080760"/>
              <a:ext cx="189890" cy="234696"/>
            </a:xfrm>
            <a:prstGeom prst="rect">
              <a:avLst/>
            </a:prstGeom>
            <a:noFill/>
            <a:ln>
              <a:noFill/>
            </a:ln>
          </p:spPr>
          <p:txBody>
            <a:bodyPr wrap="none" lIns="0" tIns="0" rIns="0" bIns="0" anchor="t" anchorCtr="0">
              <a:spAutoFit/>
            </a:bodyPr>
            <a:lstStyle/>
            <a:p>
              <a:pPr algn="r"/>
              <a:r>
                <a:rPr lang="en-AU" sz="1200" dirty="0">
                  <a:solidFill>
                    <a:schemeClr val="accent5"/>
                  </a:solidFill>
                  <a:latin typeface="+mn-lt"/>
                  <a:ea typeface="+mn-ea"/>
                  <a:cs typeface="+mn-cs"/>
                </a:rPr>
                <a:t>10</a:t>
              </a:r>
            </a:p>
          </p:txBody>
        </p:sp>
      </p:grpSp>
    </p:spTree>
  </p:cSld>
  <p:clrMapOvr>
    <a:masterClrMapping/>
  </p:clrMapOvr>
  <p:transition xmlns:p14="http://schemas.microsoft.com/office/powerpoint/2010/main" p14:dur="400">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667512" y="678180"/>
            <a:ext cx="2788920" cy="704088"/>
            <a:chOff x="667512" y="678180"/>
            <a:chExt cx="2788920" cy="704088"/>
          </a:xfrm>
        </p:grpSpPr>
        <p:sp>
          <p:nvSpPr>
            <p:cNvPr id="2" name="TextBox 2"/>
            <p:cNvSpPr txBox="1"/>
            <p:nvPr/>
          </p:nvSpPr>
          <p:spPr>
            <a:xfrm>
              <a:off x="667512" y="678180"/>
              <a:ext cx="2788920" cy="704088"/>
            </a:xfrm>
            <a:prstGeom prst="rect">
              <a:avLst/>
            </a:prstGeom>
            <a:noFill/>
            <a:ln>
              <a:noFill/>
            </a:ln>
          </p:spPr>
          <p:txBody>
            <a:bodyPr wrap="none" lIns="0" tIns="0" rIns="0" bIns="0" anchor="t" anchorCtr="0">
              <a:spAutoFit/>
            </a:bodyPr>
            <a:lstStyle/>
            <a:p>
              <a:pPr algn="l"/>
              <a:r>
                <a:rPr lang="en-AU" sz="3600" dirty="0">
                  <a:solidFill>
                    <a:schemeClr val="accent1"/>
                  </a:solidFill>
                  <a:latin typeface="+mj-lt"/>
                  <a:ea typeface="+mj-ea"/>
                  <a:cs typeface="+mj-cs"/>
                </a:rPr>
                <a:t>Next steps</a:t>
              </a:r>
            </a:p>
          </p:txBody>
        </p:sp>
        <p:sp>
          <p:nvSpPr>
            <p:cNvPr id="3" name="Rectangle 3"/>
            <p:cNvSpPr/>
            <p:nvPr/>
          </p:nvSpPr>
          <p:spPr>
            <a:xfrm>
              <a:off x="685800" y="1295400"/>
              <a:ext cx="2095500" cy="38100"/>
            </a:xfrm>
            <a:prstGeom prst="rect">
              <a:avLst/>
            </a:prstGeom>
            <a:solidFill>
              <a:schemeClr val="accent1"/>
            </a:solidFill>
            <a:ln>
              <a:noFill/>
            </a:ln>
          </p:spPr>
        </p:sp>
      </p:grpSp>
      <p:grpSp>
        <p:nvGrpSpPr>
          <p:cNvPr id="7" name="Group 7"/>
          <p:cNvGrpSpPr/>
          <p:nvPr/>
        </p:nvGrpSpPr>
        <p:grpSpPr>
          <a:xfrm>
            <a:off x="677418" y="1841182"/>
            <a:ext cx="4406837" cy="970407"/>
            <a:chOff x="677418" y="1841182"/>
            <a:chExt cx="4406837" cy="970407"/>
          </a:xfrm>
        </p:grpSpPr>
        <p:sp>
          <p:nvSpPr>
            <p:cNvPr id="5" name="TextBox 5"/>
            <p:cNvSpPr txBox="1"/>
            <p:nvPr/>
          </p:nvSpPr>
          <p:spPr>
            <a:xfrm>
              <a:off x="677418" y="1841182"/>
              <a:ext cx="3884799" cy="322707"/>
            </a:xfrm>
            <a:prstGeom prst="rect">
              <a:avLst/>
            </a:prstGeom>
            <a:noFill/>
            <a:ln>
              <a:noFill/>
            </a:ln>
          </p:spPr>
          <p:txBody>
            <a:bodyPr wrap="none" lIns="0" tIns="0" rIns="0" bIns="0" anchor="t" anchorCtr="0">
              <a:spAutoFit/>
            </a:bodyPr>
            <a:lstStyle/>
            <a:p>
              <a:pPr algn="l"/>
              <a:r>
                <a:rPr lang="en-AU" sz="1650" b="1" dirty="0">
                  <a:solidFill>
                    <a:schemeClr val="accent2"/>
                  </a:solidFill>
                  <a:latin typeface="+mn-lt"/>
                  <a:ea typeface="+mn-ea"/>
                  <a:cs typeface="+mn-cs"/>
                </a:rPr>
                <a:t>01 Complete the thematic analysis</a:t>
              </a:r>
            </a:p>
          </p:txBody>
        </p:sp>
        <p:sp>
          <p:nvSpPr>
            <p:cNvPr id="6" name="TextBox 6"/>
            <p:cNvSpPr txBox="1"/>
            <p:nvPr/>
          </p:nvSpPr>
          <p:spPr>
            <a:xfrm>
              <a:off x="677418" y="2184082"/>
              <a:ext cx="4406837" cy="627507"/>
            </a:xfrm>
            <a:prstGeom prst="rect">
              <a:avLst/>
            </a:prstGeom>
            <a:noFill/>
            <a:ln>
              <a:noFill/>
            </a:ln>
          </p:spPr>
          <p:txBody>
            <a:bodyPr wrap="none" lIns="0" tIns="0" rIns="0" bIns="0" anchor="t" anchorCtr="0">
              <a:spAutoFit/>
            </a:bodyPr>
            <a:lstStyle/>
            <a:p>
              <a:pPr algn="l">
                <a:lnSpc>
                  <a:spcPts val="2400"/>
                </a:lnSpc>
              </a:pPr>
              <a:r>
                <a:rPr lang="en-AU" sz="1650" dirty="0">
                  <a:solidFill>
                    <a:schemeClr val="dk1"/>
                  </a:solidFill>
                  <a:latin typeface="+mn-lt"/>
                  <a:ea typeface="+mn-ea"/>
                  <a:cs typeface="+mn-cs"/>
                </a:rPr>
                <a:t>It drives iterative updates to both</a:t>
              </a:r>
              <a:br/>
              <a:r>
                <a:rPr lang="en-AU" sz="1650" dirty="0">
                  <a:solidFill>
                    <a:schemeClr val="dk1"/>
                  </a:solidFill>
                  <a:latin typeface="+mn-lt"/>
                  <a:ea typeface="+mn-ea"/>
                  <a:cs typeface="+mn-cs"/>
                </a:rPr>
                <a:t>platforms and answers the third question.</a:t>
              </a:r>
            </a:p>
          </p:txBody>
        </p:sp>
      </p:grpSp>
      <p:grpSp>
        <p:nvGrpSpPr>
          <p:cNvPr id="10" name="Group 10"/>
          <p:cNvGrpSpPr/>
          <p:nvPr/>
        </p:nvGrpSpPr>
        <p:grpSpPr>
          <a:xfrm>
            <a:off x="6240018" y="1841182"/>
            <a:ext cx="4721162" cy="970407"/>
            <a:chOff x="6240018" y="1841182"/>
            <a:chExt cx="4721162" cy="970407"/>
          </a:xfrm>
        </p:grpSpPr>
        <p:sp>
          <p:nvSpPr>
            <p:cNvPr id="8" name="TextBox 8"/>
            <p:cNvSpPr txBox="1"/>
            <p:nvPr/>
          </p:nvSpPr>
          <p:spPr>
            <a:xfrm>
              <a:off x="6240018" y="1841182"/>
              <a:ext cx="3477050" cy="322707"/>
            </a:xfrm>
            <a:prstGeom prst="rect">
              <a:avLst/>
            </a:prstGeom>
            <a:noFill/>
            <a:ln>
              <a:noFill/>
            </a:ln>
          </p:spPr>
          <p:txBody>
            <a:bodyPr wrap="none" lIns="0" tIns="0" rIns="0" bIns="0" anchor="t" anchorCtr="0">
              <a:spAutoFit/>
            </a:bodyPr>
            <a:lstStyle/>
            <a:p>
              <a:pPr algn="l"/>
              <a:r>
                <a:rPr lang="en-AU" sz="1650" b="1" dirty="0">
                  <a:solidFill>
                    <a:schemeClr val="accent2"/>
                  </a:solidFill>
                  <a:latin typeface="+mn-lt"/>
                  <a:ea typeface="+mn-ea"/>
                  <a:cs typeface="+mn-cs"/>
                </a:rPr>
                <a:t>02 Compare the two modalities</a:t>
              </a:r>
            </a:p>
          </p:txBody>
        </p:sp>
        <p:sp>
          <p:nvSpPr>
            <p:cNvPr id="9" name="TextBox 9"/>
            <p:cNvSpPr txBox="1"/>
            <p:nvPr/>
          </p:nvSpPr>
          <p:spPr>
            <a:xfrm>
              <a:off x="6240018" y="2184082"/>
              <a:ext cx="4721162" cy="627507"/>
            </a:xfrm>
            <a:prstGeom prst="rect">
              <a:avLst/>
            </a:prstGeom>
            <a:noFill/>
            <a:ln>
              <a:noFill/>
            </a:ln>
          </p:spPr>
          <p:txBody>
            <a:bodyPr wrap="none" lIns="0" tIns="0" rIns="0" bIns="0" anchor="t" anchorCtr="0">
              <a:spAutoFit/>
            </a:bodyPr>
            <a:lstStyle/>
            <a:p>
              <a:pPr algn="l">
                <a:lnSpc>
                  <a:spcPts val="2400"/>
                </a:lnSpc>
              </a:pPr>
              <a:r>
                <a:rPr lang="en-AU" sz="1650" dirty="0">
                  <a:solidFill>
                    <a:schemeClr val="dk1"/>
                  </a:solidFill>
                  <a:latin typeface="+mn-lt"/>
                  <a:ea typeface="+mn-ea"/>
                  <a:cs typeface="+mn-cs"/>
                </a:rPr>
                <a:t>Triangulate questionnaire patterns with</a:t>
              </a:r>
              <a:br/>
              <a:r>
                <a:rPr lang="en-AU" sz="1650" dirty="0">
                  <a:solidFill>
                    <a:schemeClr val="dk1"/>
                  </a:solidFill>
                  <a:latin typeface="+mn-lt"/>
                  <a:ea typeface="+mn-ea"/>
                  <a:cs typeface="+mn-cs"/>
                </a:rPr>
                <a:t>discussion themes: presence against building.</a:t>
              </a:r>
            </a:p>
          </p:txBody>
        </p:sp>
      </p:grpSp>
      <p:grpSp>
        <p:nvGrpSpPr>
          <p:cNvPr id="13" name="Group 13"/>
          <p:cNvGrpSpPr/>
          <p:nvPr/>
        </p:nvGrpSpPr>
        <p:grpSpPr>
          <a:xfrm>
            <a:off x="677418" y="3079432"/>
            <a:ext cx="3977259" cy="970407"/>
            <a:chOff x="677418" y="3079432"/>
            <a:chExt cx="3977259" cy="970407"/>
          </a:xfrm>
        </p:grpSpPr>
        <p:sp>
          <p:nvSpPr>
            <p:cNvPr id="11" name="TextBox 11"/>
            <p:cNvSpPr txBox="1"/>
            <p:nvPr/>
          </p:nvSpPr>
          <p:spPr>
            <a:xfrm>
              <a:off x="677418" y="3079432"/>
              <a:ext cx="3947045" cy="322707"/>
            </a:xfrm>
            <a:prstGeom prst="rect">
              <a:avLst/>
            </a:prstGeom>
            <a:noFill/>
            <a:ln>
              <a:noFill/>
            </a:ln>
          </p:spPr>
          <p:txBody>
            <a:bodyPr wrap="none" lIns="0" tIns="0" rIns="0" bIns="0" anchor="t" anchorCtr="0">
              <a:spAutoFit/>
            </a:bodyPr>
            <a:lstStyle/>
            <a:p>
              <a:pPr algn="l"/>
              <a:r>
                <a:rPr lang="en-AU" sz="1650" b="1" dirty="0">
                  <a:solidFill>
                    <a:schemeClr val="accent2"/>
                  </a:solidFill>
                  <a:latin typeface="+mn-lt"/>
                  <a:ea typeface="+mn-ea"/>
                  <a:cs typeface="+mn-cs"/>
                </a:rPr>
                <a:t>03 Finish the Unreal Engine version</a:t>
              </a:r>
            </a:p>
          </p:txBody>
        </p:sp>
        <p:sp>
          <p:nvSpPr>
            <p:cNvPr id="12" name="TextBox 12"/>
            <p:cNvSpPr txBox="1"/>
            <p:nvPr/>
          </p:nvSpPr>
          <p:spPr>
            <a:xfrm>
              <a:off x="677418" y="3422332"/>
              <a:ext cx="3977259" cy="627507"/>
            </a:xfrm>
            <a:prstGeom prst="rect">
              <a:avLst/>
            </a:prstGeom>
            <a:noFill/>
            <a:ln>
              <a:noFill/>
            </a:ln>
          </p:spPr>
          <p:txBody>
            <a:bodyPr wrap="none" lIns="0" tIns="0" rIns="0" bIns="0" anchor="t" anchorCtr="0">
              <a:spAutoFit/>
            </a:bodyPr>
            <a:lstStyle/>
            <a:p>
              <a:pPr algn="l">
                <a:lnSpc>
                  <a:spcPts val="2400"/>
                </a:lnSpc>
              </a:pPr>
              <a:r>
                <a:rPr lang="en-AU" sz="1650" dirty="0">
                  <a:solidFill>
                    <a:schemeClr val="dk1"/>
                  </a:solidFill>
                  <a:latin typeface="+mn-lt"/>
                  <a:ea typeface="+mn-ea"/>
                  <a:cs typeface="+mn-cs"/>
                </a:rPr>
                <a:t>Higher visual fidelity, then comparison</a:t>
              </a:r>
              <a:br/>
              <a:r>
                <a:rPr lang="en-AU" sz="1650" dirty="0">
                  <a:solidFill>
                    <a:schemeClr val="dk1"/>
                  </a:solidFill>
                  <a:latin typeface="+mn-lt"/>
                  <a:ea typeface="+mn-ea"/>
                  <a:cs typeface="+mn-cs"/>
                </a:rPr>
                <a:t>across all three platforms.</a:t>
              </a:r>
            </a:p>
          </p:txBody>
        </p:sp>
      </p:grpSp>
      <p:grpSp>
        <p:nvGrpSpPr>
          <p:cNvPr id="16" name="Group 16"/>
          <p:cNvGrpSpPr/>
          <p:nvPr/>
        </p:nvGrpSpPr>
        <p:grpSpPr>
          <a:xfrm>
            <a:off x="6240018" y="3079432"/>
            <a:ext cx="4752594" cy="970407"/>
            <a:chOff x="6240018" y="3079432"/>
            <a:chExt cx="4752594" cy="970407"/>
          </a:xfrm>
        </p:grpSpPr>
        <p:sp>
          <p:nvSpPr>
            <p:cNvPr id="14" name="TextBox 14"/>
            <p:cNvSpPr txBox="1"/>
            <p:nvPr/>
          </p:nvSpPr>
          <p:spPr>
            <a:xfrm>
              <a:off x="6240018" y="3079432"/>
              <a:ext cx="4374430" cy="322707"/>
            </a:xfrm>
            <a:prstGeom prst="rect">
              <a:avLst/>
            </a:prstGeom>
            <a:noFill/>
            <a:ln>
              <a:noFill/>
            </a:ln>
          </p:spPr>
          <p:txBody>
            <a:bodyPr wrap="none" lIns="0" tIns="0" rIns="0" bIns="0" anchor="t" anchorCtr="0">
              <a:spAutoFit/>
            </a:bodyPr>
            <a:lstStyle/>
            <a:p>
              <a:pPr algn="l"/>
              <a:r>
                <a:rPr lang="en-AU" sz="1650" b="1" dirty="0">
                  <a:solidFill>
                    <a:schemeClr val="accent2"/>
                  </a:solidFill>
                  <a:latin typeface="+mn-lt"/>
                  <a:ea typeface="+mn-ea"/>
                  <a:cs typeface="+mn-cs"/>
                </a:rPr>
                <a:t>04 Bring classical dance into the world</a:t>
              </a:r>
            </a:p>
          </p:txBody>
        </p:sp>
        <p:sp>
          <p:nvSpPr>
            <p:cNvPr id="15" name="TextBox 15"/>
            <p:cNvSpPr txBox="1"/>
            <p:nvPr/>
          </p:nvSpPr>
          <p:spPr>
            <a:xfrm>
              <a:off x="6240018" y="3422332"/>
              <a:ext cx="4752594" cy="627507"/>
            </a:xfrm>
            <a:prstGeom prst="rect">
              <a:avLst/>
            </a:prstGeom>
            <a:noFill/>
            <a:ln>
              <a:noFill/>
            </a:ln>
          </p:spPr>
          <p:txBody>
            <a:bodyPr wrap="none" lIns="0" tIns="0" rIns="0" bIns="0" anchor="t" anchorCtr="0">
              <a:spAutoFit/>
            </a:bodyPr>
            <a:lstStyle/>
            <a:p>
              <a:pPr algn="l">
                <a:lnSpc>
                  <a:spcPts val="2400"/>
                </a:lnSpc>
              </a:pPr>
              <a:r>
                <a:rPr lang="en-AU" sz="1650" dirty="0">
                  <a:solidFill>
                    <a:schemeClr val="dk1"/>
                  </a:solidFill>
                  <a:latin typeface="+mn-lt"/>
                  <a:ea typeface="+mn-ea"/>
                  <a:cs typeface="+mn-cs"/>
                </a:rPr>
                <a:t>With the QUT XR Screen Futures Hub, captured</a:t>
              </a:r>
              <a:br/>
              <a:r>
                <a:rPr lang="en-AU" sz="1650" dirty="0">
                  <a:solidFill>
                    <a:schemeClr val="dk1"/>
                  </a:solidFill>
                  <a:latin typeface="+mn-lt"/>
                  <a:ea typeface="+mn-ea"/>
                  <a:cs typeface="+mn-cs"/>
                </a:rPr>
                <a:t>at The Block as a periodic cultural event.</a:t>
              </a:r>
            </a:p>
          </p:txBody>
        </p:sp>
      </p:grpSp>
      <p:grpSp>
        <p:nvGrpSpPr>
          <p:cNvPr id="18" name="Group 18"/>
          <p:cNvGrpSpPr/>
          <p:nvPr/>
        </p:nvGrpSpPr>
        <p:grpSpPr>
          <a:xfrm>
            <a:off x="679704" y="4137660"/>
            <a:ext cx="10380380" cy="234696"/>
            <a:chOff x="679704" y="4137660"/>
            <a:chExt cx="10380380" cy="234696"/>
          </a:xfrm>
        </p:grpSpPr>
        <p:sp>
          <p:nvSpPr>
            <p:cNvPr id="17" name="TextBox 17"/>
            <p:cNvSpPr txBox="1"/>
            <p:nvPr/>
          </p:nvSpPr>
          <p:spPr>
            <a:xfrm>
              <a:off x="679704" y="4137660"/>
              <a:ext cx="10380380" cy="234696"/>
            </a:xfrm>
            <a:prstGeom prst="rect">
              <a:avLst/>
            </a:prstGeom>
            <a:noFill/>
            <a:ln>
              <a:noFill/>
            </a:ln>
          </p:spPr>
          <p:txBody>
            <a:bodyPr wrap="none" lIns="0" tIns="0" rIns="0" bIns="0" anchor="t" anchorCtr="0">
              <a:spAutoFit/>
            </a:bodyPr>
            <a:lstStyle/>
            <a:p>
              <a:pPr algn="l"/>
              <a:r>
                <a:rPr lang="en-AU" sz="1200" dirty="0">
                  <a:solidFill>
                    <a:schemeClr val="accent5"/>
                  </a:solidFill>
                  <a:latin typeface="+mn-lt"/>
                  <a:ea typeface="+mn-ea"/>
                  <a:cs typeface="+mn-cs"/>
                </a:rPr>
                <a:t>Supervisors: Dr Rewa Wright, Prof. Damian Candusso, Prof. Gavin Sade, QUT. Thanks to the staff and visitors of Jichang Garden.</a:t>
              </a:r>
            </a:p>
          </p:txBody>
        </p:sp>
      </p:grpSp>
      <p:grpSp>
        <p:nvGrpSpPr>
          <p:cNvPr id="21" name="Group 21"/>
          <p:cNvGrpSpPr/>
          <p:nvPr/>
        </p:nvGrpSpPr>
        <p:grpSpPr>
          <a:xfrm>
            <a:off x="672084" y="4476750"/>
            <a:ext cx="10834116" cy="1646301"/>
            <a:chOff x="672084" y="4476750"/>
            <a:chExt cx="10834116" cy="1646301"/>
          </a:xfrm>
        </p:grpSpPr>
        <p:sp>
          <p:nvSpPr>
            <p:cNvPr id="19" name="Line 19"/>
            <p:cNvSpPr/>
            <p:nvPr/>
          </p:nvSpPr>
          <p:spPr>
            <a:xfrm>
              <a:off x="685800" y="4476750"/>
              <a:ext cx="10820400" cy="9525"/>
            </a:xfrm>
            <a:custGeom>
              <a:avLst/>
              <a:gdLst/>
              <a:ahLst/>
              <a:cxnLst/>
              <a:rect l="l" t="t" r="r" b="b"/>
              <a:pathLst>
                <a:path w="10820400" h="9525">
                  <a:moveTo>
                    <a:pt x="0" y="0"/>
                  </a:moveTo>
                  <a:lnTo>
                    <a:pt x="10820400" y="0"/>
                  </a:lnTo>
                </a:path>
              </a:pathLst>
            </a:custGeom>
            <a:noFill/>
            <a:ln w="28575">
              <a:solidFill>
                <a:schemeClr val="accent1"/>
              </a:solidFill>
            </a:ln>
          </p:spPr>
        </p:sp>
        <p:sp>
          <p:nvSpPr>
            <p:cNvPr id="20" name="TextBox 20"/>
            <p:cNvSpPr txBox="1"/>
            <p:nvPr/>
          </p:nvSpPr>
          <p:spPr>
            <a:xfrm>
              <a:off x="672084" y="4680585"/>
              <a:ext cx="8428482" cy="1442466"/>
            </a:xfrm>
            <a:prstGeom prst="rect">
              <a:avLst/>
            </a:prstGeom>
            <a:noFill/>
            <a:ln>
              <a:noFill/>
            </a:ln>
          </p:spPr>
          <p:txBody>
            <a:bodyPr wrap="none" lIns="0" tIns="0" rIns="0" bIns="0" anchor="t" anchorCtr="0">
              <a:spAutoFit/>
            </a:bodyPr>
            <a:lstStyle/>
            <a:p>
              <a:pPr algn="l">
                <a:lnSpc>
                  <a:spcPts val="3600"/>
                </a:lnSpc>
              </a:pPr>
              <a:r>
                <a:rPr lang="en-AU" sz="2700" dirty="0">
                  <a:solidFill>
                    <a:schemeClr val="accent1"/>
                  </a:solidFill>
                  <a:latin typeface="+mj-lt"/>
                  <a:ea typeface="+mj-ea"/>
                  <a:cs typeface="+mj-cs"/>
                </a:rPr>
                <a:t>If root-seeking operates through sensory memory</a:t>
              </a:r>
              <a:br/>
              <a:r>
                <a:rPr lang="en-AU" sz="2700" dirty="0">
                  <a:solidFill>
                    <a:schemeClr val="accent1"/>
                  </a:solidFill>
                  <a:latin typeface="+mj-lt"/>
                  <a:ea typeface="+mj-ea"/>
                  <a:cs typeface="+mj-cs"/>
                </a:rPr>
                <a:t>rather than physical location, the question is not</a:t>
              </a:r>
              <a:br/>
              <a:r>
                <a:rPr lang="en-AU" sz="2700" dirty="0">
                  <a:solidFill>
                    <a:schemeClr val="accent1"/>
                  </a:solidFill>
                  <a:latin typeface="+mj-lt"/>
                  <a:ea typeface="+mj-ea"/>
                  <a:cs typeface="+mj-cs"/>
                </a:rPr>
                <a:t>where it can happen, but how.</a:t>
              </a:r>
            </a:p>
          </p:txBody>
        </p:sp>
      </p:grpSp>
      <p:grpSp>
        <p:nvGrpSpPr>
          <p:cNvPr id="24" name="Group 24"/>
          <p:cNvGrpSpPr/>
          <p:nvPr/>
        </p:nvGrpSpPr>
        <p:grpSpPr>
          <a:xfrm>
            <a:off x="679704" y="6080760"/>
            <a:ext cx="10832592" cy="234696"/>
            <a:chOff x="679704" y="6080760"/>
            <a:chExt cx="10832592" cy="234696"/>
          </a:xfrm>
        </p:grpSpPr>
        <p:sp>
          <p:nvSpPr>
            <p:cNvPr id="22" name="TextBox 22"/>
            <p:cNvSpPr txBox="1"/>
            <p:nvPr/>
          </p:nvSpPr>
          <p:spPr>
            <a:xfrm>
              <a:off x="679704" y="6080760"/>
              <a:ext cx="4549334" cy="234696"/>
            </a:xfrm>
            <a:prstGeom prst="rect">
              <a:avLst/>
            </a:prstGeom>
            <a:noFill/>
            <a:ln>
              <a:noFill/>
            </a:ln>
          </p:spPr>
          <p:txBody>
            <a:bodyPr wrap="none" lIns="0" tIns="0" rIns="0" bIns="0" anchor="t" anchorCtr="0">
              <a:spAutoFit/>
            </a:bodyPr>
            <a:lstStyle/>
            <a:p>
              <a:pPr algn="l"/>
              <a:r>
                <a:rPr lang="en-AU" sz="1200" dirty="0">
                  <a:solidFill>
                    <a:schemeClr val="accent5"/>
                  </a:solidFill>
                  <a:latin typeface="+mn-lt"/>
                  <a:ea typeface="+mn-ea"/>
                  <a:cs typeface="+mn-cs"/>
                </a:rPr>
                <a:t>daichen.wang@hdr.qut.edu.au — QUT Ethics LR 2025-8766</a:t>
              </a:r>
            </a:p>
          </p:txBody>
        </p:sp>
        <p:sp>
          <p:nvSpPr>
            <p:cNvPr id="23" name="TextBox 23"/>
            <p:cNvSpPr txBox="1"/>
            <p:nvPr/>
          </p:nvSpPr>
          <p:spPr>
            <a:xfrm>
              <a:off x="11322406" y="6080760"/>
              <a:ext cx="189890" cy="234696"/>
            </a:xfrm>
            <a:prstGeom prst="rect">
              <a:avLst/>
            </a:prstGeom>
            <a:noFill/>
            <a:ln>
              <a:noFill/>
            </a:ln>
          </p:spPr>
          <p:txBody>
            <a:bodyPr wrap="none" lIns="0" tIns="0" rIns="0" bIns="0" anchor="t" anchorCtr="0">
              <a:spAutoFit/>
            </a:bodyPr>
            <a:lstStyle/>
            <a:p>
              <a:pPr algn="r"/>
              <a:r>
                <a:rPr lang="en-AU" sz="1200" dirty="0">
                  <a:solidFill>
                    <a:schemeClr val="accent5"/>
                  </a:solidFill>
                  <a:latin typeface="+mn-lt"/>
                  <a:ea typeface="+mn-ea"/>
                  <a:cs typeface="+mn-cs"/>
                </a:rPr>
                <a:t>11</a:t>
              </a:r>
            </a:p>
          </p:txBody>
        </p:sp>
      </p:gr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deck-a-doctoral">
  <a:themeElements>
    <a:clrScheme name="deck-a-doctoral">
      <a:dk1>
        <a:srgbClr val="1A1A1A"/>
      </a:dk1>
      <a:lt1>
        <a:srgbClr val="FFFFFF"/>
      </a:lt1>
      <a:dk2>
        <a:srgbClr val="1F497D"/>
      </a:dk2>
      <a:lt2>
        <a:srgbClr val="F2F5F8"/>
      </a:lt2>
      <a:accent1>
        <a:srgbClr val="003B71"/>
      </a:accent1>
      <a:accent2>
        <a:srgbClr val="0091DA"/>
      </a:accent2>
      <a:accent3>
        <a:srgbClr val="8A8D8F"/>
      </a:accent3>
      <a:accent4>
        <a:srgbClr val="003B71"/>
      </a:accent4>
      <a:accent5>
        <a:srgbClr val="5A6570"/>
      </a:accent5>
      <a:accent6>
        <a:srgbClr val="D8DFE6"/>
      </a:accent6>
      <a:hlink>
        <a:srgbClr val="0091DA"/>
      </a:hlink>
      <a:folHlink>
        <a:srgbClr val="8A8D8F"/>
      </a:folHlink>
    </a:clrScheme>
    <a:fontScheme name="deck-a-doctoral">
      <a:majorFont>
        <a:latin typeface="Georgia"/>
        <a:ea typeface="SimSun"/>
        <a:cs typeface="Georgia"/>
        <a:font script="Jpan" typeface="SimSun"/>
        <a:font script="Hang" typeface="SimSun"/>
        <a:font script="Hans" typeface="SimSun"/>
        <a:font script="Hant" typeface="SimSun"/>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Microsoft YaHei"/>
        <a:cs typeface="Calibri"/>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eck-a-doctoral">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deck-a-doctoral">
  <a:themeElements>
    <a:clrScheme name="deck-a-doctoral">
      <a:dk1>
        <a:srgbClr val="1A1A1A"/>
      </a:dk1>
      <a:lt1>
        <a:srgbClr val="FFFFFF"/>
      </a:lt1>
      <a:dk2>
        <a:srgbClr val="1F497D"/>
      </a:dk2>
      <a:lt2>
        <a:srgbClr val="F2F5F8"/>
      </a:lt2>
      <a:accent1>
        <a:srgbClr val="003B71"/>
      </a:accent1>
      <a:accent2>
        <a:srgbClr val="0091DA"/>
      </a:accent2>
      <a:accent3>
        <a:srgbClr val="8A8D8F"/>
      </a:accent3>
      <a:accent4>
        <a:srgbClr val="003B71"/>
      </a:accent4>
      <a:accent5>
        <a:srgbClr val="5A6570"/>
      </a:accent5>
      <a:accent6>
        <a:srgbClr val="D8DFE6"/>
      </a:accent6>
      <a:hlink>
        <a:srgbClr val="0091DA"/>
      </a:hlink>
      <a:folHlink>
        <a:srgbClr val="8A8D8F"/>
      </a:folHlink>
    </a:clrScheme>
    <a:fontScheme name="deck-a-doctoral">
      <a:majorFont>
        <a:latin typeface="Georgia"/>
        <a:ea typeface="SimSun"/>
        <a:cs typeface="Georgia"/>
        <a:font script="Jpan" typeface="SimSun"/>
        <a:font script="Hang" typeface="SimSun"/>
        <a:font script="Hans" typeface="SimSun"/>
        <a:font script="Hant" typeface="SimSun"/>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Microsoft YaHei"/>
        <a:cs typeface="Calibri"/>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eck-a-doctoral">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11</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en-AU</dc:language>
  <cp:lastModifiedBy/>
  <cp:revision>1</cp:revision>
  <dcterms:created xsi:type="dcterms:W3CDTF">2026-09-03T05:03:33Z</dcterms:created>
  <dcterms:modified xsi:type="dcterms:W3CDTF">2026-09-03T05:03:33Z</dcterms:modified>
  <cp:category/>
  <cp:contentStatus/>
</cp:coreProperties>
</file>